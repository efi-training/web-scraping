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510" r:id="rId3"/>
    <p:sldId id="508" r:id="rId4"/>
    <p:sldId id="509" r:id="rId5"/>
    <p:sldId id="503" r:id="rId6"/>
    <p:sldId id="258" r:id="rId7"/>
    <p:sldId id="511" r:id="rId8"/>
    <p:sldId id="259" r:id="rId9"/>
    <p:sldId id="512" r:id="rId10"/>
    <p:sldId id="513" r:id="rId11"/>
    <p:sldId id="261" r:id="rId12"/>
    <p:sldId id="262" r:id="rId13"/>
    <p:sldId id="514" r:id="rId14"/>
    <p:sldId id="517" r:id="rId15"/>
    <p:sldId id="518" r:id="rId16"/>
    <p:sldId id="267" r:id="rId17"/>
    <p:sldId id="506" r:id="rId18"/>
    <p:sldId id="507" r:id="rId19"/>
    <p:sldId id="270" r:id="rId20"/>
    <p:sldId id="519" r:id="rId21"/>
    <p:sldId id="272" r:id="rId22"/>
    <p:sldId id="521" r:id="rId23"/>
    <p:sldId id="276" r:id="rId24"/>
    <p:sldId id="277" r:id="rId25"/>
    <p:sldId id="278" r:id="rId26"/>
    <p:sldId id="522" r:id="rId27"/>
    <p:sldId id="523" r:id="rId28"/>
    <p:sldId id="282" r:id="rId29"/>
    <p:sldId id="283" r:id="rId3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83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54"/>
    <p:restoredTop sz="94668"/>
  </p:normalViewPr>
  <p:slideViewPr>
    <p:cSldViewPr snapToGrid="0">
      <p:cViewPr varScale="1">
        <p:scale>
          <a:sx n="54" d="100"/>
          <a:sy n="54" d="100"/>
        </p:scale>
        <p:origin x="296"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3058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08709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18" name="Picture 17" descr="A black background with white text&#10;&#10;AI-generated content may be incorrect.">
            <a:extLst>
              <a:ext uri="{FF2B5EF4-FFF2-40B4-BE49-F238E27FC236}">
                <a16:creationId xmlns:a16="http://schemas.microsoft.com/office/drawing/2014/main" id="{CE4B57E4-41C4-2E59-D000-214E4F77FE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80416" y="120134"/>
            <a:ext cx="6928705" cy="1732176"/>
          </a:xfrm>
          <a:prstGeom prst="rect">
            <a:avLst/>
          </a:prstGeom>
        </p:spPr>
      </p:pic>
      <p:grpSp>
        <p:nvGrpSpPr>
          <p:cNvPr id="26" name="Group 25">
            <a:extLst>
              <a:ext uri="{FF2B5EF4-FFF2-40B4-BE49-F238E27FC236}">
                <a16:creationId xmlns:a16="http://schemas.microsoft.com/office/drawing/2014/main" id="{ED8E8AC0-365C-0B74-0C36-8189C4D376B0}"/>
              </a:ext>
            </a:extLst>
          </p:cNvPr>
          <p:cNvGrpSpPr/>
          <p:nvPr userDrawn="1"/>
        </p:nvGrpSpPr>
        <p:grpSpPr>
          <a:xfrm flipH="1">
            <a:off x="5170902" y="12171374"/>
            <a:ext cx="19483262" cy="1762721"/>
            <a:chOff x="0" y="12381483"/>
            <a:chExt cx="19483262" cy="1423702"/>
          </a:xfrm>
        </p:grpSpPr>
        <p:pic>
          <p:nvPicPr>
            <p:cNvPr id="22" name="Graphic 21">
              <a:extLst>
                <a:ext uri="{FF2B5EF4-FFF2-40B4-BE49-F238E27FC236}">
                  <a16:creationId xmlns:a16="http://schemas.microsoft.com/office/drawing/2014/main" id="{A0567CD4-8E34-FF0C-A65A-267EF9B4662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12381483"/>
              <a:ext cx="7772400" cy="1399032"/>
            </a:xfrm>
            <a:prstGeom prst="rect">
              <a:avLst/>
            </a:prstGeom>
          </p:spPr>
        </p:pic>
        <p:pic>
          <p:nvPicPr>
            <p:cNvPr id="23" name="Graphic 22">
              <a:extLst>
                <a:ext uri="{FF2B5EF4-FFF2-40B4-BE49-F238E27FC236}">
                  <a16:creationId xmlns:a16="http://schemas.microsoft.com/office/drawing/2014/main" id="{D4909914-5A0A-D6E8-84B3-CAA53226B0E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flipH="1">
              <a:off x="5704916" y="12381483"/>
              <a:ext cx="7772400" cy="1399032"/>
            </a:xfrm>
            <a:prstGeom prst="rect">
              <a:avLst/>
            </a:prstGeom>
          </p:spPr>
        </p:pic>
        <p:pic>
          <p:nvPicPr>
            <p:cNvPr id="24" name="Graphic 23">
              <a:extLst>
                <a:ext uri="{FF2B5EF4-FFF2-40B4-BE49-F238E27FC236}">
                  <a16:creationId xmlns:a16="http://schemas.microsoft.com/office/drawing/2014/main" id="{F667BDE9-ECD8-61DE-5479-2B3E3D5CD7B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710862" y="12406153"/>
              <a:ext cx="7772400" cy="1399032"/>
            </a:xfrm>
            <a:prstGeom prst="rect">
              <a:avLst/>
            </a:prstGeom>
          </p:spPr>
        </p:pic>
      </p:grpSp>
      <p:grpSp>
        <p:nvGrpSpPr>
          <p:cNvPr id="27" name="Group 26">
            <a:extLst>
              <a:ext uri="{FF2B5EF4-FFF2-40B4-BE49-F238E27FC236}">
                <a16:creationId xmlns:a16="http://schemas.microsoft.com/office/drawing/2014/main" id="{988DCA3A-B030-9CA1-0C37-3C057A57F1C0}"/>
              </a:ext>
            </a:extLst>
          </p:cNvPr>
          <p:cNvGrpSpPr/>
          <p:nvPr userDrawn="1"/>
        </p:nvGrpSpPr>
        <p:grpSpPr>
          <a:xfrm flipV="1">
            <a:off x="-2001816" y="-156680"/>
            <a:ext cx="19545609" cy="2008990"/>
            <a:chOff x="0" y="12351959"/>
            <a:chExt cx="19545609" cy="1428556"/>
          </a:xfrm>
        </p:grpSpPr>
        <p:pic>
          <p:nvPicPr>
            <p:cNvPr id="28" name="Graphic 27">
              <a:extLst>
                <a:ext uri="{FF2B5EF4-FFF2-40B4-BE49-F238E27FC236}">
                  <a16:creationId xmlns:a16="http://schemas.microsoft.com/office/drawing/2014/main" id="{065F3EB2-2C64-E529-94C8-57F409C3917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12381483"/>
              <a:ext cx="7772400" cy="1399032"/>
            </a:xfrm>
            <a:prstGeom prst="rect">
              <a:avLst/>
            </a:prstGeom>
          </p:spPr>
        </p:pic>
        <p:pic>
          <p:nvPicPr>
            <p:cNvPr id="29" name="Graphic 28">
              <a:extLst>
                <a:ext uri="{FF2B5EF4-FFF2-40B4-BE49-F238E27FC236}">
                  <a16:creationId xmlns:a16="http://schemas.microsoft.com/office/drawing/2014/main" id="{7A2692AE-5BB3-11E0-CB21-EB797BCE858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flipH="1">
              <a:off x="5704916" y="12381483"/>
              <a:ext cx="7772400" cy="1399032"/>
            </a:xfrm>
            <a:prstGeom prst="rect">
              <a:avLst/>
            </a:prstGeom>
          </p:spPr>
        </p:pic>
        <p:pic>
          <p:nvPicPr>
            <p:cNvPr id="30" name="Graphic 29">
              <a:extLst>
                <a:ext uri="{FF2B5EF4-FFF2-40B4-BE49-F238E27FC236}">
                  <a16:creationId xmlns:a16="http://schemas.microsoft.com/office/drawing/2014/main" id="{2C24B781-9AC9-4E77-6290-80870D5F5A1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773209" y="12351959"/>
              <a:ext cx="7772400" cy="1399032"/>
            </a:xfrm>
            <a:prstGeom prst="rect">
              <a:avLst/>
            </a:prstGeom>
          </p:spPr>
        </p:pic>
      </p:gr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oumo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5" name="Sessions Throughout  the course">
            <a:extLst>
              <a:ext uri="{FF2B5EF4-FFF2-40B4-BE49-F238E27FC236}">
                <a16:creationId xmlns:a16="http://schemas.microsoft.com/office/drawing/2014/main" id="{3DD2EE4F-7580-1683-B89C-0171A858274C}"/>
              </a:ext>
            </a:extLst>
          </p:cNvPr>
          <p:cNvSpPr txBox="1"/>
          <p:nvPr userDrawn="1"/>
        </p:nvSpPr>
        <p:spPr>
          <a:xfrm>
            <a:off x="1096" y="1015072"/>
            <a:ext cx="18507641" cy="1216743"/>
          </a:xfrm>
          <a:prstGeom prst="rect">
            <a:avLst/>
          </a:prstGeom>
          <a:solidFill>
            <a:srgbClr val="EAFA5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ctr">
              <a:defRPr sz="8000" b="1">
                <a:solidFill>
                  <a:srgbClr val="5DCBC0"/>
                </a:solidFill>
                <a:latin typeface="Helvetica"/>
                <a:ea typeface="Helvetica"/>
                <a:cs typeface="Helvetica"/>
                <a:sym typeface="Helvetica"/>
              </a:defRPr>
            </a:lvl1pPr>
          </a:lstStyle>
          <a:p>
            <a:endParaRPr dirty="0"/>
          </a:p>
        </p:txBody>
      </p:sp>
      <p:sp>
        <p:nvSpPr>
          <p:cNvPr id="3" name="Slide Number Placeholder 2">
            <a:extLst>
              <a:ext uri="{FF2B5EF4-FFF2-40B4-BE49-F238E27FC236}">
                <a16:creationId xmlns:a16="http://schemas.microsoft.com/office/drawing/2014/main" id="{37BE5C2D-BCB6-5575-E08E-C615B6B0D328}"/>
              </a:ext>
            </a:extLst>
          </p:cNvPr>
          <p:cNvSpPr>
            <a:spLocks noGrp="1"/>
          </p:cNvSpPr>
          <p:nvPr>
            <p:ph type="sldNum" sz="quarter" idx="10"/>
          </p:nvPr>
        </p:nvSpPr>
        <p:spPr/>
        <p:txBody>
          <a:bodyPr/>
          <a:lstStyle/>
          <a:p>
            <a:fld id="{86CB4B4D-7CA3-9044-876B-883B54F8677D}" type="slidenum">
              <a:rPr lang="en-GB" smtClean="0"/>
              <a:t>‹#›</a:t>
            </a:fld>
            <a:endParaRPr lang="en-GB"/>
          </a:p>
        </p:txBody>
      </p:sp>
      <p:pic>
        <p:nvPicPr>
          <p:cNvPr id="5" name="Picture 4" descr="A black background with white text&#10;&#10;AI-generated content may be incorrect.">
            <a:extLst>
              <a:ext uri="{FF2B5EF4-FFF2-40B4-BE49-F238E27FC236}">
                <a16:creationId xmlns:a16="http://schemas.microsoft.com/office/drawing/2014/main" id="{A49CE852-4CAB-4844-011F-8894CBBE7E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507641" y="873289"/>
            <a:ext cx="5713725" cy="1428432"/>
          </a:xfrm>
          <a:prstGeom prst="rect">
            <a:avLst/>
          </a:prstGeom>
        </p:spPr>
      </p:pic>
      <p:sp>
        <p:nvSpPr>
          <p:cNvPr id="11" name="Title 1">
            <a:extLst>
              <a:ext uri="{FF2B5EF4-FFF2-40B4-BE49-F238E27FC236}">
                <a16:creationId xmlns:a16="http://schemas.microsoft.com/office/drawing/2014/main" id="{E0D901C3-12E4-7385-39D0-865949AB4107}"/>
              </a:ext>
            </a:extLst>
          </p:cNvPr>
          <p:cNvSpPr>
            <a:spLocks noGrp="1"/>
          </p:cNvSpPr>
          <p:nvPr>
            <p:ph type="title"/>
          </p:nvPr>
        </p:nvSpPr>
        <p:spPr>
          <a:xfrm>
            <a:off x="1200251" y="1204188"/>
            <a:ext cx="21971000" cy="1433163"/>
          </a:xfrm>
        </p:spPr>
        <p:txBody>
          <a:bodyPr/>
          <a:lstStyle>
            <a:lvl1pPr>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stStyle>
          <a:p>
            <a:r>
              <a:rPr lang="en-GB" dirty="0"/>
              <a:t>Click to edit Master title style</a:t>
            </a:r>
            <a:endParaRPr lang="en-US" dirty="0"/>
          </a:p>
        </p:txBody>
      </p:sp>
      <p:pic>
        <p:nvPicPr>
          <p:cNvPr id="13" name="Picture 12" descr="A black background with white text&#10;&#10;AI-generated content may be incorrect.">
            <a:extLst>
              <a:ext uri="{FF2B5EF4-FFF2-40B4-BE49-F238E27FC236}">
                <a16:creationId xmlns:a16="http://schemas.microsoft.com/office/drawing/2014/main" id="{DA387F5A-544D-69F0-5B42-F124C027D1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508737" y="857568"/>
            <a:ext cx="5713725" cy="1428432"/>
          </a:xfrm>
          <a:prstGeom prst="rect">
            <a:avLst/>
          </a:prstGeom>
        </p:spPr>
      </p:pic>
    </p:spTree>
    <p:extLst>
      <p:ext uri="{BB962C8B-B14F-4D97-AF65-F5344CB8AC3E}">
        <p14:creationId xmlns:p14="http://schemas.microsoft.com/office/powerpoint/2010/main" val="157569872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7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7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8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3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45" name="Bowl with salmon cakes, salad and houmo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4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500" b="0" i="0">
                <a:solidFill>
                  <a:srgbClr val="002D5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6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10/29/26</a:t>
            </a:fld>
            <a:endParaRPr lang="en-US"/>
          </a:p>
        </p:txBody>
      </p:sp>
      <p:sp>
        <p:nvSpPr>
          <p:cNvPr id="6" name="Holder 6"/>
          <p:cNvSpPr>
            <a:spLocks noGrp="1"/>
          </p:cNvSpPr>
          <p:nvPr>
            <p:ph type="sldNum" sz="quarter" idx="7"/>
          </p:nvPr>
        </p:nvSpPr>
        <p:spPr>
          <a:xfrm>
            <a:off x="12123142" y="13178600"/>
            <a:ext cx="246862" cy="276999"/>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60377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10/29/26</a:t>
            </a:fld>
            <a:endParaRPr lang="en-US"/>
          </a:p>
        </p:txBody>
      </p:sp>
      <p:sp>
        <p:nvSpPr>
          <p:cNvPr id="4" name="Holder 4"/>
          <p:cNvSpPr>
            <a:spLocks noGrp="1"/>
          </p:cNvSpPr>
          <p:nvPr>
            <p:ph type="sldNum" sz="quarter" idx="7"/>
          </p:nvPr>
        </p:nvSpPr>
        <p:spPr>
          <a:xfrm>
            <a:off x="12123142" y="13178600"/>
            <a:ext cx="246862" cy="276999"/>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925359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325351"/>
            <a:ext cx="24384000" cy="1390650"/>
          </a:xfrm>
          <a:custGeom>
            <a:avLst/>
            <a:gdLst/>
            <a:ahLst/>
            <a:cxnLst/>
            <a:rect l="l" t="t" r="r" b="b"/>
            <a:pathLst>
              <a:path w="12192000" h="695325">
                <a:moveTo>
                  <a:pt x="12192000" y="0"/>
                </a:moveTo>
                <a:lnTo>
                  <a:pt x="0" y="0"/>
                </a:lnTo>
                <a:lnTo>
                  <a:pt x="0" y="695325"/>
                </a:lnTo>
                <a:lnTo>
                  <a:pt x="12192000" y="695325"/>
                </a:lnTo>
                <a:lnTo>
                  <a:pt x="12192000" y="0"/>
                </a:lnTo>
                <a:close/>
              </a:path>
            </a:pathLst>
          </a:custGeom>
          <a:solidFill>
            <a:srgbClr val="002D5F"/>
          </a:solidFill>
        </p:spPr>
        <p:txBody>
          <a:bodyPr wrap="square" lIns="0" tIns="0" rIns="0" bIns="0" rtlCol="0"/>
          <a:lstStyle/>
          <a:p>
            <a:endParaRPr sz="9600"/>
          </a:p>
        </p:txBody>
      </p:sp>
      <p:pic>
        <p:nvPicPr>
          <p:cNvPr id="17" name="bg object 17"/>
          <p:cNvPicPr/>
          <p:nvPr/>
        </p:nvPicPr>
        <p:blipFill>
          <a:blip r:embed="rId2" cstate="print"/>
          <a:stretch>
            <a:fillRect/>
          </a:stretch>
        </p:blipFill>
        <p:spPr>
          <a:xfrm>
            <a:off x="11144251" y="11106151"/>
            <a:ext cx="2190750" cy="2190750"/>
          </a:xfrm>
          <a:prstGeom prst="rect">
            <a:avLst/>
          </a:prstGeom>
        </p:spPr>
      </p:pic>
      <p:pic>
        <p:nvPicPr>
          <p:cNvPr id="18" name="bg object 18"/>
          <p:cNvPicPr/>
          <p:nvPr/>
        </p:nvPicPr>
        <p:blipFill>
          <a:blip r:embed="rId3" cstate="print"/>
          <a:stretch>
            <a:fillRect/>
          </a:stretch>
        </p:blipFill>
        <p:spPr>
          <a:xfrm>
            <a:off x="8958581" y="616713"/>
            <a:ext cx="6675882" cy="991870"/>
          </a:xfrm>
          <a:prstGeom prst="rect">
            <a:avLst/>
          </a:prstGeom>
        </p:spPr>
      </p:pic>
      <p:sp>
        <p:nvSpPr>
          <p:cNvPr id="2" name="Holder 2"/>
          <p:cNvSpPr>
            <a:spLocks noGrp="1"/>
          </p:cNvSpPr>
          <p:nvPr>
            <p:ph type="title"/>
          </p:nvPr>
        </p:nvSpPr>
        <p:spPr/>
        <p:txBody>
          <a:bodyPr lIns="0" tIns="0" rIns="0" bIns="0"/>
          <a:lstStyle>
            <a:lvl1pPr>
              <a:defRPr sz="5500" b="0" i="0">
                <a:solidFill>
                  <a:srgbClr val="002D5F"/>
                </a:solidFill>
                <a:latin typeface="Calibri"/>
                <a:cs typeface="Calibri"/>
              </a:defRPr>
            </a:lvl1pPr>
          </a:lstStyle>
          <a:p>
            <a:endParaRPr/>
          </a:p>
        </p:txBody>
      </p:sp>
      <p:sp>
        <p:nvSpPr>
          <p:cNvPr id="3" name="Holder 3"/>
          <p:cNvSpPr>
            <a:spLocks noGrp="1"/>
          </p:cNvSpPr>
          <p:nvPr>
            <p:ph sz="half" idx="2"/>
          </p:nvPr>
        </p:nvSpPr>
        <p:spPr>
          <a:xfrm>
            <a:off x="2370454" y="3689476"/>
            <a:ext cx="10838180" cy="683264"/>
          </a:xfrm>
          <a:prstGeom prst="rect">
            <a:avLst/>
          </a:prstGeom>
        </p:spPr>
        <p:txBody>
          <a:bodyPr wrap="square" lIns="0" tIns="0" rIns="0" bIns="0">
            <a:spAutoFit/>
          </a:bodyPr>
          <a:lstStyle>
            <a:lvl1pPr>
              <a:defRPr sz="4800" b="0" i="0">
                <a:solidFill>
                  <a:srgbClr val="002D5F"/>
                </a:solidFill>
                <a:latin typeface="Courier New"/>
                <a:cs typeface="Courier New"/>
              </a:defRPr>
            </a:lvl1pPr>
          </a:lstStyle>
          <a:p>
            <a:endParaRPr/>
          </a:p>
        </p:txBody>
      </p:sp>
      <p:sp>
        <p:nvSpPr>
          <p:cNvPr id="4" name="Holder 4"/>
          <p:cNvSpPr>
            <a:spLocks noGrp="1"/>
          </p:cNvSpPr>
          <p:nvPr>
            <p:ph sz="half" idx="3"/>
          </p:nvPr>
        </p:nvSpPr>
        <p:spPr>
          <a:xfrm>
            <a:off x="14434818" y="3862070"/>
            <a:ext cx="8356600" cy="761747"/>
          </a:xfrm>
          <a:prstGeom prst="rect">
            <a:avLst/>
          </a:prstGeom>
        </p:spPr>
        <p:txBody>
          <a:bodyPr wrap="square" lIns="0" tIns="0" rIns="0" bIns="0">
            <a:spAutoFit/>
          </a:bodyPr>
          <a:lstStyle>
            <a:lvl1pPr>
              <a:defRPr sz="5500" b="0" i="0">
                <a:solidFill>
                  <a:srgbClr val="002D5F"/>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10/29/26</a:t>
            </a:fld>
            <a:endParaRPr lang="en-US"/>
          </a:p>
        </p:txBody>
      </p:sp>
      <p:sp>
        <p:nvSpPr>
          <p:cNvPr id="7" name="Holder 7"/>
          <p:cNvSpPr>
            <a:spLocks noGrp="1"/>
          </p:cNvSpPr>
          <p:nvPr>
            <p:ph type="sldNum" sz="quarter" idx="7"/>
          </p:nvPr>
        </p:nvSpPr>
        <p:spPr>
          <a:xfrm>
            <a:off x="12123142" y="13178600"/>
            <a:ext cx="246862" cy="276999"/>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685161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500" b="0" i="0">
                <a:solidFill>
                  <a:srgbClr val="002D5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10/29/26</a:t>
            </a:fld>
            <a:endParaRPr lang="en-US"/>
          </a:p>
        </p:txBody>
      </p:sp>
      <p:sp>
        <p:nvSpPr>
          <p:cNvPr id="5" name="Holder 5"/>
          <p:cNvSpPr>
            <a:spLocks noGrp="1"/>
          </p:cNvSpPr>
          <p:nvPr>
            <p:ph type="sldNum" sz="quarter" idx="7"/>
          </p:nvPr>
        </p:nvSpPr>
        <p:spPr>
          <a:xfrm>
            <a:off x="12123142" y="13178600"/>
            <a:ext cx="246862" cy="276999"/>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8043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66" r:id="rId3"/>
    <p:sldLayoutId id="2147483654" r:id="rId4"/>
    <p:sldLayoutId id="2147483655" r:id="rId5"/>
    <p:sldLayoutId id="2147483656" r:id="rId6"/>
    <p:sldLayoutId id="2147483657" r:id="rId7"/>
    <p:sldLayoutId id="2147483659" r:id="rId8"/>
    <p:sldLayoutId id="2147483660" r:id="rId9"/>
    <p:sldLayoutId id="2147483661" r:id="rId10"/>
    <p:sldLayoutId id="2147483662" r:id="rId11"/>
    <p:sldLayoutId id="2147483663" r:id="rId12"/>
    <p:sldLayoutId id="2147483664" r:id="rId13"/>
    <p:sldLayoutId id="2147483667" r:id="rId14"/>
    <p:sldLayoutId id="2147483668" r:id="rId15"/>
    <p:sldLayoutId id="2147483669" r:id="rId16"/>
    <p:sldLayoutId id="2147483670" r:id="rId17"/>
  </p:sldLayoutIdLst>
  <p:transition spd="med"/>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List_of_HTTP_status_codes"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www.connosr.com/" TargetMode="External"/><Relationship Id="rId2" Type="http://schemas.openxmlformats.org/officeDocument/2006/relationships/hyperlink" Target="https://chromewebstore.google.com/detail/selectorgadget/mhjhnkcfbdhnjickkkdbjoemdmbfginb?hl=en" TargetMode="External"/><Relationship Id="rId1" Type="http://schemas.openxmlformats.org/officeDocument/2006/relationships/slideLayout" Target="../slideLayouts/slideLayout3.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75" name="Edinburgh Futures Institute_logo_linear_white.png" descr="Edinburgh Futures Institute_logo_linear_white.png"/>
          <p:cNvPicPr>
            <a:picLocks noChangeAspect="1"/>
          </p:cNvPicPr>
          <p:nvPr/>
        </p:nvPicPr>
        <p:blipFill>
          <a:blip r:embed="rId2"/>
          <a:stretch>
            <a:fillRect/>
          </a:stretch>
        </p:blipFill>
        <p:spPr>
          <a:xfrm>
            <a:off x="15736323" y="1754362"/>
            <a:ext cx="7618172" cy="1905001"/>
          </a:xfrm>
          <a:prstGeom prst="rect">
            <a:avLst/>
          </a:prstGeom>
          <a:ln w="12700">
            <a:miter lim="400000"/>
          </a:ln>
        </p:spPr>
      </p:pic>
      <p:pic>
        <p:nvPicPr>
          <p:cNvPr id="5" name="Picture 4" descr="A white background with text and a red and orange wavy line&#10;&#10;AI-generated content may be incorrect.">
            <a:extLst>
              <a:ext uri="{FF2B5EF4-FFF2-40B4-BE49-F238E27FC236}">
                <a16:creationId xmlns:a16="http://schemas.microsoft.com/office/drawing/2014/main" id="{3842B6F8-46A0-85EA-455D-0F6FF1B05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19726"/>
            <a:ext cx="24448171" cy="18336129"/>
          </a:xfrm>
          <a:prstGeom prst="rect">
            <a:avLst/>
          </a:prstGeom>
        </p:spPr>
      </p:pic>
      <p:sp>
        <p:nvSpPr>
          <p:cNvPr id="6" name="Title 1">
            <a:extLst>
              <a:ext uri="{FF2B5EF4-FFF2-40B4-BE49-F238E27FC236}">
                <a16:creationId xmlns:a16="http://schemas.microsoft.com/office/drawing/2014/main" id="{C746BCB5-71AA-9490-EB7E-00032DD8CFC5}"/>
              </a:ext>
            </a:extLst>
          </p:cNvPr>
          <p:cNvSpPr>
            <a:spLocks noGrp="1"/>
          </p:cNvSpPr>
          <p:nvPr>
            <p:ph type="title"/>
          </p:nvPr>
        </p:nvSpPr>
        <p:spPr>
          <a:xfrm>
            <a:off x="1383491" y="9608376"/>
            <a:ext cx="21971004" cy="2353262"/>
          </a:xfrm>
        </p:spPr>
        <p:txBody>
          <a:bodyPr>
            <a:normAutofit fontScale="90000"/>
          </a:bodyPr>
          <a:lstStyle/>
          <a:p>
            <a:r>
              <a:rPr lang="en-US" sz="8000" dirty="0"/>
              <a:t>Understanding the Web</a:t>
            </a:r>
            <a:br>
              <a:rPr lang="en-US" sz="8000" dirty="0"/>
            </a:br>
            <a:br>
              <a:rPr lang="en-US" sz="8000" dirty="0"/>
            </a:br>
            <a:r>
              <a:rPr lang="en-US" sz="6600" b="0" dirty="0"/>
              <a:t>delivered by Joy Lan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A108D-623B-716D-40F0-1B16E6BE8F1B}"/>
            </a:ext>
          </a:extLst>
        </p:cNvPr>
        <p:cNvGrpSpPr/>
        <p:nvPr/>
      </p:nvGrpSpPr>
      <p:grpSpPr>
        <a:xfrm>
          <a:off x="0" y="0"/>
          <a:ext cx="0" cy="0"/>
          <a:chOff x="0" y="0"/>
          <a:chExt cx="0" cy="0"/>
        </a:xfrm>
      </p:grpSpPr>
      <p:sp>
        <p:nvSpPr>
          <p:cNvPr id="467" name="Feedback for us...…">
            <a:extLst>
              <a:ext uri="{FF2B5EF4-FFF2-40B4-BE49-F238E27FC236}">
                <a16:creationId xmlns:a16="http://schemas.microsoft.com/office/drawing/2014/main" id="{6350AECD-4A52-51B1-0CA7-A7D1C8CF9F7E}"/>
              </a:ext>
            </a:extLst>
          </p:cNvPr>
          <p:cNvSpPr txBox="1"/>
          <p:nvPr/>
        </p:nvSpPr>
        <p:spPr>
          <a:xfrm>
            <a:off x="2503867" y="5077668"/>
            <a:ext cx="19376265" cy="10259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000" b="1">
                <a:solidFill>
                  <a:srgbClr val="0A1C3E"/>
                </a:solidFill>
                <a:latin typeface="Helvetica"/>
                <a:ea typeface="Helvetica"/>
                <a:cs typeface="Helvetica"/>
                <a:sym typeface="Helvetica"/>
              </a:defRPr>
            </a:pPr>
            <a:endParaRPr dirty="0"/>
          </a:p>
        </p:txBody>
      </p:sp>
      <p:sp>
        <p:nvSpPr>
          <p:cNvPr id="2" name="Title 1">
            <a:extLst>
              <a:ext uri="{FF2B5EF4-FFF2-40B4-BE49-F238E27FC236}">
                <a16:creationId xmlns:a16="http://schemas.microsoft.com/office/drawing/2014/main" id="{9942939B-15C7-EA10-3AFB-FE81E83FA9E2}"/>
              </a:ext>
            </a:extLst>
          </p:cNvPr>
          <p:cNvSpPr>
            <a:spLocks noGrp="1"/>
          </p:cNvSpPr>
          <p:nvPr>
            <p:ph type="title"/>
          </p:nvPr>
        </p:nvSpPr>
        <p:spPr>
          <a:xfrm>
            <a:off x="1206497" y="5681369"/>
            <a:ext cx="21971004" cy="2353262"/>
          </a:xfrm>
        </p:spPr>
        <p:txBody>
          <a:bodyPr/>
          <a:lstStyle/>
          <a:p>
            <a:pPr algn="ctr"/>
            <a:r>
              <a:rPr lang="en-US" dirty="0"/>
              <a:t>Understanding the Web</a:t>
            </a:r>
          </a:p>
        </p:txBody>
      </p:sp>
    </p:spTree>
    <p:extLst>
      <p:ext uri="{BB962C8B-B14F-4D97-AF65-F5344CB8AC3E}">
        <p14:creationId xmlns:p14="http://schemas.microsoft.com/office/powerpoint/2010/main" val="194157063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B3F88-ED3A-5CB0-9856-575444B5D420}"/>
            </a:ext>
          </a:extLst>
        </p:cNvPr>
        <p:cNvGrpSpPr/>
        <p:nvPr/>
      </p:nvGrpSpPr>
      <p:grpSpPr>
        <a:xfrm>
          <a:off x="0" y="0"/>
          <a:ext cx="0" cy="0"/>
          <a:chOff x="0" y="0"/>
          <a:chExt cx="0" cy="0"/>
        </a:xfrm>
      </p:grpSpPr>
      <p:sp>
        <p:nvSpPr>
          <p:cNvPr id="3" name="object 3" descr="$PPTXTitle">
            <a:extLst>
              <a:ext uri="{FF2B5EF4-FFF2-40B4-BE49-F238E27FC236}">
                <a16:creationId xmlns:a16="http://schemas.microsoft.com/office/drawing/2014/main" id="{9B633620-3DB3-9F87-B220-46A90149487C}"/>
              </a:ext>
            </a:extLst>
          </p:cNvPr>
          <p:cNvSpPr txBox="1">
            <a:spLocks noGrp="1"/>
          </p:cNvSpPr>
          <p:nvPr>
            <p:ph type="title"/>
          </p:nvPr>
        </p:nvSpPr>
        <p:spPr>
          <a:xfrm>
            <a:off x="1200251" y="2947298"/>
            <a:ext cx="21971000" cy="764312"/>
          </a:xfrm>
          <a:prstGeom prst="rect">
            <a:avLst/>
          </a:prstGeom>
        </p:spPr>
        <p:txBody>
          <a:bodyPr vert="horz" wrap="square" lIns="0" tIns="25400" rIns="0" bIns="0" rtlCol="0">
            <a:spAutoFit/>
          </a:bodyPr>
          <a:lstStyle/>
          <a:p>
            <a:pPr marL="25400">
              <a:lnSpc>
                <a:spcPct val="100000"/>
              </a:lnSpc>
              <a:spcBef>
                <a:spcPts val="200"/>
              </a:spcBef>
            </a:pPr>
            <a:r>
              <a:rPr lang="en-GB" sz="4800" dirty="0"/>
              <a:t>What is HTTP?</a:t>
            </a:r>
            <a:endParaRPr sz="4800" dirty="0"/>
          </a:p>
        </p:txBody>
      </p:sp>
      <p:sp>
        <p:nvSpPr>
          <p:cNvPr id="9" name="Title 14">
            <a:extLst>
              <a:ext uri="{FF2B5EF4-FFF2-40B4-BE49-F238E27FC236}">
                <a16:creationId xmlns:a16="http://schemas.microsoft.com/office/drawing/2014/main" id="{61C4AB5C-2496-3A2B-E439-C99E368AD6B8}"/>
              </a:ext>
            </a:extLst>
          </p:cNvPr>
          <p:cNvSpPr txBox="1">
            <a:spLocks/>
          </p:cNvSpPr>
          <p:nvPr/>
        </p:nvSpPr>
        <p:spPr>
          <a:xfrm>
            <a:off x="1200251" y="1204188"/>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hangingPunct="1"/>
            <a:r>
              <a:rPr lang="en-GB" spc="-20" dirty="0"/>
              <a:t>Understanding the Web</a:t>
            </a:r>
            <a:endParaRPr lang="en-GB" dirty="0"/>
          </a:p>
        </p:txBody>
      </p:sp>
      <p:pic>
        <p:nvPicPr>
          <p:cNvPr id="11" name="Picture 10" descr="A black background with a black square&#10;&#10;AI-generated content may be incorrect.">
            <a:extLst>
              <a:ext uri="{FF2B5EF4-FFF2-40B4-BE49-F238E27FC236}">
                <a16:creationId xmlns:a16="http://schemas.microsoft.com/office/drawing/2014/main" id="{CF58453F-2B78-AD25-B3F6-89441EF7C7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0589" y="4664911"/>
            <a:ext cx="4876800" cy="4876800"/>
          </a:xfrm>
          <a:prstGeom prst="rect">
            <a:avLst/>
          </a:prstGeom>
        </p:spPr>
      </p:pic>
      <p:pic>
        <p:nvPicPr>
          <p:cNvPr id="13" name="Picture 12" descr="A black background with a black square&#10;&#10;AI-generated content may be incorrect.">
            <a:extLst>
              <a:ext uri="{FF2B5EF4-FFF2-40B4-BE49-F238E27FC236}">
                <a16:creationId xmlns:a16="http://schemas.microsoft.com/office/drawing/2014/main" id="{6196D0CC-5D88-9BF3-D96D-22502BBC50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7847" y="4124005"/>
            <a:ext cx="5194300" cy="5194300"/>
          </a:xfrm>
          <a:prstGeom prst="rect">
            <a:avLst/>
          </a:prstGeom>
        </p:spPr>
      </p:pic>
      <p:sp>
        <p:nvSpPr>
          <p:cNvPr id="14" name="object 3" descr="$PPTXTitle">
            <a:extLst>
              <a:ext uri="{FF2B5EF4-FFF2-40B4-BE49-F238E27FC236}">
                <a16:creationId xmlns:a16="http://schemas.microsoft.com/office/drawing/2014/main" id="{144BAA0F-D6F8-92A1-CADB-C7F846E10102}"/>
              </a:ext>
            </a:extLst>
          </p:cNvPr>
          <p:cNvSpPr txBox="1">
            <a:spLocks/>
          </p:cNvSpPr>
          <p:nvPr/>
        </p:nvSpPr>
        <p:spPr>
          <a:xfrm>
            <a:off x="2510589" y="9730700"/>
            <a:ext cx="4876800" cy="15286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marL="25400" algn="ctr" hangingPunct="1">
              <a:lnSpc>
                <a:spcPct val="100000"/>
              </a:lnSpc>
              <a:spcBef>
                <a:spcPts val="200"/>
              </a:spcBef>
            </a:pPr>
            <a:r>
              <a:rPr lang="en-GB" sz="4800" b="0" dirty="0"/>
              <a:t>your browser</a:t>
            </a:r>
          </a:p>
          <a:p>
            <a:pPr marL="25400" algn="ctr" hangingPunct="1">
              <a:lnSpc>
                <a:spcPct val="100000"/>
              </a:lnSpc>
              <a:spcBef>
                <a:spcPts val="200"/>
              </a:spcBef>
            </a:pPr>
            <a:r>
              <a:rPr lang="en-GB" sz="4800" b="0" dirty="0"/>
              <a:t>(client)</a:t>
            </a:r>
          </a:p>
        </p:txBody>
      </p:sp>
      <p:sp>
        <p:nvSpPr>
          <p:cNvPr id="15" name="object 3" descr="$PPTXTitle">
            <a:extLst>
              <a:ext uri="{FF2B5EF4-FFF2-40B4-BE49-F238E27FC236}">
                <a16:creationId xmlns:a16="http://schemas.microsoft.com/office/drawing/2014/main" id="{B6A5816F-0972-5F54-DFAA-A2CDB651B7E1}"/>
              </a:ext>
            </a:extLst>
          </p:cNvPr>
          <p:cNvSpPr txBox="1">
            <a:spLocks/>
          </p:cNvSpPr>
          <p:nvPr/>
        </p:nvSpPr>
        <p:spPr>
          <a:xfrm>
            <a:off x="16356597" y="9730700"/>
            <a:ext cx="4876800" cy="15286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marL="25400" algn="ctr" hangingPunct="1">
              <a:lnSpc>
                <a:spcPct val="100000"/>
              </a:lnSpc>
              <a:spcBef>
                <a:spcPts val="200"/>
              </a:spcBef>
            </a:pPr>
            <a:r>
              <a:rPr lang="en-GB" sz="4800" b="0" dirty="0"/>
              <a:t>cloud/web server</a:t>
            </a:r>
          </a:p>
          <a:p>
            <a:pPr marL="25400" algn="ctr" hangingPunct="1">
              <a:lnSpc>
                <a:spcPct val="100000"/>
              </a:lnSpc>
              <a:spcBef>
                <a:spcPts val="200"/>
              </a:spcBef>
            </a:pPr>
            <a:r>
              <a:rPr lang="en-GB" sz="4800" b="0" dirty="0"/>
              <a:t>(website)</a:t>
            </a:r>
          </a:p>
        </p:txBody>
      </p:sp>
      <p:sp>
        <p:nvSpPr>
          <p:cNvPr id="16" name="object 3" descr="$PPTXTitle">
            <a:extLst>
              <a:ext uri="{FF2B5EF4-FFF2-40B4-BE49-F238E27FC236}">
                <a16:creationId xmlns:a16="http://schemas.microsoft.com/office/drawing/2014/main" id="{D026581B-4A27-0499-89BE-F3F2A21574DC}"/>
              </a:ext>
            </a:extLst>
          </p:cNvPr>
          <p:cNvSpPr txBox="1">
            <a:spLocks/>
          </p:cNvSpPr>
          <p:nvPr/>
        </p:nvSpPr>
        <p:spPr>
          <a:xfrm>
            <a:off x="9087852" y="5192531"/>
            <a:ext cx="4876800" cy="38215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marL="25400" algn="ctr" hangingPunct="1">
              <a:lnSpc>
                <a:spcPct val="100000"/>
              </a:lnSpc>
              <a:spcBef>
                <a:spcPts val="200"/>
              </a:spcBef>
            </a:pPr>
            <a:r>
              <a:rPr lang="en-GB" sz="4800" b="0" dirty="0">
                <a:sym typeface="Wingdings" pitchFamily="2" charset="2"/>
              </a:rPr>
              <a:t> </a:t>
            </a:r>
          </a:p>
          <a:p>
            <a:pPr marL="25400" algn="ctr" hangingPunct="1">
              <a:lnSpc>
                <a:spcPct val="100000"/>
              </a:lnSpc>
              <a:spcBef>
                <a:spcPts val="200"/>
              </a:spcBef>
            </a:pPr>
            <a:r>
              <a:rPr lang="en-GB" sz="4800" b="0" dirty="0"/>
              <a:t>http </a:t>
            </a:r>
            <a:r>
              <a:rPr lang="en-GB" sz="4800" dirty="0">
                <a:solidFill>
                  <a:srgbClr val="C00000"/>
                </a:solidFill>
                <a:sym typeface="Wingdings" pitchFamily="2" charset="2"/>
              </a:rPr>
              <a:t>request</a:t>
            </a:r>
          </a:p>
          <a:p>
            <a:pPr marL="25400" algn="ctr" hangingPunct="1">
              <a:lnSpc>
                <a:spcPct val="100000"/>
              </a:lnSpc>
              <a:spcBef>
                <a:spcPts val="200"/>
              </a:spcBef>
            </a:pPr>
            <a:endParaRPr lang="en-GB" sz="4800" b="0" dirty="0">
              <a:sym typeface="Wingdings" pitchFamily="2" charset="2"/>
            </a:endParaRPr>
          </a:p>
          <a:p>
            <a:pPr marL="25400" algn="ctr" hangingPunct="1">
              <a:lnSpc>
                <a:spcPct val="100000"/>
              </a:lnSpc>
              <a:spcBef>
                <a:spcPts val="200"/>
              </a:spcBef>
            </a:pPr>
            <a:r>
              <a:rPr lang="en-GB" sz="4800" b="0" dirty="0">
                <a:sym typeface="Wingdings" pitchFamily="2" charset="2"/>
              </a:rPr>
              <a:t></a:t>
            </a:r>
          </a:p>
          <a:p>
            <a:pPr marL="25400" algn="ctr" hangingPunct="1">
              <a:lnSpc>
                <a:spcPct val="100000"/>
              </a:lnSpc>
              <a:spcBef>
                <a:spcPts val="200"/>
              </a:spcBef>
            </a:pPr>
            <a:r>
              <a:rPr lang="en-GB" sz="4800" b="0" dirty="0">
                <a:sym typeface="Wingdings" pitchFamily="2" charset="2"/>
              </a:rPr>
              <a:t>http</a:t>
            </a:r>
            <a:r>
              <a:rPr lang="en-GB" sz="4800" dirty="0">
                <a:solidFill>
                  <a:srgbClr val="C00000"/>
                </a:solidFill>
                <a:sym typeface="Wingdings" pitchFamily="2" charset="2"/>
              </a:rPr>
              <a:t> response</a:t>
            </a:r>
            <a:endParaRPr lang="en-GB" sz="4800" dirty="0">
              <a:solidFill>
                <a:srgbClr val="C00000"/>
              </a:solidFill>
            </a:endParaRPr>
          </a:p>
        </p:txBody>
      </p:sp>
    </p:spTree>
    <p:extLst>
      <p:ext uri="{BB962C8B-B14F-4D97-AF65-F5344CB8AC3E}">
        <p14:creationId xmlns:p14="http://schemas.microsoft.com/office/powerpoint/2010/main" val="100299830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D0FB4-3614-57E9-A800-C416052141C5}"/>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303E91F7-9200-5B07-FCAD-F4760B2CADB9}"/>
              </a:ext>
            </a:extLst>
          </p:cNvPr>
          <p:cNvPicPr/>
          <p:nvPr/>
        </p:nvPicPr>
        <p:blipFill>
          <a:blip r:embed="rId3" cstate="print"/>
          <a:stretch>
            <a:fillRect/>
          </a:stretch>
        </p:blipFill>
        <p:spPr>
          <a:xfrm>
            <a:off x="1284590" y="7133474"/>
            <a:ext cx="21416185" cy="5716251"/>
          </a:xfrm>
          <a:prstGeom prst="rect">
            <a:avLst/>
          </a:prstGeom>
        </p:spPr>
      </p:pic>
      <p:sp>
        <p:nvSpPr>
          <p:cNvPr id="9" name="Title 14">
            <a:extLst>
              <a:ext uri="{FF2B5EF4-FFF2-40B4-BE49-F238E27FC236}">
                <a16:creationId xmlns:a16="http://schemas.microsoft.com/office/drawing/2014/main" id="{E20F73EB-3082-DD78-29BB-92814A9D73B2}"/>
              </a:ext>
            </a:extLst>
          </p:cNvPr>
          <p:cNvSpPr txBox="1">
            <a:spLocks/>
          </p:cNvSpPr>
          <p:nvPr/>
        </p:nvSpPr>
        <p:spPr>
          <a:xfrm>
            <a:off x="1200251" y="1204188"/>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hangingPunct="1"/>
            <a:r>
              <a:rPr lang="en-GB" spc="-20" dirty="0"/>
              <a:t>Understanding the Web</a:t>
            </a:r>
            <a:endParaRPr lang="en-GB" dirty="0"/>
          </a:p>
        </p:txBody>
      </p:sp>
      <p:sp>
        <p:nvSpPr>
          <p:cNvPr id="7" name="TextBox 6">
            <a:extLst>
              <a:ext uri="{FF2B5EF4-FFF2-40B4-BE49-F238E27FC236}">
                <a16:creationId xmlns:a16="http://schemas.microsoft.com/office/drawing/2014/main" id="{BBDF139D-30F9-4B4E-4D50-925C73116FCA}"/>
              </a:ext>
            </a:extLst>
          </p:cNvPr>
          <p:cNvSpPr txBox="1"/>
          <p:nvPr/>
        </p:nvSpPr>
        <p:spPr>
          <a:xfrm>
            <a:off x="1200250" y="2958457"/>
            <a:ext cx="22165075" cy="36240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GB" sz="4800" b="0" dirty="0">
                <a:solidFill>
                  <a:srgbClr val="002D5F"/>
                </a:solidFill>
              </a:rPr>
              <a:t>When</a:t>
            </a:r>
            <a:r>
              <a:rPr lang="en-GB" sz="4800" b="0" spc="-90" dirty="0">
                <a:solidFill>
                  <a:srgbClr val="002D5F"/>
                </a:solidFill>
              </a:rPr>
              <a:t> </a:t>
            </a:r>
            <a:r>
              <a:rPr lang="en-GB" sz="4800" b="0" dirty="0">
                <a:solidFill>
                  <a:srgbClr val="002D5F"/>
                </a:solidFill>
              </a:rPr>
              <a:t>you</a:t>
            </a:r>
            <a:r>
              <a:rPr lang="en-GB" sz="4800" b="0" spc="40" dirty="0">
                <a:solidFill>
                  <a:srgbClr val="002D5F"/>
                </a:solidFill>
              </a:rPr>
              <a:t> </a:t>
            </a:r>
            <a:r>
              <a:rPr lang="en-GB" sz="4800" b="0" dirty="0">
                <a:solidFill>
                  <a:srgbClr val="002D5F"/>
                </a:solidFill>
              </a:rPr>
              <a:t>open</a:t>
            </a:r>
            <a:r>
              <a:rPr lang="en-GB" sz="4800" b="0" spc="-90" dirty="0">
                <a:solidFill>
                  <a:srgbClr val="002D5F"/>
                </a:solidFill>
              </a:rPr>
              <a:t> </a:t>
            </a:r>
            <a:r>
              <a:rPr lang="en-GB" sz="4800" b="0" dirty="0">
                <a:solidFill>
                  <a:srgbClr val="002D5F"/>
                </a:solidFill>
              </a:rPr>
              <a:t>a</a:t>
            </a:r>
            <a:r>
              <a:rPr lang="en-GB" sz="4800" b="0" spc="-80" dirty="0">
                <a:solidFill>
                  <a:srgbClr val="002D5F"/>
                </a:solidFill>
              </a:rPr>
              <a:t> </a:t>
            </a:r>
            <a:r>
              <a:rPr lang="en-GB" sz="4800" b="0" dirty="0">
                <a:solidFill>
                  <a:srgbClr val="002D5F"/>
                </a:solidFill>
              </a:rPr>
              <a:t>website in</a:t>
            </a:r>
            <a:r>
              <a:rPr lang="en-GB" sz="4800" b="0" spc="-100" dirty="0">
                <a:solidFill>
                  <a:srgbClr val="002D5F"/>
                </a:solidFill>
              </a:rPr>
              <a:t> </a:t>
            </a:r>
            <a:r>
              <a:rPr lang="en-GB" sz="4800" b="0" dirty="0">
                <a:solidFill>
                  <a:srgbClr val="002D5F"/>
                </a:solidFill>
              </a:rPr>
              <a:t>your</a:t>
            </a:r>
            <a:r>
              <a:rPr lang="en-GB" sz="4800" b="0" spc="-60" dirty="0">
                <a:solidFill>
                  <a:srgbClr val="002D5F"/>
                </a:solidFill>
              </a:rPr>
              <a:t> </a:t>
            </a:r>
            <a:r>
              <a:rPr lang="en-GB" sz="4800" b="0" spc="-50" dirty="0">
                <a:solidFill>
                  <a:srgbClr val="002D5F"/>
                </a:solidFill>
              </a:rPr>
              <a:t>browser,</a:t>
            </a:r>
            <a:r>
              <a:rPr lang="en-GB" sz="4800" b="0" spc="-140" dirty="0">
                <a:solidFill>
                  <a:srgbClr val="002D5F"/>
                </a:solidFill>
              </a:rPr>
              <a:t> </a:t>
            </a:r>
            <a:r>
              <a:rPr lang="en-GB" sz="4800" b="0" dirty="0">
                <a:solidFill>
                  <a:srgbClr val="002D5F"/>
                </a:solidFill>
              </a:rPr>
              <a:t>you</a:t>
            </a:r>
            <a:r>
              <a:rPr lang="en-GB" sz="4800" b="0" spc="40" dirty="0">
                <a:solidFill>
                  <a:srgbClr val="002D5F"/>
                </a:solidFill>
              </a:rPr>
              <a:t> </a:t>
            </a:r>
            <a:r>
              <a:rPr lang="en-GB" sz="4800" b="0" dirty="0">
                <a:solidFill>
                  <a:srgbClr val="002D5F"/>
                </a:solidFill>
              </a:rPr>
              <a:t>are</a:t>
            </a:r>
            <a:r>
              <a:rPr lang="en-GB" sz="4800" b="0" spc="-10" dirty="0">
                <a:solidFill>
                  <a:srgbClr val="002D5F"/>
                </a:solidFill>
              </a:rPr>
              <a:t> </a:t>
            </a:r>
            <a:r>
              <a:rPr lang="en-GB" sz="4800" b="0" dirty="0">
                <a:solidFill>
                  <a:srgbClr val="002D5F"/>
                </a:solidFill>
              </a:rPr>
              <a:t>making</a:t>
            </a:r>
            <a:r>
              <a:rPr lang="en-GB" sz="4800" b="0" spc="-90" dirty="0">
                <a:solidFill>
                  <a:srgbClr val="002D5F"/>
                </a:solidFill>
              </a:rPr>
              <a:t> </a:t>
            </a:r>
            <a:r>
              <a:rPr lang="en-GB" sz="4800" b="0" dirty="0">
                <a:solidFill>
                  <a:srgbClr val="002D5F"/>
                </a:solidFill>
              </a:rPr>
              <a:t>HTTP(S)</a:t>
            </a:r>
            <a:r>
              <a:rPr lang="en-GB" sz="4800" b="0" spc="-50" dirty="0">
                <a:solidFill>
                  <a:srgbClr val="002D5F"/>
                </a:solidFill>
              </a:rPr>
              <a:t> </a:t>
            </a:r>
            <a:r>
              <a:rPr lang="en-GB" sz="4800" b="0" dirty="0">
                <a:solidFill>
                  <a:srgbClr val="002D5F"/>
                </a:solidFill>
              </a:rPr>
              <a:t>requests.</a:t>
            </a:r>
            <a:r>
              <a:rPr lang="en-GB" sz="4800" b="0" spc="20" dirty="0">
                <a:solidFill>
                  <a:srgbClr val="002D5F"/>
                </a:solidFill>
              </a:rPr>
              <a:t> </a:t>
            </a:r>
            <a:br>
              <a:rPr lang="en-GB" sz="4800" b="0" spc="20" dirty="0">
                <a:solidFill>
                  <a:srgbClr val="002D5F"/>
                </a:solidFill>
              </a:rPr>
            </a:br>
            <a:r>
              <a:rPr lang="en-GB" dirty="0">
                <a:solidFill>
                  <a:srgbClr val="002D5F"/>
                </a:solidFill>
              </a:rPr>
              <a:t>Opening</a:t>
            </a:r>
            <a:r>
              <a:rPr lang="en-GB" spc="-50" dirty="0">
                <a:solidFill>
                  <a:srgbClr val="002D5F"/>
                </a:solidFill>
              </a:rPr>
              <a:t> </a:t>
            </a:r>
            <a:r>
              <a:rPr lang="en-GB" dirty="0">
                <a:solidFill>
                  <a:srgbClr val="002D5F"/>
                </a:solidFill>
              </a:rPr>
              <a:t>a</a:t>
            </a:r>
            <a:r>
              <a:rPr lang="en-GB" spc="-70" dirty="0">
                <a:solidFill>
                  <a:srgbClr val="002D5F"/>
                </a:solidFill>
              </a:rPr>
              <a:t> </a:t>
            </a:r>
            <a:r>
              <a:rPr lang="en-GB" dirty="0">
                <a:solidFill>
                  <a:srgbClr val="002D5F"/>
                </a:solidFill>
              </a:rPr>
              <a:t>single</a:t>
            </a:r>
            <a:r>
              <a:rPr lang="en-GB" spc="-150" dirty="0">
                <a:solidFill>
                  <a:srgbClr val="002D5F"/>
                </a:solidFill>
              </a:rPr>
              <a:t> </a:t>
            </a:r>
            <a:r>
              <a:rPr lang="en-GB" spc="-20" dirty="0">
                <a:solidFill>
                  <a:srgbClr val="002D5F"/>
                </a:solidFill>
              </a:rPr>
              <a:t>website triggers</a:t>
            </a:r>
            <a:r>
              <a:rPr lang="en-GB" spc="-60" dirty="0">
                <a:solidFill>
                  <a:srgbClr val="002D5F"/>
                </a:solidFill>
              </a:rPr>
              <a:t> </a:t>
            </a:r>
            <a:r>
              <a:rPr lang="en-GB" dirty="0">
                <a:solidFill>
                  <a:srgbClr val="002D5F"/>
                </a:solidFill>
              </a:rPr>
              <a:t>a</a:t>
            </a:r>
            <a:r>
              <a:rPr lang="en-GB" spc="-10" dirty="0">
                <a:solidFill>
                  <a:srgbClr val="002D5F"/>
                </a:solidFill>
              </a:rPr>
              <a:t> </a:t>
            </a:r>
            <a:r>
              <a:rPr lang="en-GB" dirty="0">
                <a:solidFill>
                  <a:srgbClr val="002D5F"/>
                </a:solidFill>
              </a:rPr>
              <a:t>lot</a:t>
            </a:r>
            <a:r>
              <a:rPr lang="en-GB" spc="-70" dirty="0">
                <a:solidFill>
                  <a:srgbClr val="002D5F"/>
                </a:solidFill>
              </a:rPr>
              <a:t> </a:t>
            </a:r>
            <a:r>
              <a:rPr lang="en-GB" dirty="0">
                <a:solidFill>
                  <a:srgbClr val="002D5F"/>
                </a:solidFill>
              </a:rPr>
              <a:t>of</a:t>
            </a:r>
            <a:r>
              <a:rPr lang="en-GB" spc="-40" dirty="0">
                <a:solidFill>
                  <a:srgbClr val="002D5F"/>
                </a:solidFill>
              </a:rPr>
              <a:t> </a:t>
            </a:r>
            <a:r>
              <a:rPr lang="en-GB" spc="-20" dirty="0">
                <a:solidFill>
                  <a:srgbClr val="002D5F"/>
                </a:solidFill>
              </a:rPr>
              <a:t>requests.</a:t>
            </a:r>
          </a:p>
          <a:p>
            <a:pPr>
              <a:lnSpc>
                <a:spcPct val="100000"/>
              </a:lnSpc>
            </a:pPr>
            <a:br>
              <a:rPr lang="en-GB" sz="4800" b="0" spc="20" dirty="0">
                <a:solidFill>
                  <a:srgbClr val="002D5F"/>
                </a:solidFill>
              </a:rPr>
            </a:br>
            <a:r>
              <a:rPr lang="en-GB" sz="4800" b="0" dirty="0">
                <a:solidFill>
                  <a:srgbClr val="002D5F"/>
                </a:solidFill>
              </a:rPr>
              <a:t>If</a:t>
            </a:r>
            <a:r>
              <a:rPr lang="en-GB" sz="4800" b="0" spc="-160" dirty="0">
                <a:solidFill>
                  <a:srgbClr val="002D5F"/>
                </a:solidFill>
              </a:rPr>
              <a:t> </a:t>
            </a:r>
            <a:r>
              <a:rPr lang="en-GB" sz="4800" b="0" dirty="0">
                <a:solidFill>
                  <a:srgbClr val="002D5F"/>
                </a:solidFill>
              </a:rPr>
              <a:t>you</a:t>
            </a:r>
            <a:r>
              <a:rPr lang="en-GB" sz="4800" b="0" spc="-70" dirty="0">
                <a:solidFill>
                  <a:srgbClr val="002D5F"/>
                </a:solidFill>
              </a:rPr>
              <a:t> </a:t>
            </a:r>
            <a:r>
              <a:rPr lang="en-GB" sz="4800" b="0" dirty="0">
                <a:solidFill>
                  <a:srgbClr val="002D5F"/>
                </a:solidFill>
              </a:rPr>
              <a:t>hit</a:t>
            </a:r>
            <a:r>
              <a:rPr lang="en-GB" sz="4800" b="0" spc="-40" dirty="0">
                <a:solidFill>
                  <a:srgbClr val="002D5F"/>
                </a:solidFill>
              </a:rPr>
              <a:t> </a:t>
            </a:r>
            <a:r>
              <a:rPr lang="en-GB" sz="4800" b="0" dirty="0">
                <a:solidFill>
                  <a:srgbClr val="002D5F"/>
                </a:solidFill>
              </a:rPr>
              <a:t>F12</a:t>
            </a:r>
            <a:r>
              <a:rPr lang="en-GB" sz="4800" b="0" spc="-10" dirty="0">
                <a:solidFill>
                  <a:srgbClr val="002D5F"/>
                </a:solidFill>
              </a:rPr>
              <a:t> </a:t>
            </a:r>
            <a:r>
              <a:rPr lang="en-GB" sz="4800" b="0" dirty="0">
                <a:solidFill>
                  <a:srgbClr val="002D5F"/>
                </a:solidFill>
              </a:rPr>
              <a:t>in</a:t>
            </a:r>
            <a:r>
              <a:rPr lang="en-GB" sz="4800" b="0" spc="-70" dirty="0">
                <a:solidFill>
                  <a:srgbClr val="002D5F"/>
                </a:solidFill>
              </a:rPr>
              <a:t> </a:t>
            </a:r>
            <a:r>
              <a:rPr lang="en-GB" sz="4800" b="0" dirty="0">
                <a:solidFill>
                  <a:srgbClr val="002D5F"/>
                </a:solidFill>
              </a:rPr>
              <a:t>your</a:t>
            </a:r>
            <a:r>
              <a:rPr lang="en-GB" sz="4800" b="0" spc="-170" dirty="0">
                <a:solidFill>
                  <a:srgbClr val="002D5F"/>
                </a:solidFill>
              </a:rPr>
              <a:t> </a:t>
            </a:r>
            <a:r>
              <a:rPr lang="en-GB" sz="4800" b="0" dirty="0">
                <a:solidFill>
                  <a:srgbClr val="002D5F"/>
                </a:solidFill>
              </a:rPr>
              <a:t>browser</a:t>
            </a:r>
            <a:r>
              <a:rPr lang="en-GB" sz="4800" b="0" spc="-20" dirty="0">
                <a:solidFill>
                  <a:srgbClr val="002D5F"/>
                </a:solidFill>
              </a:rPr>
              <a:t> </a:t>
            </a:r>
            <a:r>
              <a:rPr lang="en-GB" sz="4800" b="0" dirty="0">
                <a:solidFill>
                  <a:srgbClr val="002D5F"/>
                </a:solidFill>
              </a:rPr>
              <a:t>and</a:t>
            </a:r>
            <a:r>
              <a:rPr lang="en-GB" sz="4800" b="0" spc="-60" dirty="0">
                <a:solidFill>
                  <a:srgbClr val="002D5F"/>
                </a:solidFill>
              </a:rPr>
              <a:t> </a:t>
            </a:r>
            <a:r>
              <a:rPr lang="en-GB" sz="4800" b="0" spc="-50" dirty="0">
                <a:solidFill>
                  <a:srgbClr val="002D5F"/>
                </a:solidFill>
              </a:rPr>
              <a:t>go </a:t>
            </a:r>
            <a:r>
              <a:rPr lang="en-GB" sz="4800" b="0" dirty="0">
                <a:solidFill>
                  <a:srgbClr val="002D5F"/>
                </a:solidFill>
              </a:rPr>
              <a:t>to</a:t>
            </a:r>
            <a:r>
              <a:rPr lang="en-GB" sz="4800" b="0" spc="-100" dirty="0">
                <a:solidFill>
                  <a:srgbClr val="002D5F"/>
                </a:solidFill>
              </a:rPr>
              <a:t> </a:t>
            </a:r>
            <a:r>
              <a:rPr lang="en-GB" sz="4800" b="0" dirty="0">
                <a:solidFill>
                  <a:srgbClr val="002D5F"/>
                </a:solidFill>
              </a:rPr>
              <a:t>the</a:t>
            </a:r>
            <a:r>
              <a:rPr lang="en-GB" sz="4800" b="0" spc="-120" dirty="0">
                <a:solidFill>
                  <a:srgbClr val="002D5F"/>
                </a:solidFill>
              </a:rPr>
              <a:t> </a:t>
            </a:r>
            <a:r>
              <a:rPr lang="en-GB" sz="4800" b="0" dirty="0">
                <a:solidFill>
                  <a:srgbClr val="002D5F"/>
                </a:solidFill>
              </a:rPr>
              <a:t>Network</a:t>
            </a:r>
            <a:r>
              <a:rPr lang="en-GB" sz="4800" b="0" spc="10" dirty="0">
                <a:solidFill>
                  <a:srgbClr val="002D5F"/>
                </a:solidFill>
              </a:rPr>
              <a:t> </a:t>
            </a:r>
            <a:r>
              <a:rPr lang="en-GB" sz="4800" b="0" dirty="0">
                <a:solidFill>
                  <a:srgbClr val="002D5F"/>
                </a:solidFill>
              </a:rPr>
              <a:t>tab,</a:t>
            </a:r>
            <a:r>
              <a:rPr lang="en-GB" sz="4800" b="0" spc="-130" dirty="0">
                <a:solidFill>
                  <a:srgbClr val="002D5F"/>
                </a:solidFill>
              </a:rPr>
              <a:t> </a:t>
            </a:r>
            <a:r>
              <a:rPr lang="en-GB" sz="4800" b="0" dirty="0">
                <a:solidFill>
                  <a:srgbClr val="002D5F"/>
                </a:solidFill>
              </a:rPr>
              <a:t>you</a:t>
            </a:r>
            <a:r>
              <a:rPr lang="en-GB" sz="4800" b="0" spc="60" dirty="0">
                <a:solidFill>
                  <a:srgbClr val="002D5F"/>
                </a:solidFill>
              </a:rPr>
              <a:t> </a:t>
            </a:r>
            <a:r>
              <a:rPr lang="en-GB" sz="4800" b="0" dirty="0">
                <a:solidFill>
                  <a:srgbClr val="002D5F"/>
                </a:solidFill>
              </a:rPr>
              <a:t>can</a:t>
            </a:r>
            <a:r>
              <a:rPr lang="en-GB" sz="4800" b="0" spc="-90" dirty="0">
                <a:solidFill>
                  <a:srgbClr val="002D5F"/>
                </a:solidFill>
              </a:rPr>
              <a:t> </a:t>
            </a:r>
            <a:r>
              <a:rPr lang="en-GB" sz="4800" b="0" dirty="0">
                <a:solidFill>
                  <a:srgbClr val="002D5F"/>
                </a:solidFill>
              </a:rPr>
              <a:t>see</a:t>
            </a:r>
            <a:r>
              <a:rPr lang="zh-TW" altLang="en-US" sz="4800" b="0" dirty="0">
                <a:solidFill>
                  <a:srgbClr val="002D5F"/>
                </a:solidFill>
              </a:rPr>
              <a:t> </a:t>
            </a:r>
            <a:r>
              <a:rPr lang="en-GB" sz="4800" b="0" spc="-20" dirty="0">
                <a:solidFill>
                  <a:srgbClr val="002D5F"/>
                </a:solidFill>
              </a:rPr>
              <a:t>them.</a:t>
            </a:r>
            <a:endParaRPr lang="en-US" dirty="0"/>
          </a:p>
        </p:txBody>
      </p:sp>
    </p:spTree>
    <p:extLst>
      <p:ext uri="{BB962C8B-B14F-4D97-AF65-F5344CB8AC3E}">
        <p14:creationId xmlns:p14="http://schemas.microsoft.com/office/powerpoint/2010/main" val="75407879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4">
            <a:extLst>
              <a:ext uri="{FF2B5EF4-FFF2-40B4-BE49-F238E27FC236}">
                <a16:creationId xmlns:a16="http://schemas.microsoft.com/office/drawing/2014/main" id="{C3522318-C996-DD74-E603-F89B20306B48}"/>
              </a:ext>
            </a:extLst>
          </p:cNvPr>
          <p:cNvSpPr txBox="1">
            <a:spLocks/>
          </p:cNvSpPr>
          <p:nvPr/>
        </p:nvSpPr>
        <p:spPr>
          <a:xfrm>
            <a:off x="1200251" y="1204188"/>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hangingPunct="1"/>
            <a:r>
              <a:rPr lang="en-GB" spc="-20" dirty="0"/>
              <a:t>Understanding the Web</a:t>
            </a:r>
            <a:endParaRPr lang="en-GB" dirty="0"/>
          </a:p>
        </p:txBody>
      </p:sp>
      <p:sp>
        <p:nvSpPr>
          <p:cNvPr id="12" name="object 3" descr="$PPTXTitle">
            <a:extLst>
              <a:ext uri="{FF2B5EF4-FFF2-40B4-BE49-F238E27FC236}">
                <a16:creationId xmlns:a16="http://schemas.microsoft.com/office/drawing/2014/main" id="{BED03461-0DC7-9344-6B65-CA3A9D7E8901}"/>
              </a:ext>
            </a:extLst>
          </p:cNvPr>
          <p:cNvSpPr txBox="1">
            <a:spLocks/>
          </p:cNvSpPr>
          <p:nvPr/>
        </p:nvSpPr>
        <p:spPr>
          <a:xfrm>
            <a:off x="1200251" y="2947298"/>
            <a:ext cx="21971000" cy="7643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marL="25400" hangingPunct="1">
              <a:lnSpc>
                <a:spcPct val="100000"/>
              </a:lnSpc>
              <a:spcBef>
                <a:spcPts val="200"/>
              </a:spcBef>
            </a:pPr>
            <a:r>
              <a:rPr lang="en-GB" sz="4800" dirty="0"/>
              <a:t>Different types of http(s) requests</a:t>
            </a:r>
          </a:p>
        </p:txBody>
      </p:sp>
      <p:graphicFrame>
        <p:nvGraphicFramePr>
          <p:cNvPr id="13" name="Table 12">
            <a:extLst>
              <a:ext uri="{FF2B5EF4-FFF2-40B4-BE49-F238E27FC236}">
                <a16:creationId xmlns:a16="http://schemas.microsoft.com/office/drawing/2014/main" id="{707C7A32-2F1F-1D4C-64F0-362EAEF65575}"/>
              </a:ext>
            </a:extLst>
          </p:cNvPr>
          <p:cNvGraphicFramePr>
            <a:graphicFrameLocks noGrp="1"/>
          </p:cNvGraphicFramePr>
          <p:nvPr>
            <p:extLst>
              <p:ext uri="{D42A27DB-BD31-4B8C-83A1-F6EECF244321}">
                <p14:modId xmlns:p14="http://schemas.microsoft.com/office/powerpoint/2010/main" val="1327683595"/>
              </p:ext>
            </p:extLst>
          </p:nvPr>
        </p:nvGraphicFramePr>
        <p:xfrm>
          <a:off x="1200250" y="4475745"/>
          <a:ext cx="15258949" cy="6906125"/>
        </p:xfrm>
        <a:graphic>
          <a:graphicData uri="http://schemas.openxmlformats.org/drawingml/2006/table">
            <a:tbl>
              <a:tblPr/>
              <a:tblGrid>
                <a:gridCol w="4290516">
                  <a:extLst>
                    <a:ext uri="{9D8B030D-6E8A-4147-A177-3AD203B41FA5}">
                      <a16:colId xmlns:a16="http://schemas.microsoft.com/office/drawing/2014/main" val="1428825806"/>
                    </a:ext>
                  </a:extLst>
                </a:gridCol>
                <a:gridCol w="10968433">
                  <a:extLst>
                    <a:ext uri="{9D8B030D-6E8A-4147-A177-3AD203B41FA5}">
                      <a16:colId xmlns:a16="http://schemas.microsoft.com/office/drawing/2014/main" val="358692903"/>
                    </a:ext>
                  </a:extLst>
                </a:gridCol>
              </a:tblGrid>
              <a:tr h="1381225">
                <a:tc>
                  <a:txBody>
                    <a:bodyPr/>
                    <a:lstStyle/>
                    <a:p>
                      <a:pPr>
                        <a:buNone/>
                      </a:pPr>
                      <a:r>
                        <a:rPr lang="en-GB" altLang="zh-TW" sz="4800" b="0" i="0" u="none" strike="noStrike" cap="none" spc="0" baseline="0" dirty="0">
                          <a:solidFill>
                            <a:schemeClr val="tx1"/>
                          </a:solidFill>
                          <a:uFillTx/>
                          <a:latin typeface="+mn-lt"/>
                          <a:ea typeface="+mn-ea"/>
                          <a:cs typeface="+mn-cs"/>
                          <a:sym typeface="Helvetica Neue"/>
                        </a:rPr>
                        <a:t>Request</a:t>
                      </a:r>
                      <a:endParaRPr lang="zh-TW" altLang="en-US" sz="4800" b="0" i="0" u="none" strike="noStrike" cap="none" spc="0" baseline="0" dirty="0">
                        <a:solidFill>
                          <a:schemeClr val="tx1"/>
                        </a:solidFill>
                        <a:uFillTx/>
                        <a:latin typeface="+mn-lt"/>
                        <a:ea typeface="+mn-ea"/>
                        <a:cs typeface="+mn-cs"/>
                        <a:sym typeface="Helvetica Neu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ltLang="zh-TW" sz="4800" b="0" i="0" u="none" strike="noStrike" cap="none" spc="0" baseline="0" dirty="0">
                          <a:solidFill>
                            <a:schemeClr val="tx1"/>
                          </a:solidFill>
                          <a:uFillTx/>
                          <a:latin typeface="+mn-lt"/>
                          <a:ea typeface="+mn-ea"/>
                          <a:cs typeface="+mn-cs"/>
                          <a:sym typeface="Helvetica Neue"/>
                        </a:rPr>
                        <a:t>Examples</a:t>
                      </a:r>
                      <a:endParaRPr lang="zh-TW" altLang="en-US" sz="4800" b="0" i="0" u="none" strike="noStrike" cap="none" spc="0" baseline="0" dirty="0">
                        <a:solidFill>
                          <a:schemeClr val="tx1"/>
                        </a:solidFill>
                        <a:uFillTx/>
                        <a:latin typeface="+mn-lt"/>
                        <a:ea typeface="+mn-ea"/>
                        <a:cs typeface="+mn-cs"/>
                        <a:sym typeface="Helvetica Neu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3863210"/>
                  </a:ext>
                </a:extLst>
              </a:tr>
              <a:tr h="1381225">
                <a:tc>
                  <a:txBody>
                    <a:bodyPr/>
                    <a:lstStyle/>
                    <a:p>
                      <a:pPr>
                        <a:buNone/>
                      </a:pPr>
                      <a:r>
                        <a:rPr lang="en-GB" sz="4800" b="0" i="0" u="none" strike="noStrike" cap="none" spc="0" baseline="0">
                          <a:solidFill>
                            <a:schemeClr val="tx1"/>
                          </a:solidFill>
                          <a:uFillTx/>
                          <a:latin typeface="+mn-lt"/>
                          <a:ea typeface="+mn-ea"/>
                          <a:cs typeface="+mn-cs"/>
                          <a:sym typeface="Helvetica Neue"/>
                        </a:rPr>
                        <a:t>GET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GB" altLang="zh-TW" sz="4800" b="0" i="0" u="none" strike="noStrike" cap="none" spc="0" baseline="0" dirty="0">
                          <a:solidFill>
                            <a:schemeClr val="tx1"/>
                          </a:solidFill>
                          <a:uFillTx/>
                          <a:latin typeface="+mn-lt"/>
                          <a:ea typeface="+mn-ea"/>
                          <a:cs typeface="+mn-cs"/>
                          <a:sym typeface="Helvetica Neue"/>
                        </a:rPr>
                        <a:t>Open a website, read the content</a:t>
                      </a:r>
                      <a:endParaRPr lang="zh-TW" altLang="en-US" sz="4800" b="0" i="0" u="none" strike="noStrike" cap="none" spc="0" baseline="0" dirty="0">
                        <a:solidFill>
                          <a:schemeClr val="tx1"/>
                        </a:solidFill>
                        <a:uFillTx/>
                        <a:latin typeface="+mn-lt"/>
                        <a:ea typeface="+mn-ea"/>
                        <a:cs typeface="+mn-cs"/>
                        <a:sym typeface="Helvetica Neu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6576023"/>
                  </a:ext>
                </a:extLst>
              </a:tr>
              <a:tr h="1381225">
                <a:tc>
                  <a:txBody>
                    <a:bodyPr/>
                    <a:lstStyle/>
                    <a:p>
                      <a:pPr>
                        <a:buNone/>
                      </a:pPr>
                      <a:r>
                        <a:rPr lang="en-GB" sz="4800" b="0" i="0" u="none" strike="noStrike" cap="none" spc="0" baseline="0" dirty="0">
                          <a:solidFill>
                            <a:schemeClr val="tx1"/>
                          </a:solidFill>
                          <a:uFillTx/>
                          <a:latin typeface="+mn-lt"/>
                          <a:ea typeface="+mn-ea"/>
                          <a:cs typeface="+mn-cs"/>
                          <a:sym typeface="Helvetica Neue"/>
                        </a:rPr>
                        <a:t>POST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GB" altLang="zh-TW" sz="4800" b="0" i="0" u="none" strike="noStrike" cap="none" spc="0" baseline="0" dirty="0">
                          <a:solidFill>
                            <a:schemeClr val="tx1"/>
                          </a:solidFill>
                          <a:uFillTx/>
                          <a:latin typeface="+mn-lt"/>
                          <a:ea typeface="+mn-ea"/>
                          <a:cs typeface="+mn-cs"/>
                          <a:sym typeface="Helvetica Neue"/>
                        </a:rPr>
                        <a:t>Submit a form, log into your account</a:t>
                      </a:r>
                      <a:endParaRPr lang="zh-TW" altLang="en-US" sz="4800" b="0" i="0" u="none" strike="noStrike" cap="none" spc="0" baseline="0" dirty="0">
                        <a:solidFill>
                          <a:schemeClr val="tx1"/>
                        </a:solidFill>
                        <a:uFillTx/>
                        <a:latin typeface="+mn-lt"/>
                        <a:ea typeface="+mn-ea"/>
                        <a:cs typeface="+mn-cs"/>
                        <a:sym typeface="Helvetica Neu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1050745"/>
                  </a:ext>
                </a:extLst>
              </a:tr>
              <a:tr h="1381225">
                <a:tc>
                  <a:txBody>
                    <a:bodyPr/>
                    <a:lstStyle/>
                    <a:p>
                      <a:pPr>
                        <a:buNone/>
                      </a:pPr>
                      <a:r>
                        <a:rPr lang="en-GB" sz="4800" b="0" i="0" u="none" strike="noStrike" cap="none" spc="0" baseline="0">
                          <a:solidFill>
                            <a:schemeClr val="tx1"/>
                          </a:solidFill>
                          <a:uFillTx/>
                          <a:latin typeface="+mn-lt"/>
                          <a:ea typeface="+mn-ea"/>
                          <a:cs typeface="+mn-cs"/>
                          <a:sym typeface="Helvetica Neue"/>
                        </a:rPr>
                        <a: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GB" altLang="zh-TW" sz="4800" b="0" i="0" u="none" strike="noStrike" cap="none" spc="0" baseline="0" dirty="0">
                          <a:solidFill>
                            <a:schemeClr val="tx1"/>
                          </a:solidFill>
                          <a:uFillTx/>
                          <a:latin typeface="+mn-lt"/>
                          <a:ea typeface="+mn-ea"/>
                          <a:cs typeface="+mn-cs"/>
                          <a:sym typeface="Helvetica Neue"/>
                        </a:rPr>
                        <a:t>Update data/record</a:t>
                      </a:r>
                      <a:endParaRPr lang="zh-TW" altLang="en-US" sz="4800" b="0" i="0" u="none" strike="noStrike" cap="none" spc="0" baseline="0" dirty="0">
                        <a:solidFill>
                          <a:schemeClr val="tx1"/>
                        </a:solidFill>
                        <a:uFillTx/>
                        <a:latin typeface="+mn-lt"/>
                        <a:ea typeface="+mn-ea"/>
                        <a:cs typeface="+mn-cs"/>
                        <a:sym typeface="Helvetica Neu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1148250"/>
                  </a:ext>
                </a:extLst>
              </a:tr>
              <a:tr h="1381225">
                <a:tc>
                  <a:txBody>
                    <a:bodyPr/>
                    <a:lstStyle/>
                    <a:p>
                      <a:pPr>
                        <a:buNone/>
                      </a:pPr>
                      <a:r>
                        <a:rPr lang="en-GB" sz="4800" b="0" i="0" u="none" strike="noStrike" cap="none" spc="0" baseline="0">
                          <a:solidFill>
                            <a:schemeClr val="tx1"/>
                          </a:solidFill>
                          <a:uFillTx/>
                          <a:latin typeface="+mn-lt"/>
                          <a:ea typeface="+mn-ea"/>
                          <a:cs typeface="+mn-cs"/>
                          <a:sym typeface="Helvetica Neue"/>
                        </a:rPr>
                        <a:t>DELETE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GB" altLang="zh-TW" sz="4800" b="0" i="0" u="none" strike="noStrike" cap="none" spc="0" baseline="0" dirty="0">
                          <a:solidFill>
                            <a:schemeClr val="tx1"/>
                          </a:solidFill>
                          <a:uFillTx/>
                          <a:latin typeface="+mn-lt"/>
                          <a:ea typeface="+mn-ea"/>
                          <a:cs typeface="+mn-cs"/>
                          <a:sym typeface="Helvetica Neue"/>
                        </a:rPr>
                        <a:t>Delete data record</a:t>
                      </a:r>
                      <a:endParaRPr lang="zh-TW" altLang="en-US" sz="4800" b="0" i="0" u="none" strike="noStrike" cap="none" spc="0" baseline="0" dirty="0">
                        <a:solidFill>
                          <a:schemeClr val="tx1"/>
                        </a:solidFill>
                        <a:uFillTx/>
                        <a:latin typeface="+mn-lt"/>
                        <a:ea typeface="+mn-ea"/>
                        <a:cs typeface="+mn-cs"/>
                        <a:sym typeface="Helvetica Neu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6927"/>
                  </a:ext>
                </a:extLst>
              </a:tr>
            </a:tbl>
          </a:graphicData>
        </a:graphic>
      </p:graphicFrame>
      <p:sp>
        <p:nvSpPr>
          <p:cNvPr id="15" name="object 7">
            <a:extLst>
              <a:ext uri="{FF2B5EF4-FFF2-40B4-BE49-F238E27FC236}">
                <a16:creationId xmlns:a16="http://schemas.microsoft.com/office/drawing/2014/main" id="{13D8721A-2385-401F-9E43-75C7765A64E0}"/>
              </a:ext>
            </a:extLst>
          </p:cNvPr>
          <p:cNvSpPr txBox="1"/>
          <p:nvPr/>
        </p:nvSpPr>
        <p:spPr>
          <a:xfrm>
            <a:off x="1200250" y="11952508"/>
            <a:ext cx="21707876" cy="772006"/>
          </a:xfrm>
          <a:prstGeom prst="rect">
            <a:avLst/>
          </a:prstGeom>
        </p:spPr>
        <p:txBody>
          <a:bodyPr vert="horz" wrap="square" lIns="0" tIns="33020" rIns="0" bIns="0" rtlCol="0">
            <a:spAutoFit/>
          </a:bodyPr>
          <a:lstStyle/>
          <a:p>
            <a:pPr marL="25400">
              <a:lnSpc>
                <a:spcPct val="100000"/>
              </a:lnSpc>
              <a:spcBef>
                <a:spcPts val="260"/>
              </a:spcBef>
            </a:pPr>
            <a:r>
              <a:rPr lang="en-GB" dirty="0">
                <a:solidFill>
                  <a:srgbClr val="002D5F"/>
                </a:solidFill>
                <a:latin typeface="Calibri"/>
                <a:cs typeface="Calibri"/>
              </a:rPr>
              <a:t>Web-scraping is mostly done using </a:t>
            </a:r>
            <a:r>
              <a:rPr spc="-40" dirty="0">
                <a:solidFill>
                  <a:srgbClr val="C00000"/>
                </a:solidFill>
                <a:latin typeface="Calibri"/>
                <a:cs typeface="Calibri"/>
              </a:rPr>
              <a:t>GET</a:t>
            </a:r>
            <a:r>
              <a:rPr lang="en-GB" spc="-40" dirty="0">
                <a:solidFill>
                  <a:srgbClr val="002D5F"/>
                </a:solidFill>
                <a:latin typeface="Calibri"/>
                <a:cs typeface="Calibri"/>
              </a:rPr>
              <a:t> requests</a:t>
            </a:r>
            <a:endParaRPr dirty="0">
              <a:latin typeface="Calibri"/>
              <a:cs typeface="Calibri"/>
            </a:endParaRPr>
          </a:p>
        </p:txBody>
      </p:sp>
      <p:pic>
        <p:nvPicPr>
          <p:cNvPr id="17" name="object 4">
            <a:extLst>
              <a:ext uri="{FF2B5EF4-FFF2-40B4-BE49-F238E27FC236}">
                <a16:creationId xmlns:a16="http://schemas.microsoft.com/office/drawing/2014/main" id="{B32B9D31-0173-72A9-774B-89D31A3967B8}"/>
              </a:ext>
            </a:extLst>
          </p:cNvPr>
          <p:cNvPicPr/>
          <p:nvPr/>
        </p:nvPicPr>
        <p:blipFill>
          <a:blip r:embed="rId2" cstate="print"/>
          <a:stretch>
            <a:fillRect/>
          </a:stretch>
        </p:blipFill>
        <p:spPr>
          <a:xfrm>
            <a:off x="16736835" y="4644187"/>
            <a:ext cx="7259221" cy="6458992"/>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4">
            <a:extLst>
              <a:ext uri="{FF2B5EF4-FFF2-40B4-BE49-F238E27FC236}">
                <a16:creationId xmlns:a16="http://schemas.microsoft.com/office/drawing/2014/main" id="{133E068D-2B2C-D7D1-BFEB-B2217F5CF345}"/>
              </a:ext>
            </a:extLst>
          </p:cNvPr>
          <p:cNvSpPr>
            <a:spLocks noGrp="1"/>
          </p:cNvSpPr>
          <p:nvPr>
            <p:ph type="title"/>
          </p:nvPr>
        </p:nvSpPr>
        <p:spPr/>
        <p:txBody>
          <a:bodyPr>
            <a:normAutofit/>
          </a:bodyPr>
          <a:lstStyle/>
          <a:p>
            <a:pPr hangingPunct="1"/>
            <a:r>
              <a:rPr lang="en-GB" spc="-20" dirty="0"/>
              <a:t>Understanding the Web</a:t>
            </a:r>
            <a:endParaRPr lang="en-GB" dirty="0"/>
          </a:p>
        </p:txBody>
      </p:sp>
      <p:sp>
        <p:nvSpPr>
          <p:cNvPr id="10" name="object 7">
            <a:extLst>
              <a:ext uri="{FF2B5EF4-FFF2-40B4-BE49-F238E27FC236}">
                <a16:creationId xmlns:a16="http://schemas.microsoft.com/office/drawing/2014/main" id="{931CD8DB-B44A-A4EE-2C11-EADAE321E971}"/>
              </a:ext>
            </a:extLst>
          </p:cNvPr>
          <p:cNvSpPr txBox="1"/>
          <p:nvPr/>
        </p:nvSpPr>
        <p:spPr>
          <a:xfrm>
            <a:off x="1288288" y="2518331"/>
            <a:ext cx="22269543" cy="772006"/>
          </a:xfrm>
          <a:prstGeom prst="rect">
            <a:avLst/>
          </a:prstGeom>
        </p:spPr>
        <p:txBody>
          <a:bodyPr vert="horz" wrap="square" lIns="0" tIns="33020" rIns="0" bIns="0" rtlCol="0">
            <a:spAutoFit/>
          </a:bodyPr>
          <a:lstStyle/>
          <a:p>
            <a:pPr marL="25400" marR="2106930">
              <a:lnSpc>
                <a:spcPct val="100000"/>
              </a:lnSpc>
              <a:spcBef>
                <a:spcPts val="250"/>
              </a:spcBef>
            </a:pPr>
            <a:r>
              <a:rPr lang="en-GB" dirty="0">
                <a:solidFill>
                  <a:srgbClr val="002D5F"/>
                </a:solidFill>
                <a:cs typeface="Calibri"/>
              </a:rPr>
              <a:t>After receiving a request, server</a:t>
            </a:r>
            <a:r>
              <a:rPr lang="en-GB" spc="-80" dirty="0">
                <a:solidFill>
                  <a:srgbClr val="002D5F"/>
                </a:solidFill>
                <a:cs typeface="Calibri"/>
              </a:rPr>
              <a:t> </a:t>
            </a:r>
            <a:r>
              <a:rPr lang="en-GB" dirty="0">
                <a:solidFill>
                  <a:srgbClr val="002D5F"/>
                </a:solidFill>
                <a:cs typeface="Calibri"/>
              </a:rPr>
              <a:t>sends</a:t>
            </a:r>
            <a:r>
              <a:rPr lang="en-GB" spc="-80" dirty="0">
                <a:solidFill>
                  <a:srgbClr val="002D5F"/>
                </a:solidFill>
                <a:cs typeface="Calibri"/>
              </a:rPr>
              <a:t> </a:t>
            </a:r>
            <a:r>
              <a:rPr lang="en-GB" spc="-40" dirty="0">
                <a:solidFill>
                  <a:srgbClr val="002D5F"/>
                </a:solidFill>
                <a:cs typeface="Calibri"/>
              </a:rPr>
              <a:t>back </a:t>
            </a:r>
            <a:r>
              <a:rPr lang="en-GB" dirty="0">
                <a:solidFill>
                  <a:srgbClr val="002D5F"/>
                </a:solidFill>
                <a:cs typeface="Calibri"/>
              </a:rPr>
              <a:t>a</a:t>
            </a:r>
            <a:r>
              <a:rPr lang="en-GB" spc="-80" dirty="0">
                <a:solidFill>
                  <a:srgbClr val="002D5F"/>
                </a:solidFill>
                <a:cs typeface="Calibri"/>
              </a:rPr>
              <a:t> </a:t>
            </a:r>
            <a:r>
              <a:rPr lang="en-GB" b="1" dirty="0">
                <a:solidFill>
                  <a:srgbClr val="C00000"/>
                </a:solidFill>
                <a:cs typeface="Calibri"/>
              </a:rPr>
              <a:t>response</a:t>
            </a:r>
            <a:r>
              <a:rPr lang="en-GB" b="1" dirty="0">
                <a:solidFill>
                  <a:srgbClr val="002D5F"/>
                </a:solidFill>
                <a:cs typeface="Calibri"/>
              </a:rPr>
              <a:t>. </a:t>
            </a:r>
          </a:p>
        </p:txBody>
      </p:sp>
      <p:pic>
        <p:nvPicPr>
          <p:cNvPr id="16" name="Picture 15">
            <a:extLst>
              <a:ext uri="{FF2B5EF4-FFF2-40B4-BE49-F238E27FC236}">
                <a16:creationId xmlns:a16="http://schemas.microsoft.com/office/drawing/2014/main" id="{E7489104-8652-BDFE-2BD0-DC48A1D9419E}"/>
              </a:ext>
            </a:extLst>
          </p:cNvPr>
          <p:cNvPicPr>
            <a:picLocks noChangeAspect="1"/>
          </p:cNvPicPr>
          <p:nvPr/>
        </p:nvPicPr>
        <p:blipFill>
          <a:blip r:embed="rId2"/>
          <a:stretch>
            <a:fillRect/>
          </a:stretch>
        </p:blipFill>
        <p:spPr>
          <a:xfrm>
            <a:off x="1200251" y="3681272"/>
            <a:ext cx="15035463" cy="9404496"/>
          </a:xfrm>
          <a:prstGeom prst="rect">
            <a:avLst/>
          </a:prstGeom>
        </p:spPr>
      </p:pic>
      <p:sp>
        <p:nvSpPr>
          <p:cNvPr id="20" name="TextBox 19">
            <a:extLst>
              <a:ext uri="{FF2B5EF4-FFF2-40B4-BE49-F238E27FC236}">
                <a16:creationId xmlns:a16="http://schemas.microsoft.com/office/drawing/2014/main" id="{4F657E0F-0004-C91E-BEC7-BB381AD7BF51}"/>
              </a:ext>
            </a:extLst>
          </p:cNvPr>
          <p:cNvSpPr txBox="1"/>
          <p:nvPr/>
        </p:nvSpPr>
        <p:spPr>
          <a:xfrm>
            <a:off x="17047391" y="3681272"/>
            <a:ext cx="7336610" cy="98411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72000" marR="2106930">
              <a:lnSpc>
                <a:spcPct val="100000"/>
              </a:lnSpc>
              <a:spcBef>
                <a:spcPts val="250"/>
              </a:spcBef>
            </a:pPr>
            <a:endParaRPr lang="en-GB" sz="4400" b="1" spc="-20" dirty="0">
              <a:solidFill>
                <a:srgbClr val="C00000"/>
              </a:solidFill>
              <a:cs typeface="Calibri"/>
            </a:endParaRPr>
          </a:p>
          <a:p>
            <a:pPr marL="72000" marR="2106930">
              <a:lnSpc>
                <a:spcPct val="100000"/>
              </a:lnSpc>
              <a:spcBef>
                <a:spcPts val="250"/>
              </a:spcBef>
            </a:pPr>
            <a:endParaRPr lang="en-GB" sz="4400" b="1" spc="-20" dirty="0">
              <a:solidFill>
                <a:srgbClr val="C00000"/>
              </a:solidFill>
              <a:cs typeface="Calibri"/>
            </a:endParaRPr>
          </a:p>
          <a:p>
            <a:pPr marL="72000" marR="2106930">
              <a:lnSpc>
                <a:spcPct val="100000"/>
              </a:lnSpc>
              <a:spcBef>
                <a:spcPts val="250"/>
              </a:spcBef>
            </a:pPr>
            <a:r>
              <a:rPr lang="en-GB" sz="4400" b="1" spc="-20" dirty="0">
                <a:solidFill>
                  <a:srgbClr val="C00000"/>
                </a:solidFill>
                <a:cs typeface="Calibri"/>
              </a:rPr>
              <a:t>Headers</a:t>
            </a:r>
            <a:endParaRPr lang="en-GB" sz="4400" b="1" spc="-20" dirty="0">
              <a:solidFill>
                <a:srgbClr val="002D5F"/>
              </a:solidFill>
              <a:cs typeface="Calibri"/>
            </a:endParaRPr>
          </a:p>
          <a:p>
            <a:pPr marL="72000" marR="2106930">
              <a:lnSpc>
                <a:spcPct val="100000"/>
              </a:lnSpc>
              <a:spcBef>
                <a:spcPts val="250"/>
              </a:spcBef>
            </a:pPr>
            <a:r>
              <a:rPr lang="en-GB" sz="4400" dirty="0">
                <a:solidFill>
                  <a:srgbClr val="002D5F"/>
                </a:solidFill>
                <a:cs typeface="Calibri"/>
              </a:rPr>
              <a:t>Provides information of the requested data</a:t>
            </a:r>
          </a:p>
          <a:p>
            <a:pPr marL="72000" marR="10160">
              <a:lnSpc>
                <a:spcPct val="100000"/>
              </a:lnSpc>
              <a:spcBef>
                <a:spcPts val="250"/>
              </a:spcBef>
            </a:pPr>
            <a:r>
              <a:rPr lang="en-GB" sz="4400" dirty="0">
                <a:solidFill>
                  <a:srgbClr val="002D5F"/>
                </a:solidFill>
                <a:cs typeface="Calibri"/>
              </a:rPr>
              <a:t>These includes the type, size, address etc.</a:t>
            </a:r>
            <a:endParaRPr lang="en-GB" sz="4400" dirty="0">
              <a:solidFill>
                <a:srgbClr val="C00000"/>
              </a:solidFill>
              <a:cs typeface="Calibri"/>
            </a:endParaRPr>
          </a:p>
          <a:p>
            <a:pPr marL="72000" marR="10160">
              <a:lnSpc>
                <a:spcPct val="100000"/>
              </a:lnSpc>
              <a:spcBef>
                <a:spcPts val="250"/>
              </a:spcBef>
            </a:pPr>
            <a:endParaRPr lang="en-GB" sz="4400" b="1" dirty="0">
              <a:solidFill>
                <a:srgbClr val="C00000"/>
              </a:solidFill>
              <a:cs typeface="Calibri"/>
            </a:endParaRPr>
          </a:p>
          <a:p>
            <a:pPr marL="72000" marR="10160">
              <a:lnSpc>
                <a:spcPct val="100000"/>
              </a:lnSpc>
              <a:spcBef>
                <a:spcPts val="250"/>
              </a:spcBef>
            </a:pPr>
            <a:r>
              <a:rPr lang="en-GB" sz="4400" b="1" dirty="0">
                <a:solidFill>
                  <a:srgbClr val="C00000"/>
                </a:solidFill>
                <a:cs typeface="Calibri"/>
              </a:rPr>
              <a:t>Status</a:t>
            </a:r>
            <a:r>
              <a:rPr lang="en-GB" sz="4400" b="1" spc="-220" dirty="0">
                <a:solidFill>
                  <a:srgbClr val="C00000"/>
                </a:solidFill>
                <a:cs typeface="Calibri"/>
              </a:rPr>
              <a:t> </a:t>
            </a:r>
            <a:r>
              <a:rPr lang="en-GB" sz="4400" b="1" spc="-40" dirty="0">
                <a:solidFill>
                  <a:srgbClr val="C00000"/>
                </a:solidFill>
                <a:cs typeface="Calibri"/>
              </a:rPr>
              <a:t>code</a:t>
            </a:r>
            <a:br>
              <a:rPr lang="en-GB" sz="4400" b="1" spc="-40" dirty="0">
                <a:solidFill>
                  <a:srgbClr val="C00000"/>
                </a:solidFill>
                <a:cs typeface="Calibri"/>
              </a:rPr>
            </a:br>
            <a:r>
              <a:rPr lang="en-GB" sz="4400" spc="-40" dirty="0">
                <a:solidFill>
                  <a:srgbClr val="002D5F"/>
                </a:solidFill>
                <a:cs typeface="Calibri"/>
              </a:rPr>
              <a:t>T</a:t>
            </a:r>
            <a:r>
              <a:rPr lang="en-GB" sz="4400" dirty="0">
                <a:solidFill>
                  <a:srgbClr val="002D5F"/>
                </a:solidFill>
                <a:cs typeface="Calibri"/>
              </a:rPr>
              <a:t>ells you the status of the response. (if the request was successful or not)</a:t>
            </a:r>
          </a:p>
          <a:p>
            <a:pPr marL="72000" marR="10160">
              <a:lnSpc>
                <a:spcPct val="100000"/>
              </a:lnSpc>
              <a:spcBef>
                <a:spcPts val="250"/>
              </a:spcBef>
            </a:pPr>
            <a:endParaRPr lang="en-GB" sz="4400" dirty="0">
              <a:cs typeface="Calibri"/>
            </a:endParaRPr>
          </a:p>
        </p:txBody>
      </p:sp>
      <p:grpSp>
        <p:nvGrpSpPr>
          <p:cNvPr id="28" name="Group 27">
            <a:extLst>
              <a:ext uri="{FF2B5EF4-FFF2-40B4-BE49-F238E27FC236}">
                <a16:creationId xmlns:a16="http://schemas.microsoft.com/office/drawing/2014/main" id="{293D18C2-ACE0-22A5-FCF7-7ECABDEAF0A4}"/>
              </a:ext>
            </a:extLst>
          </p:cNvPr>
          <p:cNvGrpSpPr/>
          <p:nvPr/>
        </p:nvGrpSpPr>
        <p:grpSpPr>
          <a:xfrm>
            <a:off x="4805715" y="4334258"/>
            <a:ext cx="12061976" cy="8798318"/>
            <a:chOff x="4805714" y="4287450"/>
            <a:chExt cx="12061976" cy="8798318"/>
          </a:xfrm>
        </p:grpSpPr>
        <p:sp>
          <p:nvSpPr>
            <p:cNvPr id="22" name="Right Arrow 21">
              <a:extLst>
                <a:ext uri="{FF2B5EF4-FFF2-40B4-BE49-F238E27FC236}">
                  <a16:creationId xmlns:a16="http://schemas.microsoft.com/office/drawing/2014/main" id="{19501AA0-C5AC-2AA7-EBBB-0E8C78C89308}"/>
                </a:ext>
              </a:extLst>
            </p:cNvPr>
            <p:cNvSpPr/>
            <p:nvPr/>
          </p:nvSpPr>
          <p:spPr>
            <a:xfrm>
              <a:off x="16235714" y="5101389"/>
              <a:ext cx="631976" cy="634059"/>
            </a:xfrm>
            <a:prstGeom prst="rightArrow">
              <a:avLst/>
            </a:prstGeom>
            <a:solidFill>
              <a:srgbClr val="C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3" name="Frame 22">
              <a:extLst>
                <a:ext uri="{FF2B5EF4-FFF2-40B4-BE49-F238E27FC236}">
                  <a16:creationId xmlns:a16="http://schemas.microsoft.com/office/drawing/2014/main" id="{2D0ED1EC-03AA-35A2-B9F0-283CA465F486}"/>
                </a:ext>
              </a:extLst>
            </p:cNvPr>
            <p:cNvSpPr/>
            <p:nvPr/>
          </p:nvSpPr>
          <p:spPr>
            <a:xfrm>
              <a:off x="4805714" y="4287450"/>
              <a:ext cx="11430000" cy="8798318"/>
            </a:xfrm>
            <a:prstGeom prst="frame">
              <a:avLst>
                <a:gd name="adj1" fmla="val 1834"/>
              </a:avLst>
            </a:prstGeom>
            <a:solidFill>
              <a:srgbClr val="C00000"/>
            </a:solidFill>
            <a:ln w="12700"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grpSp>
      <p:grpSp>
        <p:nvGrpSpPr>
          <p:cNvPr id="27" name="Group 26">
            <a:extLst>
              <a:ext uri="{FF2B5EF4-FFF2-40B4-BE49-F238E27FC236}">
                <a16:creationId xmlns:a16="http://schemas.microsoft.com/office/drawing/2014/main" id="{B7736B38-6522-259E-8AE3-6A5F45901478}"/>
              </a:ext>
            </a:extLst>
          </p:cNvPr>
          <p:cNvGrpSpPr/>
          <p:nvPr/>
        </p:nvGrpSpPr>
        <p:grpSpPr>
          <a:xfrm>
            <a:off x="8397460" y="5735448"/>
            <a:ext cx="9030582" cy="2797452"/>
            <a:chOff x="8397460" y="5735448"/>
            <a:chExt cx="9030582" cy="2797452"/>
          </a:xfrm>
        </p:grpSpPr>
        <p:sp>
          <p:nvSpPr>
            <p:cNvPr id="25" name="Right Arrow 24">
              <a:extLst>
                <a:ext uri="{FF2B5EF4-FFF2-40B4-BE49-F238E27FC236}">
                  <a16:creationId xmlns:a16="http://schemas.microsoft.com/office/drawing/2014/main" id="{0268AD79-A2B6-DF8C-8E2B-69A4BDCF6347}"/>
                </a:ext>
              </a:extLst>
            </p:cNvPr>
            <p:cNvSpPr/>
            <p:nvPr/>
          </p:nvSpPr>
          <p:spPr>
            <a:xfrm rot="2396328">
              <a:off x="11277227" y="8043635"/>
              <a:ext cx="6150815" cy="489265"/>
            </a:xfrm>
            <a:prstGeom prst="rightArrow">
              <a:avLst/>
            </a:prstGeom>
            <a:solidFill>
              <a:srgbClr val="00B05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6" name="Frame 25">
              <a:extLst>
                <a:ext uri="{FF2B5EF4-FFF2-40B4-BE49-F238E27FC236}">
                  <a16:creationId xmlns:a16="http://schemas.microsoft.com/office/drawing/2014/main" id="{650AB3D6-CB30-15EE-00FC-85A0CF2ECE2B}"/>
                </a:ext>
              </a:extLst>
            </p:cNvPr>
            <p:cNvSpPr/>
            <p:nvPr/>
          </p:nvSpPr>
          <p:spPr>
            <a:xfrm>
              <a:off x="8397460" y="5735448"/>
              <a:ext cx="4000954" cy="881920"/>
            </a:xfrm>
            <a:prstGeom prst="frame">
              <a:avLst>
                <a:gd name="adj1" fmla="val 19966"/>
              </a:avLst>
            </a:prstGeom>
            <a:solidFill>
              <a:srgbClr val="00B050"/>
            </a:solidFill>
            <a:ln w="12700" cap="flat">
              <a:solidFill>
                <a:srgbClr val="C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8C2C9-3A70-35DC-4115-2322802D4B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324F99E-8064-A409-3686-A396E447C8F0}"/>
              </a:ext>
            </a:extLst>
          </p:cNvPr>
          <p:cNvSpPr txBox="1"/>
          <p:nvPr/>
        </p:nvSpPr>
        <p:spPr>
          <a:xfrm>
            <a:off x="1627876" y="9018454"/>
            <a:ext cx="8413750" cy="462947"/>
          </a:xfrm>
          <a:prstGeom prst="rect">
            <a:avLst/>
          </a:prstGeom>
        </p:spPr>
        <p:txBody>
          <a:bodyPr vert="horz" wrap="square" lIns="0" tIns="31750" rIns="0" bIns="0" rtlCol="0">
            <a:spAutoFit/>
          </a:bodyPr>
          <a:lstStyle/>
          <a:p>
            <a:pPr marL="25400">
              <a:lnSpc>
                <a:spcPct val="100000"/>
              </a:lnSpc>
              <a:spcBef>
                <a:spcPts val="250"/>
              </a:spcBef>
            </a:pPr>
            <a:r>
              <a:rPr sz="2800" spc="-20" dirty="0">
                <a:latin typeface="Calibri"/>
                <a:cs typeface="Calibri"/>
                <a:hlinkClick r:id="rId2"/>
              </a:rPr>
              <a:t>https://en.wikipedia.org/wiki/List_of_HTTP_status_codes</a:t>
            </a:r>
            <a:endParaRPr sz="2800" dirty="0">
              <a:latin typeface="Calibri"/>
              <a:cs typeface="Calibri"/>
            </a:endParaRPr>
          </a:p>
        </p:txBody>
      </p:sp>
      <p:sp>
        <p:nvSpPr>
          <p:cNvPr id="5" name="object 5">
            <a:extLst>
              <a:ext uri="{FF2B5EF4-FFF2-40B4-BE49-F238E27FC236}">
                <a16:creationId xmlns:a16="http://schemas.microsoft.com/office/drawing/2014/main" id="{5BAD2598-31A8-D822-2A04-E6540CA2183F}"/>
              </a:ext>
            </a:extLst>
          </p:cNvPr>
          <p:cNvSpPr txBox="1"/>
          <p:nvPr/>
        </p:nvSpPr>
        <p:spPr>
          <a:xfrm>
            <a:off x="1200251" y="10202150"/>
            <a:ext cx="20459700" cy="2585964"/>
          </a:xfrm>
          <a:prstGeom prst="rect">
            <a:avLst/>
          </a:prstGeom>
        </p:spPr>
        <p:txBody>
          <a:bodyPr vert="horz" wrap="square" lIns="0" tIns="12700" rIns="0" bIns="0" rtlCol="0">
            <a:spAutoFit/>
          </a:bodyPr>
          <a:lstStyle/>
          <a:p>
            <a:pPr marL="25400" marR="10160">
              <a:lnSpc>
                <a:spcPct val="102400"/>
              </a:lnSpc>
              <a:spcBef>
                <a:spcPts val="100"/>
              </a:spcBef>
            </a:pPr>
            <a:r>
              <a:rPr sz="5500" dirty="0">
                <a:solidFill>
                  <a:schemeClr val="tx1"/>
                </a:solidFill>
                <a:cs typeface="Calibri"/>
              </a:rPr>
              <a:t>If</a:t>
            </a:r>
            <a:r>
              <a:rPr sz="5500" spc="100" dirty="0">
                <a:solidFill>
                  <a:schemeClr val="tx1"/>
                </a:solidFill>
                <a:cs typeface="Calibri"/>
              </a:rPr>
              <a:t> </a:t>
            </a:r>
            <a:r>
              <a:rPr sz="5500" dirty="0">
                <a:solidFill>
                  <a:schemeClr val="tx1"/>
                </a:solidFill>
                <a:cs typeface="Calibri"/>
              </a:rPr>
              <a:t>the</a:t>
            </a:r>
            <a:r>
              <a:rPr sz="5500" spc="70" dirty="0">
                <a:solidFill>
                  <a:schemeClr val="tx1"/>
                </a:solidFill>
                <a:cs typeface="Calibri"/>
              </a:rPr>
              <a:t> </a:t>
            </a:r>
            <a:r>
              <a:rPr sz="5500" dirty="0">
                <a:solidFill>
                  <a:schemeClr val="tx1"/>
                </a:solidFill>
                <a:cs typeface="Calibri"/>
              </a:rPr>
              <a:t>status</a:t>
            </a:r>
            <a:r>
              <a:rPr sz="5500" spc="80" dirty="0">
                <a:solidFill>
                  <a:schemeClr val="tx1"/>
                </a:solidFill>
                <a:cs typeface="Calibri"/>
              </a:rPr>
              <a:t> </a:t>
            </a:r>
            <a:r>
              <a:rPr sz="5500" dirty="0">
                <a:solidFill>
                  <a:schemeClr val="tx1"/>
                </a:solidFill>
                <a:cs typeface="Calibri"/>
              </a:rPr>
              <a:t>code</a:t>
            </a:r>
            <a:r>
              <a:rPr sz="5500" spc="80" dirty="0">
                <a:solidFill>
                  <a:schemeClr val="tx1"/>
                </a:solidFill>
                <a:cs typeface="Calibri"/>
              </a:rPr>
              <a:t> </a:t>
            </a:r>
            <a:r>
              <a:rPr sz="5500" dirty="0">
                <a:solidFill>
                  <a:schemeClr val="tx1"/>
                </a:solidFill>
                <a:cs typeface="Calibri"/>
              </a:rPr>
              <a:t>is</a:t>
            </a:r>
            <a:r>
              <a:rPr sz="5500" spc="30" dirty="0">
                <a:solidFill>
                  <a:schemeClr val="tx1"/>
                </a:solidFill>
                <a:cs typeface="Calibri"/>
              </a:rPr>
              <a:t> </a:t>
            </a:r>
            <a:r>
              <a:rPr sz="5500" b="1" dirty="0">
                <a:solidFill>
                  <a:schemeClr val="tx1"/>
                </a:solidFill>
                <a:cs typeface="Calibri"/>
              </a:rPr>
              <a:t>200</a:t>
            </a:r>
            <a:r>
              <a:rPr lang="en-GB" sz="5500" b="1" dirty="0">
                <a:solidFill>
                  <a:schemeClr val="tx1"/>
                </a:solidFill>
                <a:cs typeface="Calibri"/>
              </a:rPr>
              <a:t> OK</a:t>
            </a:r>
            <a:r>
              <a:rPr lang="en-GB" sz="5500" b="1" spc="170" dirty="0">
                <a:solidFill>
                  <a:schemeClr val="tx1"/>
                </a:solidFill>
                <a:cs typeface="Calibri"/>
              </a:rPr>
              <a:t>, </a:t>
            </a:r>
            <a:r>
              <a:rPr sz="5500" dirty="0">
                <a:solidFill>
                  <a:schemeClr val="tx1"/>
                </a:solidFill>
                <a:cs typeface="Calibri"/>
              </a:rPr>
              <a:t>you’re</a:t>
            </a:r>
            <a:r>
              <a:rPr sz="5500" spc="90" dirty="0">
                <a:solidFill>
                  <a:schemeClr val="tx1"/>
                </a:solidFill>
                <a:cs typeface="Calibri"/>
              </a:rPr>
              <a:t> </a:t>
            </a:r>
            <a:r>
              <a:rPr sz="5500" dirty="0">
                <a:solidFill>
                  <a:schemeClr val="tx1"/>
                </a:solidFill>
                <a:cs typeface="Calibri"/>
              </a:rPr>
              <a:t>good.</a:t>
            </a:r>
            <a:r>
              <a:rPr sz="5500" spc="70" dirty="0">
                <a:solidFill>
                  <a:schemeClr val="tx1"/>
                </a:solidFill>
                <a:cs typeface="Calibri"/>
              </a:rPr>
              <a:t> </a:t>
            </a:r>
            <a:endParaRPr lang="en-GB" sz="5500" spc="70" dirty="0">
              <a:solidFill>
                <a:schemeClr val="tx1"/>
              </a:solidFill>
              <a:cs typeface="Calibri"/>
            </a:endParaRPr>
          </a:p>
          <a:p>
            <a:pPr marL="25400" marR="10160">
              <a:lnSpc>
                <a:spcPct val="102400"/>
              </a:lnSpc>
              <a:spcBef>
                <a:spcPts val="100"/>
              </a:spcBef>
            </a:pPr>
            <a:r>
              <a:rPr sz="5500" dirty="0">
                <a:solidFill>
                  <a:schemeClr val="tx1"/>
                </a:solidFill>
                <a:cs typeface="Calibri"/>
              </a:rPr>
              <a:t>If</a:t>
            </a:r>
            <a:r>
              <a:rPr sz="5500" spc="90" dirty="0">
                <a:solidFill>
                  <a:schemeClr val="tx1"/>
                </a:solidFill>
                <a:cs typeface="Calibri"/>
              </a:rPr>
              <a:t> </a:t>
            </a:r>
            <a:r>
              <a:rPr sz="5500" dirty="0">
                <a:solidFill>
                  <a:schemeClr val="tx1"/>
                </a:solidFill>
                <a:cs typeface="Calibri"/>
              </a:rPr>
              <a:t>it’s</a:t>
            </a:r>
            <a:r>
              <a:rPr sz="5500" spc="50" dirty="0">
                <a:solidFill>
                  <a:schemeClr val="tx1"/>
                </a:solidFill>
                <a:cs typeface="Calibri"/>
              </a:rPr>
              <a:t> </a:t>
            </a:r>
            <a:r>
              <a:rPr sz="5500" b="1" dirty="0">
                <a:solidFill>
                  <a:schemeClr val="tx1"/>
                </a:solidFill>
                <a:cs typeface="Calibri"/>
              </a:rPr>
              <a:t>4xx</a:t>
            </a:r>
            <a:r>
              <a:rPr sz="5500" b="1" spc="120" dirty="0">
                <a:solidFill>
                  <a:schemeClr val="tx1"/>
                </a:solidFill>
                <a:cs typeface="Calibri"/>
              </a:rPr>
              <a:t> </a:t>
            </a:r>
            <a:r>
              <a:rPr sz="5500" dirty="0">
                <a:solidFill>
                  <a:schemeClr val="tx1"/>
                </a:solidFill>
                <a:cs typeface="Calibri"/>
              </a:rPr>
              <a:t>or</a:t>
            </a:r>
            <a:r>
              <a:rPr sz="5500" spc="30" dirty="0">
                <a:solidFill>
                  <a:schemeClr val="tx1"/>
                </a:solidFill>
                <a:cs typeface="Calibri"/>
              </a:rPr>
              <a:t> </a:t>
            </a:r>
            <a:r>
              <a:rPr sz="5500" b="1" dirty="0">
                <a:solidFill>
                  <a:schemeClr val="tx1"/>
                </a:solidFill>
                <a:cs typeface="Calibri"/>
              </a:rPr>
              <a:t>5xx</a:t>
            </a:r>
            <a:r>
              <a:rPr sz="5500" dirty="0">
                <a:solidFill>
                  <a:schemeClr val="tx1"/>
                </a:solidFill>
                <a:cs typeface="Calibri"/>
              </a:rPr>
              <a:t>,</a:t>
            </a:r>
            <a:r>
              <a:rPr sz="5500" spc="110" dirty="0">
                <a:solidFill>
                  <a:schemeClr val="tx1"/>
                </a:solidFill>
                <a:cs typeface="Calibri"/>
              </a:rPr>
              <a:t> </a:t>
            </a:r>
            <a:r>
              <a:rPr sz="5500" dirty="0">
                <a:solidFill>
                  <a:schemeClr val="tx1"/>
                </a:solidFill>
                <a:cs typeface="Calibri"/>
              </a:rPr>
              <a:t>it’s</a:t>
            </a:r>
            <a:r>
              <a:rPr sz="5500" spc="80" dirty="0">
                <a:solidFill>
                  <a:schemeClr val="tx1"/>
                </a:solidFill>
                <a:cs typeface="Calibri"/>
              </a:rPr>
              <a:t> </a:t>
            </a:r>
            <a:r>
              <a:rPr sz="5500" dirty="0">
                <a:solidFill>
                  <a:schemeClr val="tx1"/>
                </a:solidFill>
                <a:cs typeface="Calibri"/>
              </a:rPr>
              <a:t>bad.</a:t>
            </a:r>
            <a:r>
              <a:rPr sz="5500" spc="90" dirty="0">
                <a:solidFill>
                  <a:schemeClr val="tx1"/>
                </a:solidFill>
                <a:cs typeface="Calibri"/>
              </a:rPr>
              <a:t> </a:t>
            </a:r>
            <a:r>
              <a:rPr sz="5500" spc="-40" dirty="0">
                <a:solidFill>
                  <a:schemeClr val="tx1"/>
                </a:solidFill>
                <a:cs typeface="Calibri"/>
              </a:rPr>
              <a:t>(404 </a:t>
            </a:r>
            <a:r>
              <a:rPr sz="5500" dirty="0">
                <a:solidFill>
                  <a:schemeClr val="tx1"/>
                </a:solidFill>
                <a:cs typeface="Calibri"/>
              </a:rPr>
              <a:t>Not</a:t>
            </a:r>
            <a:r>
              <a:rPr sz="5500" spc="90" dirty="0">
                <a:solidFill>
                  <a:schemeClr val="tx1"/>
                </a:solidFill>
                <a:cs typeface="Calibri"/>
              </a:rPr>
              <a:t> </a:t>
            </a:r>
            <a:r>
              <a:rPr sz="5500" dirty="0">
                <a:solidFill>
                  <a:schemeClr val="tx1"/>
                </a:solidFill>
                <a:cs typeface="Calibri"/>
              </a:rPr>
              <a:t>Found</a:t>
            </a:r>
            <a:r>
              <a:rPr sz="5500" spc="250" dirty="0">
                <a:solidFill>
                  <a:schemeClr val="tx1"/>
                </a:solidFill>
                <a:cs typeface="Calibri"/>
              </a:rPr>
              <a:t> </a:t>
            </a:r>
            <a:r>
              <a:rPr sz="5500" dirty="0">
                <a:solidFill>
                  <a:schemeClr val="tx1"/>
                </a:solidFill>
                <a:cs typeface="Calibri"/>
              </a:rPr>
              <a:t>is</a:t>
            </a:r>
            <a:r>
              <a:rPr sz="5500" spc="100" dirty="0">
                <a:solidFill>
                  <a:schemeClr val="tx1"/>
                </a:solidFill>
                <a:cs typeface="Calibri"/>
              </a:rPr>
              <a:t> </a:t>
            </a:r>
            <a:r>
              <a:rPr sz="5500" dirty="0">
                <a:solidFill>
                  <a:schemeClr val="tx1"/>
                </a:solidFill>
                <a:cs typeface="Calibri"/>
              </a:rPr>
              <a:t>a</a:t>
            </a:r>
            <a:r>
              <a:rPr sz="5500" spc="200" dirty="0">
                <a:solidFill>
                  <a:schemeClr val="tx1"/>
                </a:solidFill>
                <a:cs typeface="Calibri"/>
              </a:rPr>
              <a:t> </a:t>
            </a:r>
            <a:r>
              <a:rPr sz="5500" dirty="0">
                <a:solidFill>
                  <a:schemeClr val="tx1"/>
                </a:solidFill>
                <a:cs typeface="Calibri"/>
              </a:rPr>
              <a:t>classic</a:t>
            </a:r>
            <a:r>
              <a:rPr sz="5500" spc="70" dirty="0">
                <a:solidFill>
                  <a:schemeClr val="tx1"/>
                </a:solidFill>
                <a:cs typeface="Calibri"/>
              </a:rPr>
              <a:t> </a:t>
            </a:r>
            <a:r>
              <a:rPr sz="5500" dirty="0">
                <a:solidFill>
                  <a:schemeClr val="tx1"/>
                </a:solidFill>
                <a:cs typeface="Calibri"/>
              </a:rPr>
              <a:t>one).</a:t>
            </a:r>
            <a:r>
              <a:rPr sz="5500" spc="130" dirty="0">
                <a:solidFill>
                  <a:schemeClr val="tx1"/>
                </a:solidFill>
                <a:cs typeface="Calibri"/>
              </a:rPr>
              <a:t> </a:t>
            </a:r>
            <a:endParaRPr lang="en-GB" sz="5500" spc="130" dirty="0">
              <a:solidFill>
                <a:schemeClr val="tx1"/>
              </a:solidFill>
              <a:cs typeface="Calibri"/>
            </a:endParaRPr>
          </a:p>
          <a:p>
            <a:pPr marL="25400" marR="10160">
              <a:lnSpc>
                <a:spcPct val="102400"/>
              </a:lnSpc>
              <a:spcBef>
                <a:spcPts val="100"/>
              </a:spcBef>
            </a:pPr>
            <a:r>
              <a:rPr lang="en-GB" sz="5500" dirty="0">
                <a:solidFill>
                  <a:schemeClr val="tx1"/>
                </a:solidFill>
                <a:cs typeface="Calibri"/>
              </a:rPr>
              <a:t>That’s</a:t>
            </a:r>
            <a:r>
              <a:rPr sz="5500" spc="100" dirty="0">
                <a:solidFill>
                  <a:schemeClr val="tx1"/>
                </a:solidFill>
                <a:cs typeface="Calibri"/>
              </a:rPr>
              <a:t> </a:t>
            </a:r>
            <a:r>
              <a:rPr sz="5500" dirty="0">
                <a:solidFill>
                  <a:schemeClr val="tx1"/>
                </a:solidFill>
                <a:cs typeface="Calibri"/>
              </a:rPr>
              <a:t>all</a:t>
            </a:r>
            <a:r>
              <a:rPr sz="5500" spc="90" dirty="0">
                <a:solidFill>
                  <a:schemeClr val="tx1"/>
                </a:solidFill>
                <a:cs typeface="Calibri"/>
              </a:rPr>
              <a:t> </a:t>
            </a:r>
            <a:r>
              <a:rPr sz="5500" dirty="0">
                <a:solidFill>
                  <a:schemeClr val="tx1"/>
                </a:solidFill>
                <a:cs typeface="Calibri"/>
              </a:rPr>
              <a:t>we</a:t>
            </a:r>
            <a:r>
              <a:rPr sz="5500" spc="100" dirty="0">
                <a:solidFill>
                  <a:schemeClr val="tx1"/>
                </a:solidFill>
                <a:cs typeface="Calibri"/>
              </a:rPr>
              <a:t> </a:t>
            </a:r>
            <a:r>
              <a:rPr sz="5500" dirty="0">
                <a:solidFill>
                  <a:schemeClr val="tx1"/>
                </a:solidFill>
                <a:cs typeface="Calibri"/>
              </a:rPr>
              <a:t>really</a:t>
            </a:r>
            <a:r>
              <a:rPr sz="5500" spc="40" dirty="0">
                <a:solidFill>
                  <a:schemeClr val="tx1"/>
                </a:solidFill>
                <a:cs typeface="Calibri"/>
              </a:rPr>
              <a:t> </a:t>
            </a:r>
            <a:r>
              <a:rPr sz="5500" dirty="0">
                <a:solidFill>
                  <a:schemeClr val="tx1"/>
                </a:solidFill>
                <a:cs typeface="Calibri"/>
              </a:rPr>
              <a:t>need</a:t>
            </a:r>
            <a:r>
              <a:rPr sz="5500" spc="100" dirty="0">
                <a:solidFill>
                  <a:schemeClr val="tx1"/>
                </a:solidFill>
                <a:cs typeface="Calibri"/>
              </a:rPr>
              <a:t> </a:t>
            </a:r>
            <a:r>
              <a:rPr sz="5500" dirty="0">
                <a:solidFill>
                  <a:schemeClr val="tx1"/>
                </a:solidFill>
                <a:cs typeface="Calibri"/>
              </a:rPr>
              <a:t>to</a:t>
            </a:r>
            <a:r>
              <a:rPr sz="5500" spc="70" dirty="0">
                <a:solidFill>
                  <a:schemeClr val="tx1"/>
                </a:solidFill>
                <a:cs typeface="Calibri"/>
              </a:rPr>
              <a:t> </a:t>
            </a:r>
            <a:r>
              <a:rPr sz="5500" dirty="0">
                <a:solidFill>
                  <a:schemeClr val="tx1"/>
                </a:solidFill>
                <a:cs typeface="Calibri"/>
              </a:rPr>
              <a:t>know</a:t>
            </a:r>
            <a:r>
              <a:rPr sz="5500" spc="90" dirty="0">
                <a:solidFill>
                  <a:schemeClr val="tx1"/>
                </a:solidFill>
                <a:cs typeface="Calibri"/>
              </a:rPr>
              <a:t> </a:t>
            </a:r>
            <a:r>
              <a:rPr sz="5500" dirty="0">
                <a:solidFill>
                  <a:schemeClr val="tx1"/>
                </a:solidFill>
                <a:cs typeface="Calibri"/>
              </a:rPr>
              <a:t>for</a:t>
            </a:r>
            <a:r>
              <a:rPr sz="5500" spc="190" dirty="0">
                <a:solidFill>
                  <a:schemeClr val="tx1"/>
                </a:solidFill>
                <a:cs typeface="Calibri"/>
              </a:rPr>
              <a:t> </a:t>
            </a:r>
            <a:r>
              <a:rPr sz="5500" spc="-40" dirty="0">
                <a:solidFill>
                  <a:schemeClr val="tx1"/>
                </a:solidFill>
                <a:cs typeface="Calibri"/>
              </a:rPr>
              <a:t>now!</a:t>
            </a:r>
            <a:endParaRPr sz="5500" dirty="0">
              <a:solidFill>
                <a:schemeClr val="tx1"/>
              </a:solidFill>
              <a:cs typeface="Calibri"/>
            </a:endParaRPr>
          </a:p>
        </p:txBody>
      </p:sp>
      <p:sp>
        <p:nvSpPr>
          <p:cNvPr id="8" name="Title 14">
            <a:extLst>
              <a:ext uri="{FF2B5EF4-FFF2-40B4-BE49-F238E27FC236}">
                <a16:creationId xmlns:a16="http://schemas.microsoft.com/office/drawing/2014/main" id="{353137A4-435D-89B0-C5A3-C8E9FB887E81}"/>
              </a:ext>
            </a:extLst>
          </p:cNvPr>
          <p:cNvSpPr>
            <a:spLocks noGrp="1"/>
          </p:cNvSpPr>
          <p:nvPr>
            <p:ph type="title"/>
          </p:nvPr>
        </p:nvSpPr>
        <p:spPr/>
        <p:txBody>
          <a:bodyPr>
            <a:normAutofit/>
          </a:bodyPr>
          <a:lstStyle/>
          <a:p>
            <a:pPr hangingPunct="1"/>
            <a:r>
              <a:rPr lang="en-GB" spc="-20" dirty="0"/>
              <a:t>Understanding the Web</a:t>
            </a:r>
            <a:endParaRPr lang="en-GB" dirty="0"/>
          </a:p>
        </p:txBody>
      </p:sp>
      <p:sp>
        <p:nvSpPr>
          <p:cNvPr id="9" name="object 6">
            <a:extLst>
              <a:ext uri="{FF2B5EF4-FFF2-40B4-BE49-F238E27FC236}">
                <a16:creationId xmlns:a16="http://schemas.microsoft.com/office/drawing/2014/main" id="{DCF3F827-304B-0B32-E076-BF7E24EE6F10}"/>
              </a:ext>
            </a:extLst>
          </p:cNvPr>
          <p:cNvSpPr txBox="1">
            <a:spLocks/>
          </p:cNvSpPr>
          <p:nvPr/>
        </p:nvSpPr>
        <p:spPr>
          <a:xfrm>
            <a:off x="1200251" y="3892816"/>
            <a:ext cx="23183749" cy="4621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0320" rIns="0" bIns="0" rtlCol="0">
            <a:sp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R="3194050" hangingPunct="1">
              <a:lnSpc>
                <a:spcPct val="150000"/>
              </a:lnSpc>
              <a:spcBef>
                <a:spcPts val="160"/>
              </a:spcBef>
            </a:pPr>
            <a:r>
              <a:rPr lang="en-GB" sz="4000" dirty="0">
                <a:solidFill>
                  <a:srgbClr val="002D5F"/>
                </a:solidFill>
              </a:rPr>
              <a:t>1xx informational response – the request was received, continuing process</a:t>
            </a:r>
          </a:p>
          <a:p>
            <a:pPr marR="3194050" hangingPunct="1">
              <a:lnSpc>
                <a:spcPct val="150000"/>
              </a:lnSpc>
              <a:spcBef>
                <a:spcPts val="160"/>
              </a:spcBef>
            </a:pPr>
            <a:r>
              <a:rPr lang="en-GB" sz="4000" dirty="0">
                <a:solidFill>
                  <a:srgbClr val="C00000"/>
                </a:solidFill>
              </a:rPr>
              <a:t>2xx successful </a:t>
            </a:r>
            <a:r>
              <a:rPr lang="en-GB" sz="4000" dirty="0">
                <a:solidFill>
                  <a:srgbClr val="002D5F"/>
                </a:solidFill>
              </a:rPr>
              <a:t>-  the request was successfully received, understood, and accepted</a:t>
            </a:r>
          </a:p>
          <a:p>
            <a:pPr marR="3194050" hangingPunct="1">
              <a:lnSpc>
                <a:spcPct val="150000"/>
              </a:lnSpc>
              <a:spcBef>
                <a:spcPts val="160"/>
              </a:spcBef>
            </a:pPr>
            <a:r>
              <a:rPr lang="en-GB" sz="4000" dirty="0">
                <a:solidFill>
                  <a:srgbClr val="002D5F"/>
                </a:solidFill>
              </a:rPr>
              <a:t>3xx redirection – further action needs to be taken in order to complete the request</a:t>
            </a:r>
          </a:p>
          <a:p>
            <a:pPr marR="3194050" hangingPunct="1">
              <a:lnSpc>
                <a:spcPct val="150000"/>
              </a:lnSpc>
              <a:spcBef>
                <a:spcPts val="160"/>
              </a:spcBef>
            </a:pPr>
            <a:r>
              <a:rPr lang="en-GB" sz="4000" dirty="0">
                <a:solidFill>
                  <a:srgbClr val="002D5F"/>
                </a:solidFill>
              </a:rPr>
              <a:t>4xx client error – the request contains bad syntax or cannot be fulfilled</a:t>
            </a:r>
          </a:p>
          <a:p>
            <a:pPr marR="3194050" hangingPunct="1">
              <a:lnSpc>
                <a:spcPct val="150000"/>
              </a:lnSpc>
              <a:spcBef>
                <a:spcPts val="160"/>
              </a:spcBef>
            </a:pPr>
            <a:r>
              <a:rPr lang="en-GB" sz="4000" dirty="0">
                <a:solidFill>
                  <a:srgbClr val="002D5F"/>
                </a:solidFill>
              </a:rPr>
              <a:t>5xx server error – the server failed to fulfil an apparently valid request</a:t>
            </a:r>
            <a:endParaRPr lang="en-GB" sz="4400" dirty="0"/>
          </a:p>
        </p:txBody>
      </p:sp>
      <p:sp>
        <p:nvSpPr>
          <p:cNvPr id="2" name="object 7">
            <a:extLst>
              <a:ext uri="{FF2B5EF4-FFF2-40B4-BE49-F238E27FC236}">
                <a16:creationId xmlns:a16="http://schemas.microsoft.com/office/drawing/2014/main" id="{DF192D96-C2F1-72CB-AF0F-611585628B6C}"/>
              </a:ext>
            </a:extLst>
          </p:cNvPr>
          <p:cNvSpPr txBox="1"/>
          <p:nvPr/>
        </p:nvSpPr>
        <p:spPr>
          <a:xfrm>
            <a:off x="1288288" y="2518331"/>
            <a:ext cx="22269543" cy="772006"/>
          </a:xfrm>
          <a:prstGeom prst="rect">
            <a:avLst/>
          </a:prstGeom>
        </p:spPr>
        <p:txBody>
          <a:bodyPr vert="horz" wrap="square" lIns="0" tIns="33020" rIns="0" bIns="0" rtlCol="0">
            <a:spAutoFit/>
          </a:bodyPr>
          <a:lstStyle/>
          <a:p>
            <a:pPr marL="25400" marR="2106930">
              <a:lnSpc>
                <a:spcPct val="100000"/>
              </a:lnSpc>
              <a:spcBef>
                <a:spcPts val="250"/>
              </a:spcBef>
            </a:pPr>
            <a:r>
              <a:rPr lang="en-GB" dirty="0">
                <a:solidFill>
                  <a:srgbClr val="002D5F"/>
                </a:solidFill>
                <a:cs typeface="Calibri"/>
              </a:rPr>
              <a:t>Let’s have a look at the </a:t>
            </a:r>
            <a:r>
              <a:rPr lang="en-GB" b="1" dirty="0">
                <a:solidFill>
                  <a:srgbClr val="C00000"/>
                </a:solidFill>
                <a:cs typeface="Calibri"/>
              </a:rPr>
              <a:t>status codes</a:t>
            </a:r>
            <a:r>
              <a:rPr lang="en-GB" b="1" dirty="0">
                <a:solidFill>
                  <a:srgbClr val="002D5F"/>
                </a:solidFill>
                <a:cs typeface="Calibri"/>
              </a:rPr>
              <a:t>. </a:t>
            </a:r>
          </a:p>
        </p:txBody>
      </p:sp>
    </p:spTree>
    <p:extLst>
      <p:ext uri="{BB962C8B-B14F-4D97-AF65-F5344CB8AC3E}">
        <p14:creationId xmlns:p14="http://schemas.microsoft.com/office/powerpoint/2010/main" val="242483924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00251" y="2637351"/>
            <a:ext cx="21512530" cy="11466985"/>
          </a:xfrm>
          <a:prstGeom prst="rect">
            <a:avLst/>
          </a:prstGeom>
        </p:spPr>
        <p:txBody>
          <a:bodyPr vert="horz" wrap="square" lIns="0" tIns="26670" rIns="0" bIns="0" rtlCol="0">
            <a:spAutoFit/>
          </a:bodyPr>
          <a:lstStyle/>
          <a:p>
            <a:r>
              <a:rPr lang="en-GB" sz="5400" dirty="0"/>
              <a:t>Web browsers send HTTP requests to web servers to retrieve webpage content.</a:t>
            </a:r>
          </a:p>
          <a:p>
            <a:r>
              <a:rPr lang="en-GB" sz="5400" b="1" dirty="0"/>
              <a:t>Requests made by computer programmes</a:t>
            </a:r>
            <a:endParaRPr lang="en-GB" sz="5400" dirty="0"/>
          </a:p>
          <a:p>
            <a:r>
              <a:rPr lang="en-GB" sz="5400" dirty="0"/>
              <a:t>Web scraping involves sending requests to websites using computer programmes written in languages such as Python or R. These programmes can automate the process of retrieving and collecting data from websites.</a:t>
            </a:r>
          </a:p>
          <a:p>
            <a:r>
              <a:rPr lang="en-GB" sz="5400" b="1" dirty="0"/>
              <a:t>Example using Python</a:t>
            </a:r>
            <a:endParaRPr lang="en-GB" sz="5400" dirty="0"/>
          </a:p>
          <a:p>
            <a:r>
              <a:rPr lang="en-GB" dirty="0"/>
              <a:t>import requests</a:t>
            </a:r>
          </a:p>
          <a:p>
            <a:r>
              <a:rPr lang="en-GB" dirty="0" err="1"/>
              <a:t>url</a:t>
            </a:r>
            <a:r>
              <a:rPr lang="en-GB" dirty="0"/>
              <a:t> = "https://</a:t>
            </a:r>
            <a:r>
              <a:rPr lang="en-GB" dirty="0" err="1"/>
              <a:t>example.com</a:t>
            </a:r>
            <a:r>
              <a:rPr lang="en-GB" dirty="0"/>
              <a:t>"</a:t>
            </a:r>
          </a:p>
          <a:p>
            <a:r>
              <a:rPr lang="en-GB" dirty="0"/>
              <a:t>response = </a:t>
            </a:r>
            <a:r>
              <a:rPr lang="en-GB" dirty="0" err="1"/>
              <a:t>requests.get</a:t>
            </a:r>
            <a:r>
              <a:rPr lang="en-GB" dirty="0"/>
              <a:t>(</a:t>
            </a:r>
            <a:r>
              <a:rPr lang="en-GB" dirty="0" err="1"/>
              <a:t>url</a:t>
            </a:r>
            <a:r>
              <a:rPr lang="en-GB" dirty="0"/>
              <a:t>)</a:t>
            </a:r>
          </a:p>
        </p:txBody>
      </p:sp>
      <p:sp>
        <p:nvSpPr>
          <p:cNvPr id="6" name="Title 14">
            <a:extLst>
              <a:ext uri="{FF2B5EF4-FFF2-40B4-BE49-F238E27FC236}">
                <a16:creationId xmlns:a16="http://schemas.microsoft.com/office/drawing/2014/main" id="{F0503210-0E6E-4895-D912-96EF91B44956}"/>
              </a:ext>
            </a:extLst>
          </p:cNvPr>
          <p:cNvSpPr>
            <a:spLocks noGrp="1"/>
          </p:cNvSpPr>
          <p:nvPr>
            <p:ph type="title"/>
          </p:nvPr>
        </p:nvSpPr>
        <p:spPr/>
        <p:txBody>
          <a:bodyPr>
            <a:normAutofit/>
          </a:bodyPr>
          <a:lstStyle/>
          <a:p>
            <a:r>
              <a:rPr lang="en-GB" spc="-20" dirty="0"/>
              <a:t>Sending Request</a:t>
            </a:r>
            <a:endParaRPr lang="en-US"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0876D-D4D1-F0A6-C518-4BCED0F4DC0B}"/>
            </a:ext>
          </a:extLst>
        </p:cNvPr>
        <p:cNvGrpSpPr/>
        <p:nvPr/>
      </p:nvGrpSpPr>
      <p:grpSpPr>
        <a:xfrm>
          <a:off x="0" y="0"/>
          <a:ext cx="0" cy="0"/>
          <a:chOff x="0" y="0"/>
          <a:chExt cx="0" cy="0"/>
        </a:xfrm>
      </p:grpSpPr>
      <p:sp>
        <p:nvSpPr>
          <p:cNvPr id="467" name="Feedback for us...…">
            <a:extLst>
              <a:ext uri="{FF2B5EF4-FFF2-40B4-BE49-F238E27FC236}">
                <a16:creationId xmlns:a16="http://schemas.microsoft.com/office/drawing/2014/main" id="{289F93F1-3B97-2542-284B-8ACA0F6A2AF6}"/>
              </a:ext>
            </a:extLst>
          </p:cNvPr>
          <p:cNvSpPr txBox="1"/>
          <p:nvPr/>
        </p:nvSpPr>
        <p:spPr>
          <a:xfrm>
            <a:off x="2503867" y="5077668"/>
            <a:ext cx="19376265" cy="10259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000" b="1">
                <a:solidFill>
                  <a:srgbClr val="0A1C3E"/>
                </a:solidFill>
                <a:latin typeface="Helvetica"/>
                <a:ea typeface="Helvetica"/>
                <a:cs typeface="Helvetica"/>
                <a:sym typeface="Helvetica"/>
              </a:defRPr>
            </a:pPr>
            <a:endParaRPr dirty="0"/>
          </a:p>
        </p:txBody>
      </p:sp>
      <p:sp>
        <p:nvSpPr>
          <p:cNvPr id="2" name="Title 1">
            <a:extLst>
              <a:ext uri="{FF2B5EF4-FFF2-40B4-BE49-F238E27FC236}">
                <a16:creationId xmlns:a16="http://schemas.microsoft.com/office/drawing/2014/main" id="{F030EAD2-FF7C-FD35-389C-12A7BF156935}"/>
              </a:ext>
            </a:extLst>
          </p:cNvPr>
          <p:cNvSpPr>
            <a:spLocks noGrp="1"/>
          </p:cNvSpPr>
          <p:nvPr>
            <p:ph type="title"/>
          </p:nvPr>
        </p:nvSpPr>
        <p:spPr>
          <a:xfrm>
            <a:off x="1206497" y="5681369"/>
            <a:ext cx="21971004" cy="2353262"/>
          </a:xfrm>
        </p:spPr>
        <p:txBody>
          <a:bodyPr/>
          <a:lstStyle/>
          <a:p>
            <a:pPr algn="ctr"/>
            <a:r>
              <a:rPr lang="en-US" dirty="0"/>
              <a:t>HTML Basics</a:t>
            </a:r>
          </a:p>
        </p:txBody>
      </p:sp>
    </p:spTree>
    <p:extLst>
      <p:ext uri="{BB962C8B-B14F-4D97-AF65-F5344CB8AC3E}">
        <p14:creationId xmlns:p14="http://schemas.microsoft.com/office/powerpoint/2010/main" val="356045451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70010-9DF4-A3AD-29F0-AFE11286D9BC}"/>
            </a:ext>
          </a:extLst>
        </p:cNvPr>
        <p:cNvGrpSpPr/>
        <p:nvPr/>
      </p:nvGrpSpPr>
      <p:grpSpPr>
        <a:xfrm>
          <a:off x="0" y="0"/>
          <a:ext cx="0" cy="0"/>
          <a:chOff x="0" y="0"/>
          <a:chExt cx="0" cy="0"/>
        </a:xfrm>
      </p:grpSpPr>
      <p:sp>
        <p:nvSpPr>
          <p:cNvPr id="9" name="Title 14">
            <a:extLst>
              <a:ext uri="{FF2B5EF4-FFF2-40B4-BE49-F238E27FC236}">
                <a16:creationId xmlns:a16="http://schemas.microsoft.com/office/drawing/2014/main" id="{64EF7CD2-C070-6274-BB62-A7CA609B849E}"/>
              </a:ext>
            </a:extLst>
          </p:cNvPr>
          <p:cNvSpPr txBox="1">
            <a:spLocks/>
          </p:cNvSpPr>
          <p:nvPr/>
        </p:nvSpPr>
        <p:spPr>
          <a:xfrm>
            <a:off x="1200251" y="1204188"/>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hangingPunct="1"/>
            <a:r>
              <a:rPr lang="en-GB" spc="-20" dirty="0"/>
              <a:t>HTML Basics</a:t>
            </a:r>
            <a:endParaRPr lang="en-GB" dirty="0"/>
          </a:p>
        </p:txBody>
      </p:sp>
      <p:sp>
        <p:nvSpPr>
          <p:cNvPr id="16" name="object 3" descr="$PPTXTitle">
            <a:extLst>
              <a:ext uri="{FF2B5EF4-FFF2-40B4-BE49-F238E27FC236}">
                <a16:creationId xmlns:a16="http://schemas.microsoft.com/office/drawing/2014/main" id="{BF6B4A7C-2689-7EC0-3925-6AED52147449}"/>
              </a:ext>
            </a:extLst>
          </p:cNvPr>
          <p:cNvSpPr txBox="1">
            <a:spLocks/>
          </p:cNvSpPr>
          <p:nvPr/>
        </p:nvSpPr>
        <p:spPr>
          <a:xfrm>
            <a:off x="1200251" y="3796867"/>
            <a:ext cx="22333517" cy="75918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marL="25400" hangingPunct="1">
              <a:lnSpc>
                <a:spcPct val="100000"/>
              </a:lnSpc>
              <a:spcBef>
                <a:spcPts val="200"/>
              </a:spcBef>
            </a:pPr>
            <a:r>
              <a:rPr lang="en-GB" sz="4800" dirty="0">
                <a:solidFill>
                  <a:schemeClr val="tx1"/>
                </a:solidFill>
              </a:rPr>
              <a:t>HTML — The structure of a webpage</a:t>
            </a:r>
          </a:p>
          <a:p>
            <a:pPr marL="25400" hangingPunct="1">
              <a:lnSpc>
                <a:spcPct val="100000"/>
              </a:lnSpc>
              <a:spcBef>
                <a:spcPts val="200"/>
              </a:spcBef>
            </a:pPr>
            <a:r>
              <a:rPr lang="en-GB" sz="4800" b="0" dirty="0">
                <a:solidFill>
                  <a:schemeClr val="tx1"/>
                </a:solidFill>
              </a:rPr>
              <a:t>It determines what content a webpage contains, such as headings, paragraphs, images and links.</a:t>
            </a:r>
          </a:p>
          <a:p>
            <a:pPr marL="25400" hangingPunct="1">
              <a:lnSpc>
                <a:spcPct val="100000"/>
              </a:lnSpc>
              <a:spcBef>
                <a:spcPts val="200"/>
              </a:spcBef>
            </a:pPr>
            <a:endParaRPr lang="en-GB" sz="4800" b="0" dirty="0">
              <a:solidFill>
                <a:schemeClr val="tx1"/>
              </a:solidFill>
            </a:endParaRPr>
          </a:p>
          <a:p>
            <a:pPr marL="25400" hangingPunct="1">
              <a:lnSpc>
                <a:spcPct val="100000"/>
              </a:lnSpc>
              <a:spcBef>
                <a:spcPts val="200"/>
              </a:spcBef>
            </a:pPr>
            <a:r>
              <a:rPr lang="en-GB" sz="4800" dirty="0">
                <a:solidFill>
                  <a:schemeClr val="tx1"/>
                </a:solidFill>
              </a:rPr>
              <a:t>CSS — The appearance of a webpage</a:t>
            </a:r>
          </a:p>
          <a:p>
            <a:pPr marL="25400" hangingPunct="1">
              <a:lnSpc>
                <a:spcPct val="100000"/>
              </a:lnSpc>
              <a:spcBef>
                <a:spcPts val="200"/>
              </a:spcBef>
            </a:pPr>
            <a:r>
              <a:rPr lang="en-GB" sz="4800" b="0" dirty="0">
                <a:solidFill>
                  <a:schemeClr val="tx1"/>
                </a:solidFill>
              </a:rPr>
              <a:t>Controls colours, fonts, sizes, layouts and other visual elements.</a:t>
            </a:r>
          </a:p>
          <a:p>
            <a:pPr marL="25400" hangingPunct="1">
              <a:lnSpc>
                <a:spcPct val="100000"/>
              </a:lnSpc>
              <a:spcBef>
                <a:spcPts val="200"/>
              </a:spcBef>
            </a:pPr>
            <a:endParaRPr lang="en-GB" sz="4800" dirty="0">
              <a:solidFill>
                <a:schemeClr val="tx1"/>
              </a:solidFill>
            </a:endParaRPr>
          </a:p>
          <a:p>
            <a:pPr marL="25400" hangingPunct="1">
              <a:lnSpc>
                <a:spcPct val="100000"/>
              </a:lnSpc>
              <a:spcBef>
                <a:spcPts val="200"/>
              </a:spcBef>
            </a:pPr>
            <a:r>
              <a:rPr lang="en-GB" sz="4800" dirty="0">
                <a:solidFill>
                  <a:schemeClr val="tx1"/>
                </a:solidFill>
              </a:rPr>
              <a:t>JavaScript — The interactive and dynamic features of a webpage</a:t>
            </a:r>
          </a:p>
          <a:p>
            <a:pPr marL="25400" hangingPunct="1">
              <a:lnSpc>
                <a:spcPct val="100000"/>
              </a:lnSpc>
              <a:spcBef>
                <a:spcPts val="200"/>
              </a:spcBef>
            </a:pPr>
            <a:r>
              <a:rPr lang="en-GB" sz="4800" b="0" dirty="0">
                <a:solidFill>
                  <a:schemeClr val="tx1"/>
                </a:solidFill>
              </a:rPr>
              <a:t>Enables features such as button clicks, live searches and retrieving new data from a server.</a:t>
            </a:r>
          </a:p>
        </p:txBody>
      </p:sp>
    </p:spTree>
    <p:extLst>
      <p:ext uri="{BB962C8B-B14F-4D97-AF65-F5344CB8AC3E}">
        <p14:creationId xmlns:p14="http://schemas.microsoft.com/office/powerpoint/2010/main" val="209214060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237216" y="4707889"/>
            <a:ext cx="5420360" cy="2226310"/>
            <a:chOff x="5118608" y="2353944"/>
            <a:chExt cx="2710180" cy="1113155"/>
          </a:xfrm>
        </p:grpSpPr>
        <p:sp>
          <p:nvSpPr>
            <p:cNvPr id="3" name="object 3"/>
            <p:cNvSpPr/>
            <p:nvPr/>
          </p:nvSpPr>
          <p:spPr>
            <a:xfrm>
              <a:off x="6375273" y="2364231"/>
              <a:ext cx="1447165" cy="1096010"/>
            </a:xfrm>
            <a:custGeom>
              <a:avLst/>
              <a:gdLst/>
              <a:ahLst/>
              <a:cxnLst/>
              <a:rect l="l" t="t" r="r" b="b"/>
              <a:pathLst>
                <a:path w="1447165" h="1096010">
                  <a:moveTo>
                    <a:pt x="0" y="0"/>
                  </a:moveTo>
                  <a:lnTo>
                    <a:pt x="51632" y="4829"/>
                  </a:lnTo>
                  <a:lnTo>
                    <a:pt x="102657" y="11520"/>
                  </a:lnTo>
                  <a:lnTo>
                    <a:pt x="153025" y="20033"/>
                  </a:lnTo>
                  <a:lnTo>
                    <a:pt x="202681" y="30329"/>
                  </a:lnTo>
                  <a:lnTo>
                    <a:pt x="251575" y="42369"/>
                  </a:lnTo>
                  <a:lnTo>
                    <a:pt x="299652" y="56114"/>
                  </a:lnTo>
                  <a:lnTo>
                    <a:pt x="346862" y="71526"/>
                  </a:lnTo>
                  <a:lnTo>
                    <a:pt x="393151" y="88565"/>
                  </a:lnTo>
                  <a:lnTo>
                    <a:pt x="438468" y="107193"/>
                  </a:lnTo>
                  <a:lnTo>
                    <a:pt x="482759" y="127371"/>
                  </a:lnTo>
                  <a:lnTo>
                    <a:pt x="525973" y="149059"/>
                  </a:lnTo>
                  <a:lnTo>
                    <a:pt x="568057" y="172220"/>
                  </a:lnTo>
                  <a:lnTo>
                    <a:pt x="608959" y="196813"/>
                  </a:lnTo>
                  <a:lnTo>
                    <a:pt x="648626" y="222800"/>
                  </a:lnTo>
                  <a:lnTo>
                    <a:pt x="687006" y="250142"/>
                  </a:lnTo>
                  <a:lnTo>
                    <a:pt x="724047" y="278800"/>
                  </a:lnTo>
                  <a:lnTo>
                    <a:pt x="759695" y="308736"/>
                  </a:lnTo>
                  <a:lnTo>
                    <a:pt x="793900" y="339909"/>
                  </a:lnTo>
                  <a:lnTo>
                    <a:pt x="826608" y="372283"/>
                  </a:lnTo>
                  <a:lnTo>
                    <a:pt x="857767" y="405816"/>
                  </a:lnTo>
                  <a:lnTo>
                    <a:pt x="887325" y="440471"/>
                  </a:lnTo>
                  <a:lnTo>
                    <a:pt x="915229" y="476209"/>
                  </a:lnTo>
                  <a:lnTo>
                    <a:pt x="941427" y="512991"/>
                  </a:lnTo>
                  <a:lnTo>
                    <a:pt x="965866" y="550777"/>
                  </a:lnTo>
                  <a:lnTo>
                    <a:pt x="988495" y="589529"/>
                  </a:lnTo>
                  <a:lnTo>
                    <a:pt x="1009260" y="629209"/>
                  </a:lnTo>
                  <a:lnTo>
                    <a:pt x="1028110" y="669776"/>
                  </a:lnTo>
                  <a:lnTo>
                    <a:pt x="1044991" y="711192"/>
                  </a:lnTo>
                  <a:lnTo>
                    <a:pt x="1059853" y="753419"/>
                  </a:lnTo>
                  <a:lnTo>
                    <a:pt x="1072642" y="796416"/>
                  </a:lnTo>
                  <a:lnTo>
                    <a:pt x="947801" y="787145"/>
                  </a:lnTo>
                  <a:lnTo>
                    <a:pt x="1225423" y="1096009"/>
                  </a:lnTo>
                  <a:lnTo>
                    <a:pt x="1447037" y="824483"/>
                  </a:lnTo>
                  <a:lnTo>
                    <a:pt x="1322197" y="815213"/>
                  </a:lnTo>
                  <a:lnTo>
                    <a:pt x="1309420" y="772202"/>
                  </a:lnTo>
                  <a:lnTo>
                    <a:pt x="1294570" y="729964"/>
                  </a:lnTo>
                  <a:lnTo>
                    <a:pt x="1277699" y="688537"/>
                  </a:lnTo>
                  <a:lnTo>
                    <a:pt x="1258859" y="647960"/>
                  </a:lnTo>
                  <a:lnTo>
                    <a:pt x="1238103" y="608272"/>
                  </a:lnTo>
                  <a:lnTo>
                    <a:pt x="1215482" y="569511"/>
                  </a:lnTo>
                  <a:lnTo>
                    <a:pt x="1191050" y="531717"/>
                  </a:lnTo>
                  <a:lnTo>
                    <a:pt x="1164858" y="494928"/>
                  </a:lnTo>
                  <a:lnTo>
                    <a:pt x="1136960" y="459184"/>
                  </a:lnTo>
                  <a:lnTo>
                    <a:pt x="1107407" y="424523"/>
                  </a:lnTo>
                  <a:lnTo>
                    <a:pt x="1076251" y="390984"/>
                  </a:lnTo>
                  <a:lnTo>
                    <a:pt x="1043546" y="358606"/>
                  </a:lnTo>
                  <a:lnTo>
                    <a:pt x="1009344" y="327428"/>
                  </a:lnTo>
                  <a:lnTo>
                    <a:pt x="973696" y="297488"/>
                  </a:lnTo>
                  <a:lnTo>
                    <a:pt x="936656" y="268827"/>
                  </a:lnTo>
                  <a:lnTo>
                    <a:pt x="898276" y="241482"/>
                  </a:lnTo>
                  <a:lnTo>
                    <a:pt x="858608" y="215492"/>
                  </a:lnTo>
                  <a:lnTo>
                    <a:pt x="817704" y="190897"/>
                  </a:lnTo>
                  <a:lnTo>
                    <a:pt x="775617" y="167735"/>
                  </a:lnTo>
                  <a:lnTo>
                    <a:pt x="732399" y="146045"/>
                  </a:lnTo>
                  <a:lnTo>
                    <a:pt x="688103" y="125866"/>
                  </a:lnTo>
                  <a:lnTo>
                    <a:pt x="642781" y="107237"/>
                  </a:lnTo>
                  <a:lnTo>
                    <a:pt x="596485" y="90197"/>
                  </a:lnTo>
                  <a:lnTo>
                    <a:pt x="549268" y="74784"/>
                  </a:lnTo>
                  <a:lnTo>
                    <a:pt x="501183" y="61038"/>
                  </a:lnTo>
                  <a:lnTo>
                    <a:pt x="452280" y="48998"/>
                  </a:lnTo>
                  <a:lnTo>
                    <a:pt x="402614" y="38702"/>
                  </a:lnTo>
                  <a:lnTo>
                    <a:pt x="352236" y="30189"/>
                  </a:lnTo>
                  <a:lnTo>
                    <a:pt x="301199" y="23498"/>
                  </a:lnTo>
                  <a:lnTo>
                    <a:pt x="249554" y="18668"/>
                  </a:lnTo>
                  <a:lnTo>
                    <a:pt x="0" y="0"/>
                  </a:lnTo>
                  <a:close/>
                </a:path>
              </a:pathLst>
            </a:custGeom>
            <a:solidFill>
              <a:srgbClr val="C00000"/>
            </a:solidFill>
          </p:spPr>
          <p:txBody>
            <a:bodyPr wrap="square" lIns="0" tIns="0" rIns="0" bIns="0" rtlCol="0"/>
            <a:lstStyle/>
            <a:p>
              <a:endParaRPr sz="9600"/>
            </a:p>
          </p:txBody>
        </p:sp>
        <p:sp>
          <p:nvSpPr>
            <p:cNvPr id="4" name="object 4"/>
            <p:cNvSpPr/>
            <p:nvPr/>
          </p:nvSpPr>
          <p:spPr>
            <a:xfrm>
              <a:off x="5124958" y="2360294"/>
              <a:ext cx="1374775" cy="933450"/>
            </a:xfrm>
            <a:custGeom>
              <a:avLst/>
              <a:gdLst/>
              <a:ahLst/>
              <a:cxnLst/>
              <a:rect l="l" t="t" r="r" b="b"/>
              <a:pathLst>
                <a:path w="1374775" h="933450">
                  <a:moveTo>
                    <a:pt x="1145887" y="0"/>
                  </a:moveTo>
                  <a:lnTo>
                    <a:pt x="1094390" y="938"/>
                  </a:lnTo>
                  <a:lnTo>
                    <a:pt x="1043436" y="3766"/>
                  </a:lnTo>
                  <a:lnTo>
                    <a:pt x="993079" y="8445"/>
                  </a:lnTo>
                  <a:lnTo>
                    <a:pt x="943368" y="14939"/>
                  </a:lnTo>
                  <a:lnTo>
                    <a:pt x="894353" y="23211"/>
                  </a:lnTo>
                  <a:lnTo>
                    <a:pt x="846087" y="33224"/>
                  </a:lnTo>
                  <a:lnTo>
                    <a:pt x="798620" y="44940"/>
                  </a:lnTo>
                  <a:lnTo>
                    <a:pt x="752002" y="58323"/>
                  </a:lnTo>
                  <a:lnTo>
                    <a:pt x="706284" y="73336"/>
                  </a:lnTo>
                  <a:lnTo>
                    <a:pt x="661517" y="89941"/>
                  </a:lnTo>
                  <a:lnTo>
                    <a:pt x="617752" y="108102"/>
                  </a:lnTo>
                  <a:lnTo>
                    <a:pt x="575040" y="127782"/>
                  </a:lnTo>
                  <a:lnTo>
                    <a:pt x="533432" y="148943"/>
                  </a:lnTo>
                  <a:lnTo>
                    <a:pt x="492977" y="171549"/>
                  </a:lnTo>
                  <a:lnTo>
                    <a:pt x="453728" y="195562"/>
                  </a:lnTo>
                  <a:lnTo>
                    <a:pt x="415734" y="220946"/>
                  </a:lnTo>
                  <a:lnTo>
                    <a:pt x="379047" y="247663"/>
                  </a:lnTo>
                  <a:lnTo>
                    <a:pt x="343717" y="275677"/>
                  </a:lnTo>
                  <a:lnTo>
                    <a:pt x="309795" y="304950"/>
                  </a:lnTo>
                  <a:lnTo>
                    <a:pt x="277333" y="335446"/>
                  </a:lnTo>
                  <a:lnTo>
                    <a:pt x="246380" y="367127"/>
                  </a:lnTo>
                  <a:lnTo>
                    <a:pt x="216987" y="399957"/>
                  </a:lnTo>
                  <a:lnTo>
                    <a:pt x="189206" y="433898"/>
                  </a:lnTo>
                  <a:lnTo>
                    <a:pt x="163087" y="468913"/>
                  </a:lnTo>
                  <a:lnTo>
                    <a:pt x="138681" y="504966"/>
                  </a:lnTo>
                  <a:lnTo>
                    <a:pt x="116038" y="542019"/>
                  </a:lnTo>
                  <a:lnTo>
                    <a:pt x="95210" y="580035"/>
                  </a:lnTo>
                  <a:lnTo>
                    <a:pt x="76247" y="618977"/>
                  </a:lnTo>
                  <a:lnTo>
                    <a:pt x="59200" y="658809"/>
                  </a:lnTo>
                  <a:lnTo>
                    <a:pt x="44120" y="699493"/>
                  </a:lnTo>
                  <a:lnTo>
                    <a:pt x="31058" y="740992"/>
                  </a:lnTo>
                  <a:lnTo>
                    <a:pt x="20064" y="783269"/>
                  </a:lnTo>
                  <a:lnTo>
                    <a:pt x="11189" y="826288"/>
                  </a:lnTo>
                  <a:lnTo>
                    <a:pt x="4484" y="870010"/>
                  </a:lnTo>
                  <a:lnTo>
                    <a:pt x="0" y="914400"/>
                  </a:lnTo>
                  <a:lnTo>
                    <a:pt x="249681" y="933196"/>
                  </a:lnTo>
                  <a:lnTo>
                    <a:pt x="254206" y="888457"/>
                  </a:lnTo>
                  <a:lnTo>
                    <a:pt x="261001" y="844361"/>
                  </a:lnTo>
                  <a:lnTo>
                    <a:pt x="270014" y="800952"/>
                  </a:lnTo>
                  <a:lnTo>
                    <a:pt x="281197" y="758268"/>
                  </a:lnTo>
                  <a:lnTo>
                    <a:pt x="294498" y="716351"/>
                  </a:lnTo>
                  <a:lnTo>
                    <a:pt x="309866" y="675243"/>
                  </a:lnTo>
                  <a:lnTo>
                    <a:pt x="327252" y="634984"/>
                  </a:lnTo>
                  <a:lnTo>
                    <a:pt x="346604" y="595616"/>
                  </a:lnTo>
                  <a:lnTo>
                    <a:pt x="367873" y="557179"/>
                  </a:lnTo>
                  <a:lnTo>
                    <a:pt x="391008" y="519714"/>
                  </a:lnTo>
                  <a:lnTo>
                    <a:pt x="415957" y="483262"/>
                  </a:lnTo>
                  <a:lnTo>
                    <a:pt x="442672" y="447865"/>
                  </a:lnTo>
                  <a:lnTo>
                    <a:pt x="471101" y="413563"/>
                  </a:lnTo>
                  <a:lnTo>
                    <a:pt x="501193" y="380398"/>
                  </a:lnTo>
                  <a:lnTo>
                    <a:pt x="532899" y="348410"/>
                  </a:lnTo>
                  <a:lnTo>
                    <a:pt x="566167" y="317641"/>
                  </a:lnTo>
                  <a:lnTo>
                    <a:pt x="600948" y="288131"/>
                  </a:lnTo>
                  <a:lnTo>
                    <a:pt x="637190" y="259922"/>
                  </a:lnTo>
                  <a:lnTo>
                    <a:pt x="674843" y="233054"/>
                  </a:lnTo>
                  <a:lnTo>
                    <a:pt x="713858" y="207569"/>
                  </a:lnTo>
                  <a:lnTo>
                    <a:pt x="754182" y="183508"/>
                  </a:lnTo>
                  <a:lnTo>
                    <a:pt x="795766" y="160911"/>
                  </a:lnTo>
                  <a:lnTo>
                    <a:pt x="838559" y="139820"/>
                  </a:lnTo>
                  <a:lnTo>
                    <a:pt x="882511" y="120275"/>
                  </a:lnTo>
                  <a:lnTo>
                    <a:pt x="927571" y="102318"/>
                  </a:lnTo>
                  <a:lnTo>
                    <a:pt x="973689" y="85990"/>
                  </a:lnTo>
                  <a:lnTo>
                    <a:pt x="1020814" y="71332"/>
                  </a:lnTo>
                  <a:lnTo>
                    <a:pt x="1068896" y="58384"/>
                  </a:lnTo>
                  <a:lnTo>
                    <a:pt x="1117884" y="47189"/>
                  </a:lnTo>
                  <a:lnTo>
                    <a:pt x="1167727" y="37786"/>
                  </a:lnTo>
                  <a:lnTo>
                    <a:pt x="1218376" y="30217"/>
                  </a:lnTo>
                  <a:lnTo>
                    <a:pt x="1269779" y="24522"/>
                  </a:lnTo>
                  <a:lnTo>
                    <a:pt x="1321886" y="20744"/>
                  </a:lnTo>
                  <a:lnTo>
                    <a:pt x="1374647" y="18923"/>
                  </a:lnTo>
                  <a:lnTo>
                    <a:pt x="1343719" y="14117"/>
                  </a:lnTo>
                  <a:lnTo>
                    <a:pt x="1312671" y="10001"/>
                  </a:lnTo>
                  <a:lnTo>
                    <a:pt x="1281529" y="6600"/>
                  </a:lnTo>
                  <a:lnTo>
                    <a:pt x="1250314" y="3937"/>
                  </a:lnTo>
                  <a:lnTo>
                    <a:pt x="1197879" y="987"/>
                  </a:lnTo>
                  <a:lnTo>
                    <a:pt x="1145887" y="0"/>
                  </a:lnTo>
                  <a:close/>
                </a:path>
              </a:pathLst>
            </a:custGeom>
            <a:solidFill>
              <a:srgbClr val="9A0000"/>
            </a:solidFill>
          </p:spPr>
          <p:txBody>
            <a:bodyPr wrap="square" lIns="0" tIns="0" rIns="0" bIns="0" rtlCol="0"/>
            <a:lstStyle/>
            <a:p>
              <a:endParaRPr sz="9600"/>
            </a:p>
          </p:txBody>
        </p:sp>
        <p:sp>
          <p:nvSpPr>
            <p:cNvPr id="5" name="object 5"/>
            <p:cNvSpPr/>
            <p:nvPr/>
          </p:nvSpPr>
          <p:spPr>
            <a:xfrm>
              <a:off x="5124958" y="2360294"/>
              <a:ext cx="2697480" cy="1100455"/>
            </a:xfrm>
            <a:custGeom>
              <a:avLst/>
              <a:gdLst/>
              <a:ahLst/>
              <a:cxnLst/>
              <a:rect l="l" t="t" r="r" b="b"/>
              <a:pathLst>
                <a:path w="2697479" h="1100454">
                  <a:moveTo>
                    <a:pt x="1374647" y="18923"/>
                  </a:moveTo>
                  <a:lnTo>
                    <a:pt x="1321886" y="20744"/>
                  </a:lnTo>
                  <a:lnTo>
                    <a:pt x="1269779" y="24522"/>
                  </a:lnTo>
                  <a:lnTo>
                    <a:pt x="1218376" y="30217"/>
                  </a:lnTo>
                  <a:lnTo>
                    <a:pt x="1167727" y="37786"/>
                  </a:lnTo>
                  <a:lnTo>
                    <a:pt x="1117884" y="47189"/>
                  </a:lnTo>
                  <a:lnTo>
                    <a:pt x="1068896" y="58384"/>
                  </a:lnTo>
                  <a:lnTo>
                    <a:pt x="1020814" y="71332"/>
                  </a:lnTo>
                  <a:lnTo>
                    <a:pt x="973689" y="85990"/>
                  </a:lnTo>
                  <a:lnTo>
                    <a:pt x="927571" y="102318"/>
                  </a:lnTo>
                  <a:lnTo>
                    <a:pt x="882511" y="120275"/>
                  </a:lnTo>
                  <a:lnTo>
                    <a:pt x="838559" y="139820"/>
                  </a:lnTo>
                  <a:lnTo>
                    <a:pt x="795766" y="160911"/>
                  </a:lnTo>
                  <a:lnTo>
                    <a:pt x="754182" y="183508"/>
                  </a:lnTo>
                  <a:lnTo>
                    <a:pt x="713858" y="207569"/>
                  </a:lnTo>
                  <a:lnTo>
                    <a:pt x="674843" y="233054"/>
                  </a:lnTo>
                  <a:lnTo>
                    <a:pt x="637190" y="259922"/>
                  </a:lnTo>
                  <a:lnTo>
                    <a:pt x="600948" y="288131"/>
                  </a:lnTo>
                  <a:lnTo>
                    <a:pt x="566167" y="317641"/>
                  </a:lnTo>
                  <a:lnTo>
                    <a:pt x="532899" y="348410"/>
                  </a:lnTo>
                  <a:lnTo>
                    <a:pt x="501193" y="380398"/>
                  </a:lnTo>
                  <a:lnTo>
                    <a:pt x="471101" y="413563"/>
                  </a:lnTo>
                  <a:lnTo>
                    <a:pt x="442672" y="447865"/>
                  </a:lnTo>
                  <a:lnTo>
                    <a:pt x="415957" y="483262"/>
                  </a:lnTo>
                  <a:lnTo>
                    <a:pt x="391008" y="519714"/>
                  </a:lnTo>
                  <a:lnTo>
                    <a:pt x="367873" y="557179"/>
                  </a:lnTo>
                  <a:lnTo>
                    <a:pt x="346604" y="595616"/>
                  </a:lnTo>
                  <a:lnTo>
                    <a:pt x="327252" y="634984"/>
                  </a:lnTo>
                  <a:lnTo>
                    <a:pt x="309866" y="675243"/>
                  </a:lnTo>
                  <a:lnTo>
                    <a:pt x="294498" y="716351"/>
                  </a:lnTo>
                  <a:lnTo>
                    <a:pt x="281197" y="758268"/>
                  </a:lnTo>
                  <a:lnTo>
                    <a:pt x="270014" y="800952"/>
                  </a:lnTo>
                  <a:lnTo>
                    <a:pt x="261001" y="844361"/>
                  </a:lnTo>
                  <a:lnTo>
                    <a:pt x="254206" y="888457"/>
                  </a:lnTo>
                  <a:lnTo>
                    <a:pt x="249681" y="933196"/>
                  </a:lnTo>
                  <a:lnTo>
                    <a:pt x="0" y="914400"/>
                  </a:lnTo>
                  <a:lnTo>
                    <a:pt x="4484" y="870010"/>
                  </a:lnTo>
                  <a:lnTo>
                    <a:pt x="11189" y="826288"/>
                  </a:lnTo>
                  <a:lnTo>
                    <a:pt x="20064" y="783269"/>
                  </a:lnTo>
                  <a:lnTo>
                    <a:pt x="31058" y="740992"/>
                  </a:lnTo>
                  <a:lnTo>
                    <a:pt x="44120" y="699493"/>
                  </a:lnTo>
                  <a:lnTo>
                    <a:pt x="59200" y="658809"/>
                  </a:lnTo>
                  <a:lnTo>
                    <a:pt x="76247" y="618977"/>
                  </a:lnTo>
                  <a:lnTo>
                    <a:pt x="95210" y="580035"/>
                  </a:lnTo>
                  <a:lnTo>
                    <a:pt x="116038" y="542019"/>
                  </a:lnTo>
                  <a:lnTo>
                    <a:pt x="138681" y="504966"/>
                  </a:lnTo>
                  <a:lnTo>
                    <a:pt x="163087" y="468913"/>
                  </a:lnTo>
                  <a:lnTo>
                    <a:pt x="189206" y="433898"/>
                  </a:lnTo>
                  <a:lnTo>
                    <a:pt x="216987" y="399957"/>
                  </a:lnTo>
                  <a:lnTo>
                    <a:pt x="246380" y="367127"/>
                  </a:lnTo>
                  <a:lnTo>
                    <a:pt x="277333" y="335446"/>
                  </a:lnTo>
                  <a:lnTo>
                    <a:pt x="309795" y="304950"/>
                  </a:lnTo>
                  <a:lnTo>
                    <a:pt x="343717" y="275677"/>
                  </a:lnTo>
                  <a:lnTo>
                    <a:pt x="379047" y="247663"/>
                  </a:lnTo>
                  <a:lnTo>
                    <a:pt x="415734" y="220946"/>
                  </a:lnTo>
                  <a:lnTo>
                    <a:pt x="453728" y="195562"/>
                  </a:lnTo>
                  <a:lnTo>
                    <a:pt x="492977" y="171549"/>
                  </a:lnTo>
                  <a:lnTo>
                    <a:pt x="533432" y="148943"/>
                  </a:lnTo>
                  <a:lnTo>
                    <a:pt x="575040" y="127782"/>
                  </a:lnTo>
                  <a:lnTo>
                    <a:pt x="617752" y="108102"/>
                  </a:lnTo>
                  <a:lnTo>
                    <a:pt x="661517" y="89941"/>
                  </a:lnTo>
                  <a:lnTo>
                    <a:pt x="706284" y="73336"/>
                  </a:lnTo>
                  <a:lnTo>
                    <a:pt x="752002" y="58323"/>
                  </a:lnTo>
                  <a:lnTo>
                    <a:pt x="798620" y="44940"/>
                  </a:lnTo>
                  <a:lnTo>
                    <a:pt x="846087" y="33224"/>
                  </a:lnTo>
                  <a:lnTo>
                    <a:pt x="894353" y="23211"/>
                  </a:lnTo>
                  <a:lnTo>
                    <a:pt x="943368" y="14939"/>
                  </a:lnTo>
                  <a:lnTo>
                    <a:pt x="993079" y="8445"/>
                  </a:lnTo>
                  <a:lnTo>
                    <a:pt x="1043436" y="3766"/>
                  </a:lnTo>
                  <a:lnTo>
                    <a:pt x="1094390" y="938"/>
                  </a:lnTo>
                  <a:lnTo>
                    <a:pt x="1145887" y="0"/>
                  </a:lnTo>
                  <a:lnTo>
                    <a:pt x="1197879" y="987"/>
                  </a:lnTo>
                  <a:lnTo>
                    <a:pt x="1250314" y="3937"/>
                  </a:lnTo>
                  <a:lnTo>
                    <a:pt x="1499869" y="22606"/>
                  </a:lnTo>
                  <a:lnTo>
                    <a:pt x="1551514" y="27435"/>
                  </a:lnTo>
                  <a:lnTo>
                    <a:pt x="1602551" y="34126"/>
                  </a:lnTo>
                  <a:lnTo>
                    <a:pt x="1652929" y="42639"/>
                  </a:lnTo>
                  <a:lnTo>
                    <a:pt x="1702595" y="52935"/>
                  </a:lnTo>
                  <a:lnTo>
                    <a:pt x="1751498" y="64976"/>
                  </a:lnTo>
                  <a:lnTo>
                    <a:pt x="1799583" y="78722"/>
                  </a:lnTo>
                  <a:lnTo>
                    <a:pt x="1846800" y="94134"/>
                  </a:lnTo>
                  <a:lnTo>
                    <a:pt x="1893096" y="111174"/>
                  </a:lnTo>
                  <a:lnTo>
                    <a:pt x="1938418" y="129803"/>
                  </a:lnTo>
                  <a:lnTo>
                    <a:pt x="1982714" y="149982"/>
                  </a:lnTo>
                  <a:lnTo>
                    <a:pt x="2025932" y="171672"/>
                  </a:lnTo>
                  <a:lnTo>
                    <a:pt x="2068019" y="194834"/>
                  </a:lnTo>
                  <a:lnTo>
                    <a:pt x="2108923" y="219429"/>
                  </a:lnTo>
                  <a:lnTo>
                    <a:pt x="2148591" y="245419"/>
                  </a:lnTo>
                  <a:lnTo>
                    <a:pt x="2186971" y="272764"/>
                  </a:lnTo>
                  <a:lnTo>
                    <a:pt x="2224011" y="301426"/>
                  </a:lnTo>
                  <a:lnTo>
                    <a:pt x="2259659" y="331365"/>
                  </a:lnTo>
                  <a:lnTo>
                    <a:pt x="2293861" y="362543"/>
                  </a:lnTo>
                  <a:lnTo>
                    <a:pt x="2326566" y="394921"/>
                  </a:lnTo>
                  <a:lnTo>
                    <a:pt x="2357722" y="428460"/>
                  </a:lnTo>
                  <a:lnTo>
                    <a:pt x="2387275" y="463121"/>
                  </a:lnTo>
                  <a:lnTo>
                    <a:pt x="2415173" y="498866"/>
                  </a:lnTo>
                  <a:lnTo>
                    <a:pt x="2441365" y="535654"/>
                  </a:lnTo>
                  <a:lnTo>
                    <a:pt x="2465797" y="573448"/>
                  </a:lnTo>
                  <a:lnTo>
                    <a:pt x="2488418" y="612209"/>
                  </a:lnTo>
                  <a:lnTo>
                    <a:pt x="2509174" y="651898"/>
                  </a:lnTo>
                  <a:lnTo>
                    <a:pt x="2528014" y="692475"/>
                  </a:lnTo>
                  <a:lnTo>
                    <a:pt x="2544885" y="733902"/>
                  </a:lnTo>
                  <a:lnTo>
                    <a:pt x="2559735" y="776140"/>
                  </a:lnTo>
                  <a:lnTo>
                    <a:pt x="2572512" y="819150"/>
                  </a:lnTo>
                  <a:lnTo>
                    <a:pt x="2697352" y="828421"/>
                  </a:lnTo>
                  <a:lnTo>
                    <a:pt x="2475738" y="1099947"/>
                  </a:lnTo>
                  <a:lnTo>
                    <a:pt x="2198116" y="791083"/>
                  </a:lnTo>
                  <a:lnTo>
                    <a:pt x="2322957" y="800354"/>
                  </a:lnTo>
                  <a:lnTo>
                    <a:pt x="2310168" y="757356"/>
                  </a:lnTo>
                  <a:lnTo>
                    <a:pt x="2295306" y="715129"/>
                  </a:lnTo>
                  <a:lnTo>
                    <a:pt x="2278425" y="673713"/>
                  </a:lnTo>
                  <a:lnTo>
                    <a:pt x="2259575" y="633146"/>
                  </a:lnTo>
                  <a:lnTo>
                    <a:pt x="2238810" y="593467"/>
                  </a:lnTo>
                  <a:lnTo>
                    <a:pt x="2216181" y="554714"/>
                  </a:lnTo>
                  <a:lnTo>
                    <a:pt x="2191742" y="516928"/>
                  </a:lnTo>
                  <a:lnTo>
                    <a:pt x="2165544" y="480147"/>
                  </a:lnTo>
                  <a:lnTo>
                    <a:pt x="2137640" y="444409"/>
                  </a:lnTo>
                  <a:lnTo>
                    <a:pt x="2108082" y="409754"/>
                  </a:lnTo>
                  <a:lnTo>
                    <a:pt x="2076923" y="376220"/>
                  </a:lnTo>
                  <a:lnTo>
                    <a:pt x="2044215" y="343847"/>
                  </a:lnTo>
                  <a:lnTo>
                    <a:pt x="2010010" y="312673"/>
                  </a:lnTo>
                  <a:lnTo>
                    <a:pt x="1974362" y="282737"/>
                  </a:lnTo>
                  <a:lnTo>
                    <a:pt x="1937321" y="254079"/>
                  </a:lnTo>
                  <a:lnTo>
                    <a:pt x="1898941" y="226737"/>
                  </a:lnTo>
                  <a:lnTo>
                    <a:pt x="1859274" y="200750"/>
                  </a:lnTo>
                  <a:lnTo>
                    <a:pt x="1818372" y="176157"/>
                  </a:lnTo>
                  <a:lnTo>
                    <a:pt x="1776288" y="152997"/>
                  </a:lnTo>
                  <a:lnTo>
                    <a:pt x="1733074" y="131308"/>
                  </a:lnTo>
                  <a:lnTo>
                    <a:pt x="1688783" y="111131"/>
                  </a:lnTo>
                  <a:lnTo>
                    <a:pt x="1643466" y="92503"/>
                  </a:lnTo>
                  <a:lnTo>
                    <a:pt x="1597177" y="75463"/>
                  </a:lnTo>
                  <a:lnTo>
                    <a:pt x="1549967" y="60051"/>
                  </a:lnTo>
                  <a:lnTo>
                    <a:pt x="1501890" y="46306"/>
                  </a:lnTo>
                  <a:lnTo>
                    <a:pt x="1452996" y="34266"/>
                  </a:lnTo>
                  <a:lnTo>
                    <a:pt x="1403340" y="23970"/>
                  </a:lnTo>
                  <a:lnTo>
                    <a:pt x="1352972" y="15457"/>
                  </a:lnTo>
                  <a:lnTo>
                    <a:pt x="1301947" y="8766"/>
                  </a:lnTo>
                  <a:lnTo>
                    <a:pt x="1250314" y="3937"/>
                  </a:lnTo>
                </a:path>
              </a:pathLst>
            </a:custGeom>
            <a:ln w="12700">
              <a:solidFill>
                <a:srgbClr val="C00000"/>
              </a:solidFill>
            </a:ln>
          </p:spPr>
          <p:txBody>
            <a:bodyPr wrap="square" lIns="0" tIns="0" rIns="0" bIns="0" rtlCol="0"/>
            <a:lstStyle/>
            <a:p>
              <a:endParaRPr sz="9600"/>
            </a:p>
          </p:txBody>
        </p:sp>
      </p:grpSp>
      <p:pic>
        <p:nvPicPr>
          <p:cNvPr id="11" name="object 11"/>
          <p:cNvPicPr/>
          <p:nvPr/>
        </p:nvPicPr>
        <p:blipFill>
          <a:blip r:embed="rId2" cstate="print"/>
          <a:stretch>
            <a:fillRect/>
          </a:stretch>
        </p:blipFill>
        <p:spPr>
          <a:xfrm>
            <a:off x="11883090" y="3643311"/>
            <a:ext cx="2247900" cy="2247900"/>
          </a:xfrm>
          <a:prstGeom prst="rect">
            <a:avLst/>
          </a:prstGeom>
        </p:spPr>
      </p:pic>
      <p:sp>
        <p:nvSpPr>
          <p:cNvPr id="14" name="object 14"/>
          <p:cNvSpPr txBox="1"/>
          <p:nvPr/>
        </p:nvSpPr>
        <p:spPr>
          <a:xfrm>
            <a:off x="11758168" y="9265285"/>
            <a:ext cx="11541760" cy="1577355"/>
          </a:xfrm>
          <a:prstGeom prst="rect">
            <a:avLst/>
          </a:prstGeom>
        </p:spPr>
        <p:txBody>
          <a:bodyPr vert="horz" wrap="square" lIns="0" tIns="25400" rIns="0" bIns="0" rtlCol="0">
            <a:spAutoFit/>
          </a:bodyPr>
          <a:lstStyle/>
          <a:p>
            <a:pPr marL="25400">
              <a:lnSpc>
                <a:spcPts val="4110"/>
              </a:lnSpc>
              <a:spcBef>
                <a:spcPts val="200"/>
              </a:spcBef>
            </a:pPr>
            <a:r>
              <a:rPr sz="3600" spc="-40" dirty="0">
                <a:solidFill>
                  <a:srgbClr val="002D5F"/>
                </a:solidFill>
                <a:latin typeface="Calibri"/>
                <a:cs typeface="Calibri"/>
              </a:rPr>
              <a:t>(You</a:t>
            </a:r>
            <a:r>
              <a:rPr sz="3600" spc="-50" dirty="0">
                <a:solidFill>
                  <a:srgbClr val="002D5F"/>
                </a:solidFill>
                <a:latin typeface="Calibri"/>
                <a:cs typeface="Calibri"/>
              </a:rPr>
              <a:t> </a:t>
            </a:r>
            <a:r>
              <a:rPr sz="3600" dirty="0">
                <a:solidFill>
                  <a:srgbClr val="002D5F"/>
                </a:solidFill>
                <a:latin typeface="Calibri"/>
                <a:cs typeface="Calibri"/>
              </a:rPr>
              <a:t>can</a:t>
            </a:r>
            <a:r>
              <a:rPr sz="3600" spc="-50" dirty="0">
                <a:solidFill>
                  <a:srgbClr val="002D5F"/>
                </a:solidFill>
                <a:latin typeface="Calibri"/>
                <a:cs typeface="Calibri"/>
              </a:rPr>
              <a:t> </a:t>
            </a:r>
            <a:r>
              <a:rPr sz="3600" dirty="0">
                <a:solidFill>
                  <a:srgbClr val="002D5F"/>
                </a:solidFill>
                <a:latin typeface="Calibri"/>
                <a:cs typeface="Calibri"/>
              </a:rPr>
              <a:t>try</a:t>
            </a:r>
            <a:r>
              <a:rPr sz="3600" spc="-90" dirty="0">
                <a:solidFill>
                  <a:srgbClr val="002D5F"/>
                </a:solidFill>
                <a:latin typeface="Calibri"/>
                <a:cs typeface="Calibri"/>
              </a:rPr>
              <a:t> </a:t>
            </a:r>
            <a:r>
              <a:rPr sz="3600" dirty="0">
                <a:solidFill>
                  <a:srgbClr val="002D5F"/>
                </a:solidFill>
                <a:latin typeface="Calibri"/>
                <a:cs typeface="Calibri"/>
              </a:rPr>
              <a:t>this</a:t>
            </a:r>
            <a:r>
              <a:rPr sz="3600" spc="-160" dirty="0">
                <a:solidFill>
                  <a:srgbClr val="002D5F"/>
                </a:solidFill>
                <a:latin typeface="Calibri"/>
                <a:cs typeface="Calibri"/>
              </a:rPr>
              <a:t> </a:t>
            </a:r>
            <a:r>
              <a:rPr sz="3600" dirty="0">
                <a:solidFill>
                  <a:srgbClr val="002D5F"/>
                </a:solidFill>
                <a:latin typeface="Calibri"/>
                <a:cs typeface="Calibri"/>
              </a:rPr>
              <a:t>out.</a:t>
            </a:r>
            <a:r>
              <a:rPr sz="3600" spc="-120" dirty="0">
                <a:solidFill>
                  <a:srgbClr val="002D5F"/>
                </a:solidFill>
                <a:latin typeface="Calibri"/>
                <a:cs typeface="Calibri"/>
              </a:rPr>
              <a:t> </a:t>
            </a:r>
            <a:r>
              <a:rPr sz="3600" dirty="0">
                <a:solidFill>
                  <a:srgbClr val="002D5F"/>
                </a:solidFill>
                <a:latin typeface="Calibri"/>
                <a:cs typeface="Calibri"/>
              </a:rPr>
              <a:t>If</a:t>
            </a:r>
            <a:r>
              <a:rPr sz="3600" spc="-20" dirty="0">
                <a:solidFill>
                  <a:srgbClr val="002D5F"/>
                </a:solidFill>
                <a:latin typeface="Calibri"/>
                <a:cs typeface="Calibri"/>
              </a:rPr>
              <a:t> </a:t>
            </a:r>
            <a:r>
              <a:rPr sz="3600" dirty="0">
                <a:solidFill>
                  <a:srgbClr val="002D5F"/>
                </a:solidFill>
                <a:latin typeface="Calibri"/>
                <a:cs typeface="Calibri"/>
              </a:rPr>
              <a:t>you</a:t>
            </a:r>
            <a:r>
              <a:rPr sz="3600" spc="100" dirty="0">
                <a:solidFill>
                  <a:srgbClr val="002D5F"/>
                </a:solidFill>
                <a:latin typeface="Calibri"/>
                <a:cs typeface="Calibri"/>
              </a:rPr>
              <a:t> </a:t>
            </a:r>
            <a:r>
              <a:rPr sz="3600" dirty="0">
                <a:solidFill>
                  <a:srgbClr val="002D5F"/>
                </a:solidFill>
                <a:latin typeface="Calibri"/>
                <a:cs typeface="Calibri"/>
              </a:rPr>
              <a:t>open</a:t>
            </a:r>
            <a:r>
              <a:rPr sz="3600" spc="-40" dirty="0">
                <a:solidFill>
                  <a:srgbClr val="002D5F"/>
                </a:solidFill>
                <a:latin typeface="Calibri"/>
                <a:cs typeface="Calibri"/>
              </a:rPr>
              <a:t> </a:t>
            </a:r>
            <a:r>
              <a:rPr sz="3600" dirty="0">
                <a:solidFill>
                  <a:srgbClr val="002D5F"/>
                </a:solidFill>
                <a:latin typeface="Calibri"/>
                <a:cs typeface="Calibri"/>
              </a:rPr>
              <a:t>Notepad</a:t>
            </a:r>
            <a:r>
              <a:rPr sz="3600" spc="-50" dirty="0">
                <a:solidFill>
                  <a:srgbClr val="002D5F"/>
                </a:solidFill>
                <a:latin typeface="Calibri"/>
                <a:cs typeface="Calibri"/>
              </a:rPr>
              <a:t> </a:t>
            </a:r>
            <a:r>
              <a:rPr sz="3600" dirty="0">
                <a:solidFill>
                  <a:srgbClr val="002D5F"/>
                </a:solidFill>
                <a:latin typeface="Calibri"/>
                <a:cs typeface="Calibri"/>
              </a:rPr>
              <a:t>or</a:t>
            </a:r>
            <a:r>
              <a:rPr sz="3600" spc="-20" dirty="0">
                <a:solidFill>
                  <a:srgbClr val="002D5F"/>
                </a:solidFill>
                <a:latin typeface="Calibri"/>
                <a:cs typeface="Calibri"/>
              </a:rPr>
              <a:t> TextEdit</a:t>
            </a:r>
            <a:endParaRPr sz="3600" dirty="0">
              <a:latin typeface="Calibri"/>
              <a:cs typeface="Calibri"/>
            </a:endParaRPr>
          </a:p>
          <a:p>
            <a:pPr marL="25400" marR="10160">
              <a:lnSpc>
                <a:spcPts val="3760"/>
              </a:lnSpc>
              <a:spcBef>
                <a:spcPts val="390"/>
              </a:spcBef>
            </a:pPr>
            <a:r>
              <a:rPr sz="3600" dirty="0">
                <a:solidFill>
                  <a:srgbClr val="002D5F"/>
                </a:solidFill>
                <a:latin typeface="Calibri"/>
                <a:cs typeface="Calibri"/>
              </a:rPr>
              <a:t>and</a:t>
            </a:r>
            <a:r>
              <a:rPr sz="3600" spc="-70" dirty="0">
                <a:solidFill>
                  <a:srgbClr val="002D5F"/>
                </a:solidFill>
                <a:latin typeface="Calibri"/>
                <a:cs typeface="Calibri"/>
              </a:rPr>
              <a:t> </a:t>
            </a:r>
            <a:r>
              <a:rPr sz="3600" dirty="0">
                <a:solidFill>
                  <a:srgbClr val="002D5F"/>
                </a:solidFill>
                <a:latin typeface="Calibri"/>
                <a:cs typeface="Calibri"/>
              </a:rPr>
              <a:t>type</a:t>
            </a:r>
            <a:r>
              <a:rPr sz="3600" spc="-110" dirty="0">
                <a:solidFill>
                  <a:srgbClr val="002D5F"/>
                </a:solidFill>
                <a:latin typeface="Calibri"/>
                <a:cs typeface="Calibri"/>
              </a:rPr>
              <a:t> </a:t>
            </a:r>
            <a:r>
              <a:rPr sz="3600" dirty="0">
                <a:solidFill>
                  <a:srgbClr val="002D5F"/>
                </a:solidFill>
                <a:latin typeface="Calibri"/>
                <a:cs typeface="Calibri"/>
              </a:rPr>
              <a:t>these</a:t>
            </a:r>
            <a:r>
              <a:rPr sz="3600" spc="30" dirty="0">
                <a:solidFill>
                  <a:srgbClr val="002D5F"/>
                </a:solidFill>
                <a:latin typeface="Calibri"/>
                <a:cs typeface="Calibri"/>
              </a:rPr>
              <a:t> </a:t>
            </a:r>
            <a:r>
              <a:rPr sz="3600" dirty="0">
                <a:solidFill>
                  <a:srgbClr val="002D5F"/>
                </a:solidFill>
                <a:latin typeface="Calibri"/>
                <a:cs typeface="Calibri"/>
              </a:rPr>
              <a:t>and</a:t>
            </a:r>
            <a:r>
              <a:rPr sz="3600" spc="-70" dirty="0">
                <a:solidFill>
                  <a:srgbClr val="002D5F"/>
                </a:solidFill>
                <a:latin typeface="Calibri"/>
                <a:cs typeface="Calibri"/>
              </a:rPr>
              <a:t> </a:t>
            </a:r>
            <a:r>
              <a:rPr sz="3600" dirty="0">
                <a:solidFill>
                  <a:srgbClr val="002D5F"/>
                </a:solidFill>
                <a:latin typeface="Calibri"/>
                <a:cs typeface="Calibri"/>
              </a:rPr>
              <a:t>save</a:t>
            </a:r>
            <a:r>
              <a:rPr sz="3600" spc="30" dirty="0">
                <a:solidFill>
                  <a:srgbClr val="002D5F"/>
                </a:solidFill>
                <a:latin typeface="Calibri"/>
                <a:cs typeface="Calibri"/>
              </a:rPr>
              <a:t> </a:t>
            </a:r>
            <a:r>
              <a:rPr sz="3600" dirty="0">
                <a:solidFill>
                  <a:srgbClr val="002D5F"/>
                </a:solidFill>
                <a:latin typeface="Calibri"/>
                <a:cs typeface="Calibri"/>
              </a:rPr>
              <a:t>it</a:t>
            </a:r>
            <a:r>
              <a:rPr sz="3600" spc="10" dirty="0">
                <a:solidFill>
                  <a:srgbClr val="002D5F"/>
                </a:solidFill>
                <a:latin typeface="Calibri"/>
                <a:cs typeface="Calibri"/>
              </a:rPr>
              <a:t> </a:t>
            </a:r>
            <a:r>
              <a:rPr sz="3600" dirty="0">
                <a:solidFill>
                  <a:srgbClr val="002D5F"/>
                </a:solidFill>
                <a:latin typeface="Calibri"/>
                <a:cs typeface="Calibri"/>
              </a:rPr>
              <a:t>as</a:t>
            </a:r>
            <a:r>
              <a:rPr sz="3600" spc="-40" dirty="0">
                <a:solidFill>
                  <a:srgbClr val="002D5F"/>
                </a:solidFill>
                <a:latin typeface="Calibri"/>
                <a:cs typeface="Calibri"/>
              </a:rPr>
              <a:t> </a:t>
            </a:r>
            <a:r>
              <a:rPr sz="3600" spc="-50" dirty="0">
                <a:solidFill>
                  <a:srgbClr val="002D5F"/>
                </a:solidFill>
                <a:latin typeface="Calibri"/>
                <a:cs typeface="Calibri"/>
              </a:rPr>
              <a:t>“test.html”.</a:t>
            </a:r>
            <a:r>
              <a:rPr sz="3600" spc="-130" dirty="0">
                <a:solidFill>
                  <a:srgbClr val="002D5F"/>
                </a:solidFill>
                <a:latin typeface="Calibri"/>
                <a:cs typeface="Calibri"/>
              </a:rPr>
              <a:t> </a:t>
            </a:r>
            <a:r>
              <a:rPr sz="3600" spc="-40" dirty="0">
                <a:solidFill>
                  <a:srgbClr val="002D5F"/>
                </a:solidFill>
                <a:latin typeface="Calibri"/>
                <a:cs typeface="Calibri"/>
              </a:rPr>
              <a:t>You</a:t>
            </a:r>
            <a:r>
              <a:rPr sz="3600" spc="-60" dirty="0">
                <a:solidFill>
                  <a:srgbClr val="002D5F"/>
                </a:solidFill>
                <a:latin typeface="Calibri"/>
                <a:cs typeface="Calibri"/>
              </a:rPr>
              <a:t> </a:t>
            </a:r>
            <a:r>
              <a:rPr sz="3600" dirty="0">
                <a:solidFill>
                  <a:srgbClr val="002D5F"/>
                </a:solidFill>
                <a:latin typeface="Calibri"/>
                <a:cs typeface="Calibri"/>
              </a:rPr>
              <a:t>can</a:t>
            </a:r>
            <a:r>
              <a:rPr sz="3600" spc="70" dirty="0">
                <a:solidFill>
                  <a:srgbClr val="002D5F"/>
                </a:solidFill>
                <a:latin typeface="Calibri"/>
                <a:cs typeface="Calibri"/>
              </a:rPr>
              <a:t> </a:t>
            </a:r>
            <a:r>
              <a:rPr sz="3600" dirty="0">
                <a:solidFill>
                  <a:srgbClr val="002D5F"/>
                </a:solidFill>
                <a:latin typeface="Calibri"/>
                <a:cs typeface="Calibri"/>
              </a:rPr>
              <a:t>open</a:t>
            </a:r>
            <a:r>
              <a:rPr sz="3600" spc="-50" dirty="0">
                <a:solidFill>
                  <a:srgbClr val="002D5F"/>
                </a:solidFill>
                <a:latin typeface="Calibri"/>
                <a:cs typeface="Calibri"/>
              </a:rPr>
              <a:t> </a:t>
            </a:r>
            <a:r>
              <a:rPr sz="3600" dirty="0">
                <a:solidFill>
                  <a:srgbClr val="002D5F"/>
                </a:solidFill>
                <a:latin typeface="Calibri"/>
                <a:cs typeface="Calibri"/>
              </a:rPr>
              <a:t>it</a:t>
            </a:r>
            <a:r>
              <a:rPr sz="3600" spc="-130" dirty="0">
                <a:solidFill>
                  <a:srgbClr val="002D5F"/>
                </a:solidFill>
                <a:latin typeface="Calibri"/>
                <a:cs typeface="Calibri"/>
              </a:rPr>
              <a:t> </a:t>
            </a:r>
            <a:r>
              <a:rPr sz="3600" spc="-40" dirty="0">
                <a:solidFill>
                  <a:srgbClr val="002D5F"/>
                </a:solidFill>
                <a:latin typeface="Calibri"/>
                <a:cs typeface="Calibri"/>
              </a:rPr>
              <a:t>with </a:t>
            </a:r>
            <a:r>
              <a:rPr sz="3600" dirty="0">
                <a:solidFill>
                  <a:srgbClr val="002D5F"/>
                </a:solidFill>
                <a:latin typeface="Calibri"/>
                <a:cs typeface="Calibri"/>
              </a:rPr>
              <a:t>your</a:t>
            </a:r>
            <a:r>
              <a:rPr sz="3600" spc="-40" dirty="0">
                <a:solidFill>
                  <a:srgbClr val="002D5F"/>
                </a:solidFill>
                <a:latin typeface="Calibri"/>
                <a:cs typeface="Calibri"/>
              </a:rPr>
              <a:t> </a:t>
            </a:r>
            <a:r>
              <a:rPr sz="3600" spc="-20" dirty="0">
                <a:solidFill>
                  <a:srgbClr val="002D5F"/>
                </a:solidFill>
                <a:latin typeface="Calibri"/>
                <a:cs typeface="Calibri"/>
              </a:rPr>
              <a:t>browser.)</a:t>
            </a:r>
            <a:endParaRPr sz="3600" dirty="0">
              <a:latin typeface="Calibri"/>
              <a:cs typeface="Calibri"/>
            </a:endParaRPr>
          </a:p>
        </p:txBody>
      </p:sp>
      <p:sp>
        <p:nvSpPr>
          <p:cNvPr id="16" name="Title 6">
            <a:extLst>
              <a:ext uri="{FF2B5EF4-FFF2-40B4-BE49-F238E27FC236}">
                <a16:creationId xmlns:a16="http://schemas.microsoft.com/office/drawing/2014/main" id="{6B2A1F48-B545-4750-83CD-3660EF83FC19}"/>
              </a:ext>
            </a:extLst>
          </p:cNvPr>
          <p:cNvSpPr txBox="1">
            <a:spLocks/>
          </p:cNvSpPr>
          <p:nvPr/>
        </p:nvSpPr>
        <p:spPr>
          <a:xfrm>
            <a:off x="1200251" y="1204188"/>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hangingPunct="1"/>
            <a:r>
              <a:rPr lang="en-US"/>
              <a:t>HTML Basics</a:t>
            </a:r>
            <a:endParaRPr lang="en-US" dirty="0"/>
          </a:p>
        </p:txBody>
      </p:sp>
      <p:sp>
        <p:nvSpPr>
          <p:cNvPr id="18" name="TextBox 17">
            <a:extLst>
              <a:ext uri="{FF2B5EF4-FFF2-40B4-BE49-F238E27FC236}">
                <a16:creationId xmlns:a16="http://schemas.microsoft.com/office/drawing/2014/main" id="{CEFED272-08C6-959C-55FB-8FDB2463428B}"/>
              </a:ext>
            </a:extLst>
          </p:cNvPr>
          <p:cNvSpPr txBox="1"/>
          <p:nvPr/>
        </p:nvSpPr>
        <p:spPr>
          <a:xfrm>
            <a:off x="1477959" y="2490789"/>
            <a:ext cx="22392694"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0000"/>
              </a:lnSpc>
            </a:pPr>
            <a:r>
              <a:rPr lang="en-GB" dirty="0"/>
              <a:t>If</a:t>
            </a:r>
            <a:r>
              <a:rPr lang="en-GB" spc="-80" dirty="0"/>
              <a:t> </a:t>
            </a:r>
            <a:r>
              <a:rPr lang="en-GB" spc="-50" dirty="0"/>
              <a:t>you </a:t>
            </a:r>
            <a:r>
              <a:rPr lang="en-GB" dirty="0"/>
              <a:t>go</a:t>
            </a:r>
            <a:r>
              <a:rPr lang="en-GB" spc="-100" dirty="0"/>
              <a:t> </a:t>
            </a:r>
            <a:r>
              <a:rPr lang="en-GB" dirty="0"/>
              <a:t>to</a:t>
            </a:r>
            <a:r>
              <a:rPr lang="en-GB" spc="-100" dirty="0"/>
              <a:t> </a:t>
            </a:r>
            <a:r>
              <a:rPr lang="en-GB" dirty="0"/>
              <a:t>your</a:t>
            </a:r>
            <a:r>
              <a:rPr lang="en-GB" spc="-120" dirty="0"/>
              <a:t> </a:t>
            </a:r>
            <a:r>
              <a:rPr lang="en-GB" spc="-20" dirty="0"/>
              <a:t>favourite</a:t>
            </a:r>
            <a:r>
              <a:rPr lang="en-GB" spc="-110" dirty="0"/>
              <a:t> </a:t>
            </a:r>
            <a:r>
              <a:rPr lang="en-GB" dirty="0"/>
              <a:t>website</a:t>
            </a:r>
            <a:r>
              <a:rPr lang="en-GB" spc="20" dirty="0"/>
              <a:t> </a:t>
            </a:r>
            <a:r>
              <a:rPr lang="en-GB" dirty="0"/>
              <a:t>and</a:t>
            </a:r>
            <a:r>
              <a:rPr lang="en-GB" spc="-100" dirty="0"/>
              <a:t> </a:t>
            </a:r>
            <a:r>
              <a:rPr lang="en-GB" dirty="0"/>
              <a:t>hit</a:t>
            </a:r>
            <a:r>
              <a:rPr lang="en-GB" spc="-70" dirty="0"/>
              <a:t> </a:t>
            </a:r>
            <a:r>
              <a:rPr lang="en-GB" dirty="0"/>
              <a:t>Ctrl +</a:t>
            </a:r>
            <a:r>
              <a:rPr lang="en-GB" spc="-100" dirty="0"/>
              <a:t> </a:t>
            </a:r>
            <a:r>
              <a:rPr lang="en-GB" dirty="0"/>
              <a:t>U,</a:t>
            </a:r>
            <a:r>
              <a:rPr lang="en-GB" spc="-120" dirty="0"/>
              <a:t> </a:t>
            </a:r>
            <a:r>
              <a:rPr lang="en-GB" dirty="0"/>
              <a:t>you’ll</a:t>
            </a:r>
            <a:r>
              <a:rPr lang="en-GB" spc="-160" dirty="0"/>
              <a:t> </a:t>
            </a:r>
            <a:r>
              <a:rPr lang="en-GB" dirty="0"/>
              <a:t>see</a:t>
            </a:r>
            <a:r>
              <a:rPr lang="en-GB" spc="-110" dirty="0"/>
              <a:t> </a:t>
            </a:r>
            <a:r>
              <a:rPr lang="en-GB" dirty="0"/>
              <a:t>its</a:t>
            </a:r>
            <a:r>
              <a:rPr lang="en-GB" spc="-190" dirty="0"/>
              <a:t> </a:t>
            </a:r>
            <a:r>
              <a:rPr lang="en-GB" spc="-20" dirty="0"/>
              <a:t>HTML.</a:t>
            </a:r>
            <a:endParaRPr lang="en-US" dirty="0"/>
          </a:p>
        </p:txBody>
      </p:sp>
      <p:sp>
        <p:nvSpPr>
          <p:cNvPr id="19" name="object 3">
            <a:extLst>
              <a:ext uri="{FF2B5EF4-FFF2-40B4-BE49-F238E27FC236}">
                <a16:creationId xmlns:a16="http://schemas.microsoft.com/office/drawing/2014/main" id="{7F27A9CA-46D2-BD9A-7DE5-6C276ECC3418}"/>
              </a:ext>
            </a:extLst>
          </p:cNvPr>
          <p:cNvSpPr txBox="1">
            <a:spLocks/>
          </p:cNvSpPr>
          <p:nvPr/>
        </p:nvSpPr>
        <p:spPr>
          <a:xfrm>
            <a:off x="805058" y="5891211"/>
            <a:ext cx="8893616" cy="4950073"/>
          </a:xfrm>
          <a:prstGeom prst="rect">
            <a:avLst/>
          </a:prstGeom>
          <a:solidFill>
            <a:schemeClr val="tx1">
              <a:lumMod val="95000"/>
              <a:lumOff val="5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hangingPunct="1">
              <a:lnSpc>
                <a:spcPct val="100000"/>
              </a:lnSpc>
              <a:spcBef>
                <a:spcPts val="0"/>
              </a:spcBef>
              <a:buNone/>
            </a:pPr>
            <a:r>
              <a:rPr lang="en-GB" sz="3200" spc="-20" dirty="0">
                <a:solidFill>
                  <a:schemeClr val="bg1">
                    <a:lumMod val="95000"/>
                  </a:schemeClr>
                </a:solidFill>
                <a:latin typeface="Courier New"/>
                <a:cs typeface="Courier New"/>
              </a:rPr>
              <a:t>&lt;p&gt;</a:t>
            </a:r>
          </a:p>
          <a:p>
            <a:pPr marL="609600" lvl="1" indent="0" hangingPunct="1">
              <a:lnSpc>
                <a:spcPct val="100000"/>
              </a:lnSpc>
              <a:spcBef>
                <a:spcPts val="0"/>
              </a:spcBef>
              <a:buNone/>
            </a:pPr>
            <a:r>
              <a:rPr lang="en-GB" sz="3200" spc="-20" dirty="0">
                <a:solidFill>
                  <a:schemeClr val="bg1">
                    <a:lumMod val="95000"/>
                  </a:schemeClr>
                </a:solidFill>
                <a:latin typeface="Courier New"/>
                <a:cs typeface="Courier New"/>
              </a:rPr>
              <a:t>&lt;strong&gt;</a:t>
            </a:r>
          </a:p>
          <a:p>
            <a:pPr marL="1219200" lvl="2" indent="0" hangingPunct="1">
              <a:lnSpc>
                <a:spcPct val="100000"/>
              </a:lnSpc>
              <a:spcBef>
                <a:spcPts val="0"/>
              </a:spcBef>
              <a:buNone/>
            </a:pPr>
            <a:r>
              <a:rPr lang="en-GB" sz="3200" spc="-20" dirty="0">
                <a:solidFill>
                  <a:schemeClr val="bg1">
                    <a:lumMod val="95000"/>
                  </a:schemeClr>
                </a:solidFill>
                <a:latin typeface="Courier New"/>
                <a:cs typeface="Courier New"/>
              </a:rPr>
              <a:t>This is bold text.</a:t>
            </a:r>
          </a:p>
          <a:p>
            <a:pPr marL="1219200" lvl="2" indent="0" hangingPunct="1">
              <a:lnSpc>
                <a:spcPct val="100000"/>
              </a:lnSpc>
              <a:spcBef>
                <a:spcPts val="0"/>
              </a:spcBef>
              <a:buNone/>
            </a:pPr>
            <a:r>
              <a:rPr lang="en-GB" sz="3200" spc="-20" dirty="0">
                <a:solidFill>
                  <a:schemeClr val="bg1">
                    <a:lumMod val="95000"/>
                  </a:schemeClr>
                </a:solidFill>
                <a:latin typeface="Courier New"/>
                <a:cs typeface="Courier New"/>
              </a:rPr>
              <a:t>&lt;font </a:t>
            </a:r>
            <a:r>
              <a:rPr lang="en-GB" sz="3200" spc="-20" dirty="0" err="1">
                <a:solidFill>
                  <a:srgbClr val="FF0000"/>
                </a:solidFill>
                <a:latin typeface="Courier New"/>
                <a:cs typeface="Courier New"/>
              </a:rPr>
              <a:t>color</a:t>
            </a:r>
            <a:r>
              <a:rPr lang="en-GB" sz="3200" spc="-20" dirty="0">
                <a:latin typeface="Courier New"/>
                <a:cs typeface="Courier New"/>
              </a:rPr>
              <a:t>=</a:t>
            </a:r>
            <a:r>
              <a:rPr lang="en-GB" sz="3200" spc="-20" dirty="0">
                <a:solidFill>
                  <a:srgbClr val="00B050"/>
                </a:solidFill>
                <a:latin typeface="Courier New"/>
                <a:cs typeface="Courier New"/>
              </a:rPr>
              <a:t>“red”</a:t>
            </a:r>
            <a:r>
              <a:rPr lang="en-GB" sz="3200" spc="-20" dirty="0">
                <a:solidFill>
                  <a:schemeClr val="bg1">
                    <a:lumMod val="95000"/>
                  </a:schemeClr>
                </a:solidFill>
                <a:latin typeface="Courier New"/>
                <a:cs typeface="Courier New"/>
              </a:rPr>
              <a:t>&gt; </a:t>
            </a:r>
          </a:p>
          <a:p>
            <a:pPr marL="1219200" lvl="2" indent="0" hangingPunct="1">
              <a:lnSpc>
                <a:spcPct val="100000"/>
              </a:lnSpc>
              <a:spcBef>
                <a:spcPts val="0"/>
              </a:spcBef>
              <a:buNone/>
            </a:pPr>
            <a:r>
              <a:rPr lang="en-GB" sz="3200" spc="-20" dirty="0">
                <a:solidFill>
                  <a:schemeClr val="bg1">
                    <a:lumMod val="95000"/>
                  </a:schemeClr>
                </a:solidFill>
                <a:latin typeface="Courier New"/>
                <a:cs typeface="Courier New"/>
              </a:rPr>
              <a:t>I’m red and bold! &lt;/font&gt;</a:t>
            </a:r>
          </a:p>
          <a:p>
            <a:pPr marL="609600" lvl="1" indent="0" hangingPunct="1">
              <a:lnSpc>
                <a:spcPct val="100000"/>
              </a:lnSpc>
              <a:spcBef>
                <a:spcPts val="0"/>
              </a:spcBef>
              <a:buNone/>
            </a:pPr>
            <a:r>
              <a:rPr lang="en-GB" sz="3200" spc="-20" dirty="0">
                <a:solidFill>
                  <a:schemeClr val="bg1">
                    <a:lumMod val="95000"/>
                  </a:schemeClr>
                </a:solidFill>
                <a:latin typeface="Courier New"/>
                <a:cs typeface="Courier New"/>
              </a:rPr>
              <a:t>&lt;/strong&gt;</a:t>
            </a:r>
          </a:p>
          <a:p>
            <a:pPr marL="609600" lvl="1" indent="0" hangingPunct="1">
              <a:lnSpc>
                <a:spcPct val="100000"/>
              </a:lnSpc>
              <a:spcBef>
                <a:spcPts val="0"/>
              </a:spcBef>
              <a:buNone/>
            </a:pPr>
            <a:r>
              <a:rPr lang="en-GB" sz="3200" spc="-20" dirty="0">
                <a:solidFill>
                  <a:schemeClr val="bg1">
                    <a:lumMod val="95000"/>
                  </a:schemeClr>
                </a:solidFill>
                <a:latin typeface="Courier New"/>
                <a:cs typeface="Courier New"/>
              </a:rPr>
              <a:t>&lt;font </a:t>
            </a:r>
            <a:r>
              <a:rPr lang="en-GB" sz="3200" spc="-20" dirty="0" err="1">
                <a:solidFill>
                  <a:srgbClr val="FF0000"/>
                </a:solidFill>
                <a:latin typeface="Courier New"/>
                <a:cs typeface="Courier New"/>
              </a:rPr>
              <a:t>color</a:t>
            </a:r>
            <a:r>
              <a:rPr lang="en-GB" sz="3200" spc="-20" dirty="0">
                <a:latin typeface="Courier New"/>
                <a:cs typeface="Courier New"/>
              </a:rPr>
              <a:t>=</a:t>
            </a:r>
            <a:r>
              <a:rPr lang="en-GB" sz="3200" spc="-20" dirty="0">
                <a:solidFill>
                  <a:srgbClr val="00B050"/>
                </a:solidFill>
                <a:latin typeface="Courier New"/>
                <a:cs typeface="Courier New"/>
              </a:rPr>
              <a:t>“blue”</a:t>
            </a:r>
            <a:r>
              <a:rPr lang="en-GB" sz="3200" spc="-20" dirty="0">
                <a:solidFill>
                  <a:schemeClr val="bg1">
                    <a:lumMod val="95000"/>
                  </a:schemeClr>
                </a:solidFill>
                <a:latin typeface="Courier New"/>
                <a:cs typeface="Courier New"/>
              </a:rPr>
              <a:t>&gt;</a:t>
            </a:r>
          </a:p>
          <a:p>
            <a:pPr marL="1219200" lvl="2" indent="0" hangingPunct="1">
              <a:lnSpc>
                <a:spcPct val="100000"/>
              </a:lnSpc>
              <a:spcBef>
                <a:spcPts val="0"/>
              </a:spcBef>
              <a:buNone/>
            </a:pPr>
            <a:r>
              <a:rPr lang="en-GB" sz="3200" spc="-20" dirty="0">
                <a:solidFill>
                  <a:schemeClr val="bg1">
                    <a:lumMod val="95000"/>
                  </a:schemeClr>
                </a:solidFill>
                <a:latin typeface="Courier New"/>
                <a:cs typeface="Courier New"/>
              </a:rPr>
              <a:t>I’m not bold and blue.</a:t>
            </a:r>
          </a:p>
          <a:p>
            <a:pPr marL="609600" lvl="1" indent="0" hangingPunct="1">
              <a:lnSpc>
                <a:spcPct val="100000"/>
              </a:lnSpc>
              <a:spcBef>
                <a:spcPts val="0"/>
              </a:spcBef>
              <a:buNone/>
            </a:pPr>
            <a:r>
              <a:rPr lang="en-GB" sz="3200" spc="-20" dirty="0">
                <a:solidFill>
                  <a:schemeClr val="bg1">
                    <a:lumMod val="95000"/>
                  </a:schemeClr>
                </a:solidFill>
                <a:latin typeface="Courier New"/>
                <a:cs typeface="Courier New"/>
              </a:rPr>
              <a:t>&lt;/font&gt;</a:t>
            </a:r>
          </a:p>
          <a:p>
            <a:pPr marL="0" indent="0" hangingPunct="1">
              <a:lnSpc>
                <a:spcPct val="100000"/>
              </a:lnSpc>
              <a:spcBef>
                <a:spcPts val="0"/>
              </a:spcBef>
              <a:buNone/>
            </a:pPr>
            <a:r>
              <a:rPr lang="en-GB" sz="3200" spc="-20" dirty="0">
                <a:solidFill>
                  <a:schemeClr val="bg1">
                    <a:lumMod val="95000"/>
                  </a:schemeClr>
                </a:solidFill>
                <a:latin typeface="Courier New"/>
                <a:cs typeface="Courier New"/>
              </a:rPr>
              <a:t>&lt;/p&gt;</a:t>
            </a:r>
          </a:p>
        </p:txBody>
      </p:sp>
      <p:pic>
        <p:nvPicPr>
          <p:cNvPr id="20" name="object 7">
            <a:extLst>
              <a:ext uri="{FF2B5EF4-FFF2-40B4-BE49-F238E27FC236}">
                <a16:creationId xmlns:a16="http://schemas.microsoft.com/office/drawing/2014/main" id="{22F030DB-BC4C-E94F-049B-67659652C61B}"/>
              </a:ext>
            </a:extLst>
          </p:cNvPr>
          <p:cNvPicPr/>
          <p:nvPr/>
        </p:nvPicPr>
        <p:blipFill>
          <a:blip r:embed="rId3" cstate="print"/>
          <a:stretch>
            <a:fillRect/>
          </a:stretch>
        </p:blipFill>
        <p:spPr>
          <a:xfrm>
            <a:off x="9698673" y="8152809"/>
            <a:ext cx="14171980" cy="427196"/>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589205-B975-2CD4-40A2-6321980A6020}"/>
              </a:ext>
            </a:extLst>
          </p:cNvPr>
          <p:cNvSpPr>
            <a:spLocks noGrp="1"/>
          </p:cNvSpPr>
          <p:nvPr>
            <p:ph type="title"/>
          </p:nvPr>
        </p:nvSpPr>
        <p:spPr/>
        <p:txBody>
          <a:bodyPr/>
          <a:lstStyle/>
          <a:p>
            <a:r>
              <a:rPr lang="en-US" dirty="0"/>
              <a:t>HTML Basics</a:t>
            </a:r>
          </a:p>
        </p:txBody>
      </p:sp>
      <p:sp>
        <p:nvSpPr>
          <p:cNvPr id="9" name="TextBox 8">
            <a:extLst>
              <a:ext uri="{FF2B5EF4-FFF2-40B4-BE49-F238E27FC236}">
                <a16:creationId xmlns:a16="http://schemas.microsoft.com/office/drawing/2014/main" id="{5B199775-5915-638D-38DB-C07C7B988538}"/>
              </a:ext>
            </a:extLst>
          </p:cNvPr>
          <p:cNvSpPr txBox="1"/>
          <p:nvPr/>
        </p:nvSpPr>
        <p:spPr>
          <a:xfrm>
            <a:off x="1200251" y="3070488"/>
            <a:ext cx="21502872" cy="91893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5400">
              <a:lnSpc>
                <a:spcPct val="100000"/>
              </a:lnSpc>
              <a:spcBef>
                <a:spcPts val="5570"/>
              </a:spcBef>
            </a:pPr>
            <a:r>
              <a:rPr lang="en-GB" dirty="0">
                <a:solidFill>
                  <a:schemeClr val="tx1"/>
                </a:solidFill>
              </a:rPr>
              <a:t>HTML stands for </a:t>
            </a:r>
            <a:r>
              <a:rPr lang="en-GB" dirty="0" err="1">
                <a:solidFill>
                  <a:schemeClr val="tx1"/>
                </a:solidFill>
              </a:rPr>
              <a:t>HyperText</a:t>
            </a:r>
            <a:r>
              <a:rPr lang="en-GB" dirty="0">
                <a:solidFill>
                  <a:schemeClr val="tx1"/>
                </a:solidFill>
              </a:rPr>
              <a:t> Markup Language. </a:t>
            </a:r>
            <a:r>
              <a:rPr lang="en-GB" dirty="0"/>
              <a:t>They look like this:</a:t>
            </a:r>
          </a:p>
          <a:p>
            <a:pPr marL="939800">
              <a:lnSpc>
                <a:spcPts val="6310"/>
              </a:lnSpc>
              <a:spcBef>
                <a:spcPts val="5410"/>
              </a:spcBef>
            </a:pPr>
            <a:endParaRPr lang="en-GB" dirty="0"/>
          </a:p>
          <a:p>
            <a:pPr marL="939800">
              <a:lnSpc>
                <a:spcPts val="6310"/>
              </a:lnSpc>
              <a:spcBef>
                <a:spcPts val="5410"/>
              </a:spcBef>
            </a:pPr>
            <a:endParaRPr lang="en-GB" sz="4800" dirty="0">
              <a:latin typeface="Courier New"/>
              <a:cs typeface="Courier New"/>
            </a:endParaRPr>
          </a:p>
          <a:p>
            <a:pPr marL="25400">
              <a:lnSpc>
                <a:spcPts val="6310"/>
              </a:lnSpc>
              <a:spcBef>
                <a:spcPts val="5720"/>
              </a:spcBef>
            </a:pPr>
            <a:r>
              <a:rPr lang="en-GB" dirty="0"/>
              <a:t>Html tags are interpreted by the browser and render into corresponding visual elements. </a:t>
            </a:r>
          </a:p>
          <a:p>
            <a:pPr marL="25400">
              <a:lnSpc>
                <a:spcPts val="6310"/>
              </a:lnSpc>
              <a:spcBef>
                <a:spcPts val="5720"/>
              </a:spcBef>
            </a:pPr>
            <a:r>
              <a:rPr lang="en-GB" dirty="0"/>
              <a:t>For example, </a:t>
            </a:r>
            <a:r>
              <a:rPr lang="en-GB" sz="4800" dirty="0">
                <a:solidFill>
                  <a:srgbClr val="002D5F"/>
                </a:solidFill>
                <a:latin typeface="Courier New"/>
                <a:cs typeface="Courier New"/>
              </a:rPr>
              <a:t>&lt;strong</a:t>
            </a:r>
            <a:r>
              <a:rPr lang="en-GB" dirty="0">
                <a:solidFill>
                  <a:srgbClr val="002D5F"/>
                </a:solidFill>
                <a:latin typeface="Courier New"/>
                <a:cs typeface="Courier New"/>
              </a:rPr>
              <a:t>&gt; … &lt;/strong&gt;</a:t>
            </a:r>
            <a:r>
              <a:rPr lang="en-GB" spc="220" dirty="0">
                <a:solidFill>
                  <a:srgbClr val="002D5F"/>
                </a:solidFill>
                <a:latin typeface="Courier New"/>
                <a:cs typeface="Courier New"/>
              </a:rPr>
              <a:t> </a:t>
            </a:r>
            <a:r>
              <a:rPr lang="en-GB" dirty="0"/>
              <a:t>means “bold text”. </a:t>
            </a:r>
          </a:p>
          <a:p>
            <a:pPr marL="25400">
              <a:lnSpc>
                <a:spcPts val="6310"/>
              </a:lnSpc>
              <a:spcBef>
                <a:spcPts val="5720"/>
              </a:spcBef>
            </a:pPr>
            <a:r>
              <a:rPr lang="en-GB" dirty="0"/>
              <a:t>On the website we’ll see </a:t>
            </a:r>
            <a:r>
              <a:rPr lang="en-GB" b="1" dirty="0"/>
              <a:t>some text</a:t>
            </a:r>
            <a:r>
              <a:rPr lang="en-GB" dirty="0"/>
              <a:t>, instead of &lt;strong&gt;some text&lt;/strong&gt;</a:t>
            </a:r>
          </a:p>
        </p:txBody>
      </p:sp>
      <p:sp>
        <p:nvSpPr>
          <p:cNvPr id="10" name="object 3">
            <a:extLst>
              <a:ext uri="{FF2B5EF4-FFF2-40B4-BE49-F238E27FC236}">
                <a16:creationId xmlns:a16="http://schemas.microsoft.com/office/drawing/2014/main" id="{115849EC-5AA9-7365-5A27-807CE60C0B97}"/>
              </a:ext>
            </a:extLst>
          </p:cNvPr>
          <p:cNvSpPr txBox="1">
            <a:spLocks/>
          </p:cNvSpPr>
          <p:nvPr/>
        </p:nvSpPr>
        <p:spPr>
          <a:xfrm>
            <a:off x="1200251" y="4503651"/>
            <a:ext cx="20612535" cy="2056973"/>
          </a:xfrm>
          <a:prstGeom prst="rect">
            <a:avLst/>
          </a:prstGeom>
          <a:solidFill>
            <a:schemeClr val="tx1">
              <a:lumMod val="95000"/>
              <a:lumOff val="5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09600" lvl="1" indent="0" hangingPunct="1">
              <a:lnSpc>
                <a:spcPct val="100000"/>
              </a:lnSpc>
              <a:spcBef>
                <a:spcPts val="0"/>
              </a:spcBef>
              <a:buNone/>
            </a:pPr>
            <a:endParaRPr lang="en-GB" sz="4400" spc="-20" dirty="0">
              <a:solidFill>
                <a:schemeClr val="bg1">
                  <a:lumMod val="95000"/>
                </a:schemeClr>
              </a:solidFill>
              <a:latin typeface="Courier New"/>
              <a:cs typeface="Courier New"/>
            </a:endParaRP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&lt;strong&gt;some text&lt;/strong&gt;</a:t>
            </a:r>
          </a:p>
          <a:p>
            <a:pPr marL="609600" lvl="1" indent="0" hangingPunct="1">
              <a:lnSpc>
                <a:spcPct val="100000"/>
              </a:lnSpc>
              <a:spcBef>
                <a:spcPts val="0"/>
              </a:spcBef>
              <a:buNone/>
            </a:pPr>
            <a:endParaRPr lang="en-GB" sz="4400" spc="-20" dirty="0">
              <a:solidFill>
                <a:schemeClr val="bg1">
                  <a:lumMod val="95000"/>
                </a:schemeClr>
              </a:solidFill>
              <a:latin typeface="Courier New"/>
              <a:cs typeface="Courier New"/>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FA7E5-6724-E978-B9E2-C1FACFB094A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332208-9ACC-686D-5CB4-07963618DF22}"/>
              </a:ext>
            </a:extLst>
          </p:cNvPr>
          <p:cNvSpPr>
            <a:spLocks noGrp="1"/>
          </p:cNvSpPr>
          <p:nvPr>
            <p:ph type="title"/>
          </p:nvPr>
        </p:nvSpPr>
        <p:spPr/>
        <p:txBody>
          <a:bodyPr/>
          <a:lstStyle/>
          <a:p>
            <a:r>
              <a:rPr lang="en-US" dirty="0"/>
              <a:t>HTML Basics</a:t>
            </a:r>
          </a:p>
        </p:txBody>
      </p:sp>
      <p:sp>
        <p:nvSpPr>
          <p:cNvPr id="4" name="TextBox 3">
            <a:extLst>
              <a:ext uri="{FF2B5EF4-FFF2-40B4-BE49-F238E27FC236}">
                <a16:creationId xmlns:a16="http://schemas.microsoft.com/office/drawing/2014/main" id="{D0AA49F1-D05A-7345-5BD6-F7D5BB167927}"/>
              </a:ext>
            </a:extLst>
          </p:cNvPr>
          <p:cNvSpPr txBox="1"/>
          <p:nvPr/>
        </p:nvSpPr>
        <p:spPr>
          <a:xfrm>
            <a:off x="1121561" y="2637351"/>
            <a:ext cx="21756002" cy="19990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dirty="0"/>
              <a:t>Most</a:t>
            </a:r>
            <a:r>
              <a:rPr lang="en-GB" spc="120" dirty="0"/>
              <a:t> </a:t>
            </a:r>
            <a:r>
              <a:rPr lang="en-GB" dirty="0"/>
              <a:t>tags</a:t>
            </a:r>
            <a:r>
              <a:rPr lang="en-GB" spc="90" dirty="0"/>
              <a:t> </a:t>
            </a:r>
            <a:r>
              <a:rPr lang="en-GB" dirty="0"/>
              <a:t>will</a:t>
            </a:r>
            <a:r>
              <a:rPr lang="en-GB" spc="100" dirty="0"/>
              <a:t> </a:t>
            </a:r>
            <a:r>
              <a:rPr lang="en-GB" dirty="0"/>
              <a:t>come</a:t>
            </a:r>
            <a:r>
              <a:rPr lang="en-GB" spc="110" dirty="0"/>
              <a:t> </a:t>
            </a:r>
            <a:r>
              <a:rPr lang="en-GB" dirty="0"/>
              <a:t>in</a:t>
            </a:r>
            <a:r>
              <a:rPr lang="en-GB" spc="100" dirty="0"/>
              <a:t> </a:t>
            </a:r>
            <a:r>
              <a:rPr lang="en-GB" spc="-20" dirty="0"/>
              <a:t>pairs </a:t>
            </a:r>
            <a:r>
              <a:rPr lang="en-GB" dirty="0"/>
              <a:t>(</a:t>
            </a:r>
            <a:r>
              <a:rPr lang="en-GB" dirty="0">
                <a:latin typeface="Courier New"/>
                <a:cs typeface="Courier New"/>
              </a:rPr>
              <a:t>&lt;start</a:t>
            </a:r>
            <a:r>
              <a:rPr lang="en-GB" spc="150" dirty="0">
                <a:latin typeface="Courier New"/>
                <a:cs typeface="Courier New"/>
              </a:rPr>
              <a:t> </a:t>
            </a:r>
            <a:r>
              <a:rPr lang="en-GB" dirty="0">
                <a:latin typeface="Courier New"/>
                <a:cs typeface="Courier New"/>
              </a:rPr>
              <a:t>tag&gt;</a:t>
            </a:r>
            <a:r>
              <a:rPr lang="en-GB" spc="310" dirty="0">
                <a:latin typeface="Courier New"/>
                <a:cs typeface="Courier New"/>
              </a:rPr>
              <a:t> </a:t>
            </a:r>
            <a:r>
              <a:rPr lang="en-GB" dirty="0">
                <a:latin typeface="Courier New"/>
                <a:cs typeface="Courier New"/>
              </a:rPr>
              <a:t>…</a:t>
            </a:r>
            <a:r>
              <a:rPr lang="en-GB" spc="300" dirty="0">
                <a:latin typeface="Courier New"/>
                <a:cs typeface="Courier New"/>
              </a:rPr>
              <a:t> </a:t>
            </a:r>
            <a:r>
              <a:rPr lang="en-GB" spc="-20" dirty="0">
                <a:latin typeface="Courier New"/>
                <a:cs typeface="Courier New"/>
              </a:rPr>
              <a:t>&lt;/end </a:t>
            </a:r>
            <a:r>
              <a:rPr lang="en-GB" dirty="0">
                <a:latin typeface="Courier New"/>
                <a:cs typeface="Courier New"/>
              </a:rPr>
              <a:t>tag&gt;</a:t>
            </a:r>
            <a:r>
              <a:rPr lang="en-GB" dirty="0"/>
              <a:t>)</a:t>
            </a:r>
            <a:r>
              <a:rPr lang="en-GB" spc="70" dirty="0"/>
              <a:t> </a:t>
            </a:r>
          </a:p>
          <a:p>
            <a:r>
              <a:rPr lang="en-GB" spc="-40" dirty="0"/>
              <a:t>Some only have a start tag such as &lt;</a:t>
            </a:r>
            <a:r>
              <a:rPr lang="en-GB" spc="-40" dirty="0" err="1"/>
              <a:t>img</a:t>
            </a:r>
            <a:r>
              <a:rPr lang="en-GB" spc="-40" dirty="0"/>
              <a:t>&gt;</a:t>
            </a:r>
          </a:p>
        </p:txBody>
      </p:sp>
      <p:sp>
        <p:nvSpPr>
          <p:cNvPr id="6" name="object 3">
            <a:extLst>
              <a:ext uri="{FF2B5EF4-FFF2-40B4-BE49-F238E27FC236}">
                <a16:creationId xmlns:a16="http://schemas.microsoft.com/office/drawing/2014/main" id="{AD622913-D827-B309-54B6-EFB4C907769A}"/>
              </a:ext>
            </a:extLst>
          </p:cNvPr>
          <p:cNvSpPr txBox="1">
            <a:spLocks/>
          </p:cNvSpPr>
          <p:nvPr/>
        </p:nvSpPr>
        <p:spPr>
          <a:xfrm>
            <a:off x="974717" y="5698279"/>
            <a:ext cx="22049690" cy="6796732"/>
          </a:xfrm>
          <a:prstGeom prst="rect">
            <a:avLst/>
          </a:prstGeom>
          <a:solidFill>
            <a:schemeClr val="tx1">
              <a:lumMod val="95000"/>
              <a:lumOff val="5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&lt;p&gt;</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	&lt;strong&gt;</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		This is bold text.</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		&lt;font </a:t>
            </a:r>
            <a:r>
              <a:rPr lang="en-GB" sz="4400" spc="-20" dirty="0" err="1">
                <a:solidFill>
                  <a:srgbClr val="FF0000"/>
                </a:solidFill>
                <a:latin typeface="Courier New"/>
                <a:cs typeface="Courier New"/>
              </a:rPr>
              <a:t>color</a:t>
            </a:r>
            <a:r>
              <a:rPr lang="en-GB" sz="4400" spc="-20" dirty="0">
                <a:latin typeface="Courier New"/>
                <a:cs typeface="Courier New"/>
              </a:rPr>
              <a:t>=</a:t>
            </a:r>
            <a:r>
              <a:rPr lang="en-GB" sz="4400" spc="-20" dirty="0">
                <a:solidFill>
                  <a:srgbClr val="00B050"/>
                </a:solidFill>
                <a:latin typeface="Courier New"/>
                <a:cs typeface="Courier New"/>
              </a:rPr>
              <a:t>“red”</a:t>
            </a:r>
            <a:r>
              <a:rPr lang="en-GB" sz="4400" spc="-20" dirty="0">
                <a:solidFill>
                  <a:schemeClr val="bg1">
                    <a:lumMod val="95000"/>
                  </a:schemeClr>
                </a:solidFill>
                <a:latin typeface="Courier New"/>
                <a:cs typeface="Courier New"/>
              </a:rPr>
              <a:t>&gt; I’m red and bold! &lt;/font&gt;</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	&lt;/strong&gt;</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	&lt;font </a:t>
            </a:r>
            <a:r>
              <a:rPr lang="en-GB" sz="4400" spc="-20" dirty="0" err="1">
                <a:solidFill>
                  <a:srgbClr val="FF0000"/>
                </a:solidFill>
                <a:latin typeface="Courier New"/>
                <a:cs typeface="Courier New"/>
              </a:rPr>
              <a:t>color</a:t>
            </a:r>
            <a:r>
              <a:rPr lang="en-GB" sz="4400" spc="-20" dirty="0">
                <a:latin typeface="Courier New"/>
                <a:cs typeface="Courier New"/>
              </a:rPr>
              <a:t>=</a:t>
            </a:r>
            <a:r>
              <a:rPr lang="en-GB" sz="4400" spc="-20" dirty="0">
                <a:solidFill>
                  <a:srgbClr val="00B050"/>
                </a:solidFill>
                <a:latin typeface="Courier New"/>
                <a:cs typeface="Courier New"/>
              </a:rPr>
              <a:t>“blue”</a:t>
            </a:r>
            <a:r>
              <a:rPr lang="en-GB" sz="4400" spc="-20" dirty="0">
                <a:solidFill>
                  <a:schemeClr val="bg1">
                    <a:lumMod val="95000"/>
                  </a:schemeClr>
                </a:solidFill>
                <a:latin typeface="Courier New"/>
                <a:cs typeface="Courier New"/>
              </a:rPr>
              <a:t>&gt;</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		I’m not bold and blue</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	&lt;/font&gt;</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	&lt;</a:t>
            </a:r>
            <a:r>
              <a:rPr lang="en-GB" sz="4400" spc="-20" dirty="0" err="1">
                <a:solidFill>
                  <a:schemeClr val="bg1">
                    <a:lumMod val="95000"/>
                  </a:schemeClr>
                </a:solidFill>
                <a:latin typeface="Courier New"/>
                <a:cs typeface="Courier New"/>
              </a:rPr>
              <a:t>img</a:t>
            </a:r>
            <a:r>
              <a:rPr lang="en-GB" sz="4400" spc="-20" dirty="0">
                <a:solidFill>
                  <a:schemeClr val="bg1">
                    <a:lumMod val="95000"/>
                  </a:schemeClr>
                </a:solidFill>
                <a:latin typeface="Courier New"/>
                <a:cs typeface="Courier New"/>
              </a:rPr>
              <a:t> </a:t>
            </a:r>
            <a:r>
              <a:rPr lang="en-GB" sz="4400" spc="-20" dirty="0" err="1">
                <a:solidFill>
                  <a:srgbClr val="FF0000"/>
                </a:solidFill>
                <a:latin typeface="Courier New"/>
                <a:cs typeface="Courier New"/>
              </a:rPr>
              <a:t>src</a:t>
            </a:r>
            <a:r>
              <a:rPr lang="en-GB" sz="4400" spc="-20" dirty="0">
                <a:solidFill>
                  <a:srgbClr val="00B050"/>
                </a:solidFill>
                <a:latin typeface="Courier New"/>
                <a:cs typeface="Courier New"/>
              </a:rPr>
              <a:t>=“</a:t>
            </a:r>
            <a:r>
              <a:rPr lang="en-GB" sz="4400" spc="-20" dirty="0" err="1">
                <a:solidFill>
                  <a:srgbClr val="00B050"/>
                </a:solidFill>
                <a:latin typeface="Courier New"/>
                <a:cs typeface="Courier New"/>
              </a:rPr>
              <a:t>dog.jpg</a:t>
            </a:r>
            <a:r>
              <a:rPr lang="en-GB" sz="4400" spc="-20" dirty="0">
                <a:solidFill>
                  <a:srgbClr val="00B050"/>
                </a:solidFill>
                <a:latin typeface="Courier New"/>
                <a:cs typeface="Courier New"/>
              </a:rPr>
              <a:t>”</a:t>
            </a:r>
            <a:r>
              <a:rPr lang="en-GB" sz="4400" spc="-20" dirty="0">
                <a:solidFill>
                  <a:schemeClr val="bg1">
                    <a:lumMod val="95000"/>
                  </a:schemeClr>
                </a:solidFill>
                <a:latin typeface="Courier New"/>
                <a:cs typeface="Courier New"/>
              </a:rPr>
              <a:t>&gt;</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&lt;/p&gt;</a:t>
            </a:r>
          </a:p>
        </p:txBody>
      </p:sp>
    </p:spTree>
    <p:extLst>
      <p:ext uri="{BB962C8B-B14F-4D97-AF65-F5344CB8AC3E}">
        <p14:creationId xmlns:p14="http://schemas.microsoft.com/office/powerpoint/2010/main" val="407182419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4EBAA-B638-BD58-4B18-2C68B7250B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018F86C-DC2D-CA10-690E-549F3D015076}"/>
              </a:ext>
            </a:extLst>
          </p:cNvPr>
          <p:cNvSpPr>
            <a:spLocks noGrp="1"/>
          </p:cNvSpPr>
          <p:nvPr>
            <p:ph type="title"/>
          </p:nvPr>
        </p:nvSpPr>
        <p:spPr/>
        <p:txBody>
          <a:bodyPr/>
          <a:lstStyle/>
          <a:p>
            <a:r>
              <a:rPr lang="en-US" dirty="0"/>
              <a:t>HTML Basics</a:t>
            </a:r>
          </a:p>
        </p:txBody>
      </p:sp>
      <p:sp>
        <p:nvSpPr>
          <p:cNvPr id="4" name="TextBox 3">
            <a:extLst>
              <a:ext uri="{FF2B5EF4-FFF2-40B4-BE49-F238E27FC236}">
                <a16:creationId xmlns:a16="http://schemas.microsoft.com/office/drawing/2014/main" id="{064E500D-BF5D-4D8B-99C9-F434245E3711}"/>
              </a:ext>
            </a:extLst>
          </p:cNvPr>
          <p:cNvSpPr txBox="1"/>
          <p:nvPr/>
        </p:nvSpPr>
        <p:spPr>
          <a:xfrm>
            <a:off x="1016527" y="2724007"/>
            <a:ext cx="21756002" cy="64863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dirty="0">
                <a:solidFill>
                  <a:srgbClr val="FF0000"/>
                </a:solidFill>
              </a:rPr>
              <a:t>Attributes</a:t>
            </a:r>
            <a:r>
              <a:rPr lang="en-GB" dirty="0"/>
              <a:t> and </a:t>
            </a:r>
            <a:r>
              <a:rPr lang="en-GB" dirty="0">
                <a:solidFill>
                  <a:srgbClr val="00B050"/>
                </a:solidFill>
              </a:rPr>
              <a:t>values</a:t>
            </a:r>
            <a:r>
              <a:rPr lang="en-GB" dirty="0"/>
              <a:t> can be added to a tag, for example:</a:t>
            </a:r>
          </a:p>
          <a:p>
            <a:r>
              <a:rPr lang="en-GB" dirty="0" err="1">
                <a:solidFill>
                  <a:srgbClr val="FF0000"/>
                </a:solidFill>
              </a:rPr>
              <a:t>src</a:t>
            </a:r>
            <a:r>
              <a:rPr lang="en-GB" dirty="0"/>
              <a:t> is an attribute of the </a:t>
            </a:r>
            <a:r>
              <a:rPr lang="en-GB" sz="4400" spc="-20" dirty="0">
                <a:latin typeface="Courier New"/>
                <a:cs typeface="Courier New"/>
              </a:rPr>
              <a:t>&lt;</a:t>
            </a:r>
            <a:r>
              <a:rPr lang="en-GB" sz="4400" spc="-20" dirty="0" err="1">
                <a:latin typeface="Courier New"/>
                <a:cs typeface="Courier New"/>
              </a:rPr>
              <a:t>img</a:t>
            </a:r>
            <a:r>
              <a:rPr lang="en-GB" sz="4400" spc="-20" dirty="0">
                <a:latin typeface="Courier New"/>
                <a:cs typeface="Courier New"/>
              </a:rPr>
              <a:t>&gt; </a:t>
            </a:r>
            <a:r>
              <a:rPr lang="en-GB" dirty="0"/>
              <a:t>that specifies the image location, </a:t>
            </a:r>
            <a:r>
              <a:rPr lang="en-GB" dirty="0">
                <a:solidFill>
                  <a:srgbClr val="00B050"/>
                </a:solidFill>
              </a:rPr>
              <a:t>”</a:t>
            </a:r>
            <a:r>
              <a:rPr lang="en-GB" dirty="0" err="1">
                <a:solidFill>
                  <a:srgbClr val="00B050"/>
                </a:solidFill>
              </a:rPr>
              <a:t>dog.jpg</a:t>
            </a:r>
            <a:r>
              <a:rPr lang="en-GB" dirty="0">
                <a:solidFill>
                  <a:srgbClr val="00B050"/>
                </a:solidFill>
              </a:rPr>
              <a:t>” </a:t>
            </a:r>
            <a:r>
              <a:rPr lang="en-GB" dirty="0"/>
              <a:t>is the value of </a:t>
            </a:r>
            <a:r>
              <a:rPr lang="en-GB" dirty="0" err="1"/>
              <a:t>src</a:t>
            </a:r>
            <a:endParaRPr lang="en-GB" dirty="0"/>
          </a:p>
          <a:p>
            <a:r>
              <a:rPr lang="en-GB" dirty="0">
                <a:solidFill>
                  <a:srgbClr val="FF0000"/>
                </a:solidFill>
              </a:rPr>
              <a:t>class </a:t>
            </a:r>
            <a:r>
              <a:rPr lang="en-GB" dirty="0"/>
              <a:t>is an attribute of the </a:t>
            </a:r>
            <a:r>
              <a:rPr lang="en-GB" sz="4400" spc="-20" dirty="0">
                <a:latin typeface="Courier New"/>
                <a:cs typeface="Courier New"/>
              </a:rPr>
              <a:t>&lt;div&gt; </a:t>
            </a:r>
            <a:r>
              <a:rPr lang="en-GB" dirty="0"/>
              <a:t>that read the </a:t>
            </a:r>
            <a:r>
              <a:rPr lang="en-GB" dirty="0" err="1"/>
              <a:t>css</a:t>
            </a:r>
            <a:r>
              <a:rPr lang="en-GB" dirty="0"/>
              <a:t> script called test</a:t>
            </a:r>
          </a:p>
          <a:p>
            <a:r>
              <a:rPr lang="en-GB" dirty="0"/>
              <a:t>the </a:t>
            </a:r>
            <a:r>
              <a:rPr lang="en-GB" dirty="0">
                <a:solidFill>
                  <a:srgbClr val="FF0000"/>
                </a:solidFill>
              </a:rPr>
              <a:t>disabled</a:t>
            </a:r>
            <a:r>
              <a:rPr lang="en-GB" sz="5500" spc="-1860" dirty="0">
                <a:solidFill>
                  <a:srgbClr val="002D5F"/>
                </a:solidFill>
                <a:latin typeface="Courier New"/>
                <a:cs typeface="Courier New"/>
              </a:rPr>
              <a:t> </a:t>
            </a:r>
            <a:r>
              <a:rPr lang="en-GB" dirty="0"/>
              <a:t>attribute, which disables a button, does not need a value.</a:t>
            </a:r>
          </a:p>
          <a:p>
            <a:endParaRPr lang="en-GB" dirty="0"/>
          </a:p>
        </p:txBody>
      </p:sp>
      <p:sp>
        <p:nvSpPr>
          <p:cNvPr id="2" name="object 3">
            <a:extLst>
              <a:ext uri="{FF2B5EF4-FFF2-40B4-BE49-F238E27FC236}">
                <a16:creationId xmlns:a16="http://schemas.microsoft.com/office/drawing/2014/main" id="{5C09FD7D-3911-7F31-B3AD-C893D4FB840A}"/>
              </a:ext>
            </a:extLst>
          </p:cNvPr>
          <p:cNvSpPr txBox="1">
            <a:spLocks/>
          </p:cNvSpPr>
          <p:nvPr/>
        </p:nvSpPr>
        <p:spPr>
          <a:xfrm>
            <a:off x="1200251" y="8802427"/>
            <a:ext cx="22049690" cy="3411190"/>
          </a:xfrm>
          <a:prstGeom prst="rect">
            <a:avLst/>
          </a:prstGeom>
          <a:solidFill>
            <a:schemeClr val="tx1">
              <a:lumMod val="95000"/>
              <a:lumOff val="5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&lt;p&gt;</a:t>
            </a: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	&lt;</a:t>
            </a:r>
            <a:r>
              <a:rPr lang="en-GB" sz="4400" spc="-20" dirty="0" err="1">
                <a:solidFill>
                  <a:schemeClr val="bg1">
                    <a:lumMod val="95000"/>
                  </a:schemeClr>
                </a:solidFill>
                <a:latin typeface="Courier New"/>
                <a:cs typeface="Courier New"/>
              </a:rPr>
              <a:t>img</a:t>
            </a:r>
            <a:r>
              <a:rPr lang="en-GB" sz="4400" spc="-20" dirty="0">
                <a:solidFill>
                  <a:schemeClr val="bg1">
                    <a:lumMod val="95000"/>
                  </a:schemeClr>
                </a:solidFill>
                <a:latin typeface="Courier New"/>
                <a:cs typeface="Courier New"/>
              </a:rPr>
              <a:t> </a:t>
            </a:r>
            <a:r>
              <a:rPr lang="en-GB" sz="4400" spc="-20" dirty="0" err="1">
                <a:solidFill>
                  <a:srgbClr val="FF0000"/>
                </a:solidFill>
                <a:latin typeface="Courier New"/>
                <a:cs typeface="Courier New"/>
              </a:rPr>
              <a:t>src</a:t>
            </a:r>
            <a:r>
              <a:rPr lang="en-GB" sz="4400" spc="-20" dirty="0">
                <a:solidFill>
                  <a:schemeClr val="bg1">
                    <a:lumMod val="95000"/>
                  </a:schemeClr>
                </a:solidFill>
                <a:latin typeface="Courier New"/>
                <a:cs typeface="Courier New"/>
              </a:rPr>
              <a:t>=</a:t>
            </a:r>
            <a:r>
              <a:rPr lang="en-GB" sz="4400" spc="-20" dirty="0">
                <a:solidFill>
                  <a:srgbClr val="00B050"/>
                </a:solidFill>
                <a:latin typeface="Courier New"/>
                <a:cs typeface="Courier New"/>
              </a:rPr>
              <a:t>“</a:t>
            </a:r>
            <a:r>
              <a:rPr lang="en-GB" sz="4400" spc="-20" dirty="0" err="1">
                <a:solidFill>
                  <a:srgbClr val="00B050"/>
                </a:solidFill>
                <a:latin typeface="Courier New"/>
                <a:cs typeface="Courier New"/>
              </a:rPr>
              <a:t>dog.jpg</a:t>
            </a:r>
            <a:r>
              <a:rPr lang="en-GB" sz="4400" spc="-20" dirty="0">
                <a:solidFill>
                  <a:srgbClr val="00B050"/>
                </a:solidFill>
                <a:latin typeface="Courier New"/>
                <a:cs typeface="Courier New"/>
              </a:rPr>
              <a:t>”</a:t>
            </a:r>
            <a:r>
              <a:rPr lang="en-GB" sz="4400" spc="-20" dirty="0">
                <a:solidFill>
                  <a:schemeClr val="bg1">
                    <a:lumMod val="95000"/>
                  </a:schemeClr>
                </a:solidFill>
                <a:latin typeface="Courier New"/>
                <a:cs typeface="Courier New"/>
              </a:rPr>
              <a:t>&gt;</a:t>
            </a:r>
          </a:p>
          <a:p>
            <a:pPr marL="609600" lvl="1" indent="0" hangingPunct="1">
              <a:lnSpc>
                <a:spcPct val="100000"/>
              </a:lnSpc>
              <a:spcBef>
                <a:spcPts val="0"/>
              </a:spcBef>
              <a:buNone/>
            </a:pPr>
            <a:r>
              <a:rPr lang="en-GB" sz="4400" dirty="0">
                <a:solidFill>
                  <a:schemeClr val="bg1">
                    <a:lumMod val="95000"/>
                  </a:schemeClr>
                </a:solidFill>
                <a:latin typeface="Courier New"/>
                <a:cs typeface="Courier New"/>
              </a:rPr>
              <a:t>	&lt;div</a:t>
            </a:r>
            <a:r>
              <a:rPr lang="en-GB" sz="4400" spc="300" dirty="0">
                <a:solidFill>
                  <a:schemeClr val="bg1">
                    <a:lumMod val="95000"/>
                  </a:schemeClr>
                </a:solidFill>
                <a:latin typeface="Courier New"/>
                <a:cs typeface="Courier New"/>
              </a:rPr>
              <a:t> </a:t>
            </a:r>
            <a:r>
              <a:rPr lang="en-GB" sz="4400" spc="-20" dirty="0">
                <a:solidFill>
                  <a:srgbClr val="FF0000"/>
                </a:solidFill>
                <a:latin typeface="Courier New"/>
                <a:cs typeface="Courier New"/>
              </a:rPr>
              <a:t>class</a:t>
            </a:r>
            <a:r>
              <a:rPr lang="en-GB" sz="4400" spc="-20" dirty="0">
                <a:solidFill>
                  <a:schemeClr val="bg1">
                    <a:lumMod val="95000"/>
                  </a:schemeClr>
                </a:solidFill>
                <a:latin typeface="Courier New"/>
                <a:cs typeface="Courier New"/>
              </a:rPr>
              <a:t>=</a:t>
            </a:r>
            <a:r>
              <a:rPr lang="en-GB" sz="4400" spc="-20" dirty="0">
                <a:solidFill>
                  <a:srgbClr val="00B050"/>
                </a:solidFill>
                <a:latin typeface="Courier New"/>
                <a:cs typeface="Courier New"/>
              </a:rPr>
              <a:t>“test”</a:t>
            </a:r>
            <a:r>
              <a:rPr lang="en-GB" sz="4400" spc="-20" dirty="0">
                <a:solidFill>
                  <a:schemeClr val="bg1">
                    <a:lumMod val="95000"/>
                  </a:schemeClr>
                </a:solidFill>
                <a:latin typeface="Courier New"/>
                <a:cs typeface="Courier New"/>
              </a:rPr>
              <a:t>&gt;ABCDEFG&lt;/div&gt;</a:t>
            </a:r>
            <a:endParaRPr lang="en-GB" sz="4400" dirty="0">
              <a:solidFill>
                <a:schemeClr val="bg1">
                  <a:lumMod val="95000"/>
                </a:schemeClr>
              </a:solidFill>
              <a:latin typeface="Courier New"/>
              <a:cs typeface="Courier New"/>
            </a:endParaRPr>
          </a:p>
          <a:p>
            <a:pPr marL="609600" lvl="1" indent="0" hangingPunct="1">
              <a:lnSpc>
                <a:spcPct val="100000"/>
              </a:lnSpc>
              <a:spcBef>
                <a:spcPts val="0"/>
              </a:spcBef>
              <a:buNone/>
            </a:pPr>
            <a:r>
              <a:rPr lang="en-GB" sz="4400" dirty="0">
                <a:solidFill>
                  <a:schemeClr val="bg1">
                    <a:lumMod val="95000"/>
                  </a:schemeClr>
                </a:solidFill>
                <a:latin typeface="Courier New"/>
                <a:cs typeface="Courier New"/>
              </a:rPr>
              <a:t>	&lt;button</a:t>
            </a:r>
            <a:r>
              <a:rPr lang="en-GB" sz="4400" spc="500" dirty="0">
                <a:solidFill>
                  <a:schemeClr val="bg1">
                    <a:lumMod val="95000"/>
                  </a:schemeClr>
                </a:solidFill>
                <a:latin typeface="Courier New"/>
                <a:cs typeface="Courier New"/>
              </a:rPr>
              <a:t> </a:t>
            </a:r>
            <a:r>
              <a:rPr lang="en-GB" sz="4400" dirty="0">
                <a:solidFill>
                  <a:srgbClr val="FF0000"/>
                </a:solidFill>
                <a:latin typeface="Courier New"/>
                <a:cs typeface="Courier New"/>
              </a:rPr>
              <a:t>disabled</a:t>
            </a:r>
            <a:r>
              <a:rPr lang="en-GB" sz="4400" dirty="0">
                <a:solidFill>
                  <a:schemeClr val="bg1">
                    <a:lumMod val="95000"/>
                  </a:schemeClr>
                </a:solidFill>
                <a:latin typeface="Courier New"/>
                <a:cs typeface="Courier New"/>
              </a:rPr>
              <a:t>&gt;Don’t click me&lt;/button&gt;</a:t>
            </a:r>
            <a:endParaRPr lang="en-GB" sz="4400" spc="-20" dirty="0">
              <a:solidFill>
                <a:schemeClr val="bg1">
                  <a:lumMod val="95000"/>
                </a:schemeClr>
              </a:solidFill>
              <a:latin typeface="Courier New"/>
              <a:cs typeface="Courier New"/>
            </a:endParaRPr>
          </a:p>
          <a:p>
            <a:pPr marL="609600" lvl="1" indent="0" hangingPunct="1">
              <a:lnSpc>
                <a:spcPct val="100000"/>
              </a:lnSpc>
              <a:spcBef>
                <a:spcPts val="0"/>
              </a:spcBef>
              <a:buNone/>
            </a:pPr>
            <a:r>
              <a:rPr lang="en-GB" sz="4400" spc="-20" dirty="0">
                <a:solidFill>
                  <a:schemeClr val="bg1">
                    <a:lumMod val="95000"/>
                  </a:schemeClr>
                </a:solidFill>
                <a:latin typeface="Courier New"/>
                <a:cs typeface="Courier New"/>
              </a:rPr>
              <a:t>&lt;/p&gt;</a:t>
            </a:r>
          </a:p>
        </p:txBody>
      </p:sp>
      <p:pic>
        <p:nvPicPr>
          <p:cNvPr id="3" name="object 4">
            <a:extLst>
              <a:ext uri="{FF2B5EF4-FFF2-40B4-BE49-F238E27FC236}">
                <a16:creationId xmlns:a16="http://schemas.microsoft.com/office/drawing/2014/main" id="{E0752EBE-86CF-CDCB-590D-E823930557A4}"/>
              </a:ext>
            </a:extLst>
          </p:cNvPr>
          <p:cNvPicPr/>
          <p:nvPr/>
        </p:nvPicPr>
        <p:blipFill>
          <a:blip r:embed="rId2" cstate="print"/>
          <a:stretch>
            <a:fillRect/>
          </a:stretch>
        </p:blipFill>
        <p:spPr>
          <a:xfrm>
            <a:off x="18090406" y="10763331"/>
            <a:ext cx="4276590" cy="1000432"/>
          </a:xfrm>
          <a:prstGeom prst="rect">
            <a:avLst/>
          </a:prstGeom>
        </p:spPr>
      </p:pic>
    </p:spTree>
    <p:extLst>
      <p:ext uri="{BB962C8B-B14F-4D97-AF65-F5344CB8AC3E}">
        <p14:creationId xmlns:p14="http://schemas.microsoft.com/office/powerpoint/2010/main" val="104462629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AA185-4F3F-7F44-3A40-E64EEA0DCBF1}"/>
            </a:ext>
          </a:extLst>
        </p:cNvPr>
        <p:cNvGrpSpPr/>
        <p:nvPr/>
      </p:nvGrpSpPr>
      <p:grpSpPr>
        <a:xfrm>
          <a:off x="0" y="0"/>
          <a:ext cx="0" cy="0"/>
          <a:chOff x="0" y="0"/>
          <a:chExt cx="0" cy="0"/>
        </a:xfrm>
      </p:grpSpPr>
      <p:sp>
        <p:nvSpPr>
          <p:cNvPr id="467" name="Feedback for us...…">
            <a:extLst>
              <a:ext uri="{FF2B5EF4-FFF2-40B4-BE49-F238E27FC236}">
                <a16:creationId xmlns:a16="http://schemas.microsoft.com/office/drawing/2014/main" id="{6F248076-58C2-C86C-48A1-6C6F0B24B96B}"/>
              </a:ext>
            </a:extLst>
          </p:cNvPr>
          <p:cNvSpPr txBox="1"/>
          <p:nvPr/>
        </p:nvSpPr>
        <p:spPr>
          <a:xfrm>
            <a:off x="2503867" y="5077668"/>
            <a:ext cx="19376265" cy="10259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6000" b="1">
                <a:solidFill>
                  <a:srgbClr val="0A1C3E"/>
                </a:solidFill>
                <a:latin typeface="Helvetica"/>
                <a:ea typeface="Helvetica"/>
                <a:cs typeface="Helvetica"/>
                <a:sym typeface="Helvetica"/>
              </a:defRPr>
            </a:pPr>
            <a:endParaRPr dirty="0"/>
          </a:p>
        </p:txBody>
      </p:sp>
      <p:sp>
        <p:nvSpPr>
          <p:cNvPr id="2" name="Title 1">
            <a:extLst>
              <a:ext uri="{FF2B5EF4-FFF2-40B4-BE49-F238E27FC236}">
                <a16:creationId xmlns:a16="http://schemas.microsoft.com/office/drawing/2014/main" id="{102A15FC-BFC9-4006-49B9-A6A9F66DFD3F}"/>
              </a:ext>
            </a:extLst>
          </p:cNvPr>
          <p:cNvSpPr>
            <a:spLocks noGrp="1"/>
          </p:cNvSpPr>
          <p:nvPr>
            <p:ph type="title"/>
          </p:nvPr>
        </p:nvSpPr>
        <p:spPr>
          <a:xfrm>
            <a:off x="1206497" y="3841068"/>
            <a:ext cx="21971004" cy="2353262"/>
          </a:xfrm>
        </p:spPr>
        <p:txBody>
          <a:bodyPr/>
          <a:lstStyle/>
          <a:p>
            <a:pPr algn="ctr"/>
            <a:r>
              <a:rPr lang="en-US" dirty="0"/>
              <a:t>Finding data in HTML</a:t>
            </a:r>
          </a:p>
        </p:txBody>
      </p:sp>
      <p:sp>
        <p:nvSpPr>
          <p:cNvPr id="4" name="TextBox 3">
            <a:extLst>
              <a:ext uri="{FF2B5EF4-FFF2-40B4-BE49-F238E27FC236}">
                <a16:creationId xmlns:a16="http://schemas.microsoft.com/office/drawing/2014/main" id="{799E9395-815E-F44D-D257-1085AA832C46}"/>
              </a:ext>
            </a:extLst>
          </p:cNvPr>
          <p:cNvSpPr txBox="1"/>
          <p:nvPr/>
        </p:nvSpPr>
        <p:spPr>
          <a:xfrm>
            <a:off x="3416969" y="7074226"/>
            <a:ext cx="18463163" cy="20867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pc="-20" dirty="0"/>
              <a:t>You can scrap by identifying </a:t>
            </a:r>
            <a:r>
              <a:rPr lang="en-GB" b="1" dirty="0">
                <a:latin typeface="Calibri"/>
                <a:cs typeface="Calibri"/>
              </a:rPr>
              <a:t>which</a:t>
            </a:r>
            <a:r>
              <a:rPr lang="en-GB" b="1" spc="60" dirty="0"/>
              <a:t> </a:t>
            </a:r>
            <a:r>
              <a:rPr lang="en-GB" b="1" dirty="0">
                <a:latin typeface="Calibri"/>
                <a:cs typeface="Calibri"/>
              </a:rPr>
              <a:t>tag(s)</a:t>
            </a:r>
            <a:r>
              <a:rPr lang="en-GB" b="1" spc="280" dirty="0"/>
              <a:t> </a:t>
            </a:r>
            <a:r>
              <a:rPr lang="en-GB" b="1" dirty="0">
                <a:latin typeface="Calibri"/>
                <a:cs typeface="Calibri"/>
              </a:rPr>
              <a:t>contains</a:t>
            </a:r>
            <a:r>
              <a:rPr lang="en-GB" b="1" spc="90" dirty="0"/>
              <a:t> </a:t>
            </a:r>
            <a:r>
              <a:rPr lang="en-GB" b="1" dirty="0">
                <a:latin typeface="Calibri"/>
                <a:cs typeface="Calibri"/>
              </a:rPr>
              <a:t>the</a:t>
            </a:r>
            <a:r>
              <a:rPr lang="en-GB" b="1" spc="250" dirty="0"/>
              <a:t> </a:t>
            </a:r>
            <a:r>
              <a:rPr lang="en-GB" b="1" dirty="0">
                <a:latin typeface="Calibri"/>
                <a:cs typeface="Calibri"/>
              </a:rPr>
              <a:t>information</a:t>
            </a:r>
            <a:r>
              <a:rPr lang="en-GB" b="1" spc="70" dirty="0"/>
              <a:t> </a:t>
            </a:r>
            <a:r>
              <a:rPr lang="en-GB" b="1" dirty="0">
                <a:latin typeface="Calibri"/>
                <a:cs typeface="Calibri"/>
              </a:rPr>
              <a:t>we</a:t>
            </a:r>
            <a:r>
              <a:rPr lang="en-GB" b="1" spc="110" dirty="0"/>
              <a:t> </a:t>
            </a:r>
            <a:r>
              <a:rPr lang="en-GB" b="1" dirty="0">
                <a:latin typeface="Calibri"/>
                <a:cs typeface="Calibri"/>
              </a:rPr>
              <a:t>want</a:t>
            </a:r>
            <a:r>
              <a:rPr lang="en-GB" dirty="0"/>
              <a:t>,</a:t>
            </a:r>
            <a:r>
              <a:rPr lang="en-GB" spc="150" dirty="0"/>
              <a:t> </a:t>
            </a:r>
            <a:r>
              <a:rPr lang="en-GB" dirty="0"/>
              <a:t>then</a:t>
            </a:r>
            <a:r>
              <a:rPr lang="en-GB" spc="100" dirty="0"/>
              <a:t> </a:t>
            </a:r>
            <a:r>
              <a:rPr lang="en-GB" b="1" dirty="0">
                <a:latin typeface="Calibri"/>
                <a:cs typeface="Calibri"/>
              </a:rPr>
              <a:t>get</a:t>
            </a:r>
            <a:r>
              <a:rPr lang="en-GB" b="1" spc="60" dirty="0"/>
              <a:t> </a:t>
            </a:r>
            <a:r>
              <a:rPr lang="en-GB" b="1" dirty="0">
                <a:latin typeface="Calibri"/>
                <a:cs typeface="Calibri"/>
              </a:rPr>
              <a:t>the</a:t>
            </a:r>
            <a:r>
              <a:rPr lang="en-GB" b="1" spc="260" dirty="0"/>
              <a:t> </a:t>
            </a:r>
            <a:r>
              <a:rPr lang="en-GB" b="1" spc="-20" dirty="0"/>
              <a:t>content </a:t>
            </a:r>
            <a:r>
              <a:rPr lang="en-GB" b="1" dirty="0">
                <a:latin typeface="Calibri"/>
                <a:cs typeface="Calibri"/>
              </a:rPr>
              <a:t>inside</a:t>
            </a:r>
            <a:r>
              <a:rPr lang="en-GB" b="1" spc="100" dirty="0"/>
              <a:t> </a:t>
            </a:r>
            <a:r>
              <a:rPr lang="en-GB" dirty="0"/>
              <a:t>(or</a:t>
            </a:r>
            <a:r>
              <a:rPr lang="en-GB" spc="130" dirty="0"/>
              <a:t> </a:t>
            </a:r>
            <a:r>
              <a:rPr lang="en-GB" dirty="0"/>
              <a:t>get</a:t>
            </a:r>
            <a:r>
              <a:rPr lang="en-GB" spc="60" dirty="0"/>
              <a:t> </a:t>
            </a:r>
            <a:r>
              <a:rPr lang="en-GB" dirty="0"/>
              <a:t>the</a:t>
            </a:r>
            <a:r>
              <a:rPr lang="en-GB" spc="50" dirty="0"/>
              <a:t> </a:t>
            </a:r>
            <a:r>
              <a:rPr lang="en-GB" dirty="0"/>
              <a:t>value</a:t>
            </a:r>
            <a:r>
              <a:rPr lang="en-GB" spc="60" dirty="0"/>
              <a:t> </a:t>
            </a:r>
            <a:r>
              <a:rPr lang="en-GB" dirty="0"/>
              <a:t>of</a:t>
            </a:r>
            <a:r>
              <a:rPr lang="en-GB" spc="70" dirty="0"/>
              <a:t> </a:t>
            </a:r>
            <a:r>
              <a:rPr lang="en-GB" dirty="0"/>
              <a:t>an</a:t>
            </a:r>
            <a:r>
              <a:rPr lang="en-GB" spc="50" dirty="0"/>
              <a:t> </a:t>
            </a:r>
            <a:r>
              <a:rPr lang="en-GB" spc="-20" dirty="0"/>
              <a:t>attribute)</a:t>
            </a:r>
            <a:r>
              <a:rPr lang="en-GB" b="1" spc="-20" dirty="0"/>
              <a:t>, </a:t>
            </a:r>
            <a:r>
              <a:rPr lang="en-GB" spc="-20" dirty="0"/>
              <a:t>without knowing</a:t>
            </a:r>
            <a:r>
              <a:rPr lang="en-GB" spc="80" dirty="0"/>
              <a:t> </a:t>
            </a:r>
            <a:r>
              <a:rPr lang="en-GB" dirty="0"/>
              <a:t>how</a:t>
            </a:r>
            <a:r>
              <a:rPr lang="en-GB" spc="80" dirty="0"/>
              <a:t> </a:t>
            </a:r>
            <a:r>
              <a:rPr lang="en-GB" dirty="0"/>
              <a:t>to</a:t>
            </a:r>
            <a:r>
              <a:rPr lang="en-GB" spc="70" dirty="0"/>
              <a:t> </a:t>
            </a:r>
            <a:r>
              <a:rPr lang="en-GB" dirty="0"/>
              <a:t>write</a:t>
            </a:r>
            <a:r>
              <a:rPr lang="en-GB" spc="90" dirty="0"/>
              <a:t> </a:t>
            </a:r>
            <a:r>
              <a:rPr lang="en-GB" dirty="0"/>
              <a:t>HTML.</a:t>
            </a:r>
            <a:r>
              <a:rPr lang="en-GB" spc="110" dirty="0"/>
              <a:t> </a:t>
            </a:r>
            <a:endParaRPr lang="en-US" dirty="0"/>
          </a:p>
        </p:txBody>
      </p:sp>
    </p:spTree>
    <p:extLst>
      <p:ext uri="{BB962C8B-B14F-4D97-AF65-F5344CB8AC3E}">
        <p14:creationId xmlns:p14="http://schemas.microsoft.com/office/powerpoint/2010/main" val="196093870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1397165" y="4595169"/>
            <a:ext cx="14171980" cy="427196"/>
          </a:xfrm>
          <a:prstGeom prst="rect">
            <a:avLst/>
          </a:prstGeom>
        </p:spPr>
      </p:pic>
      <p:sp>
        <p:nvSpPr>
          <p:cNvPr id="6" name="object 6"/>
          <p:cNvSpPr txBox="1"/>
          <p:nvPr/>
        </p:nvSpPr>
        <p:spPr>
          <a:xfrm>
            <a:off x="10900611" y="6319647"/>
            <a:ext cx="12360201" cy="2804614"/>
          </a:xfrm>
          <a:prstGeom prst="rect">
            <a:avLst/>
          </a:prstGeom>
        </p:spPr>
        <p:txBody>
          <a:bodyPr vert="horz" wrap="square" lIns="0" tIns="11430" rIns="0" bIns="0" rtlCol="0">
            <a:spAutoFit/>
          </a:bodyPr>
          <a:lstStyle/>
          <a:p>
            <a:pPr>
              <a:lnSpc>
                <a:spcPct val="100000"/>
              </a:lnSpc>
            </a:pPr>
            <a:r>
              <a:rPr lang="en-GB" dirty="0"/>
              <a:t>For example, if identify the &lt;font&gt; tag with a </a:t>
            </a:r>
            <a:r>
              <a:rPr lang="en-GB" dirty="0" err="1"/>
              <a:t>color</a:t>
            </a:r>
            <a:r>
              <a:rPr lang="en-GB" dirty="0"/>
              <a:t> attribute set to blue, it will extract</a:t>
            </a:r>
          </a:p>
          <a:p>
            <a:pPr>
              <a:lnSpc>
                <a:spcPct val="100000"/>
              </a:lnSpc>
            </a:pPr>
            <a:r>
              <a:rPr lang="en-GB" dirty="0"/>
              <a:t>Text “_______”.</a:t>
            </a:r>
          </a:p>
        </p:txBody>
      </p:sp>
      <p:sp>
        <p:nvSpPr>
          <p:cNvPr id="9" name="Title 4">
            <a:extLst>
              <a:ext uri="{FF2B5EF4-FFF2-40B4-BE49-F238E27FC236}">
                <a16:creationId xmlns:a16="http://schemas.microsoft.com/office/drawing/2014/main" id="{A13D35F0-FFCE-E918-F6AB-731451443D9E}"/>
              </a:ext>
            </a:extLst>
          </p:cNvPr>
          <p:cNvSpPr txBox="1">
            <a:spLocks/>
          </p:cNvSpPr>
          <p:nvPr/>
        </p:nvSpPr>
        <p:spPr>
          <a:xfrm>
            <a:off x="1200251" y="1204188"/>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hangingPunct="1"/>
            <a:r>
              <a:rPr lang="en-US" dirty="0"/>
              <a:t>Finding data in HTML</a:t>
            </a:r>
          </a:p>
        </p:txBody>
      </p:sp>
      <p:sp>
        <p:nvSpPr>
          <p:cNvPr id="11" name="TextBox 10">
            <a:extLst>
              <a:ext uri="{FF2B5EF4-FFF2-40B4-BE49-F238E27FC236}">
                <a16:creationId xmlns:a16="http://schemas.microsoft.com/office/drawing/2014/main" id="{99EE5ED1-7D93-9B02-5035-ABDAA712B1FD}"/>
              </a:ext>
            </a:extLst>
          </p:cNvPr>
          <p:cNvSpPr txBox="1"/>
          <p:nvPr/>
        </p:nvSpPr>
        <p:spPr>
          <a:xfrm>
            <a:off x="1200250" y="2730352"/>
            <a:ext cx="22060561" cy="14219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dirty="0"/>
              <a:t>Contents or data can be </a:t>
            </a:r>
            <a:r>
              <a:rPr lang="en-GB" dirty="0" err="1"/>
              <a:t>extrated</a:t>
            </a:r>
            <a:r>
              <a:rPr lang="en-GB" dirty="0"/>
              <a:t> using</a:t>
            </a:r>
            <a:r>
              <a:rPr lang="en-GB" spc="70" dirty="0"/>
              <a:t> </a:t>
            </a:r>
            <a:r>
              <a:rPr lang="en-GB" dirty="0"/>
              <a:t>a</a:t>
            </a:r>
            <a:r>
              <a:rPr lang="en-GB" spc="90" dirty="0"/>
              <a:t> </a:t>
            </a:r>
            <a:r>
              <a:rPr lang="en-GB" dirty="0"/>
              <a:t>combination</a:t>
            </a:r>
            <a:r>
              <a:rPr lang="en-GB" spc="120" dirty="0"/>
              <a:t> </a:t>
            </a:r>
            <a:r>
              <a:rPr lang="en-GB" dirty="0"/>
              <a:t>of</a:t>
            </a:r>
            <a:r>
              <a:rPr lang="en-GB" spc="120" dirty="0"/>
              <a:t> </a:t>
            </a:r>
            <a:r>
              <a:rPr lang="en-GB" b="1" dirty="0">
                <a:latin typeface="Calibri"/>
                <a:cs typeface="Calibri"/>
              </a:rPr>
              <a:t>tag</a:t>
            </a:r>
            <a:r>
              <a:rPr lang="en-GB" b="1" spc="110" dirty="0"/>
              <a:t> </a:t>
            </a:r>
            <a:r>
              <a:rPr lang="en-GB" b="1" dirty="0">
                <a:latin typeface="Calibri"/>
                <a:cs typeface="Calibri"/>
              </a:rPr>
              <a:t>name</a:t>
            </a:r>
            <a:r>
              <a:rPr lang="en-GB" dirty="0"/>
              <a:t>,</a:t>
            </a:r>
            <a:r>
              <a:rPr lang="en-GB" spc="130" dirty="0"/>
              <a:t> </a:t>
            </a:r>
            <a:r>
              <a:rPr lang="en-GB" b="1" dirty="0">
                <a:latin typeface="Calibri"/>
                <a:cs typeface="Calibri"/>
              </a:rPr>
              <a:t>attribute</a:t>
            </a:r>
            <a:r>
              <a:rPr lang="en-GB" b="1" spc="110" dirty="0"/>
              <a:t> </a:t>
            </a:r>
            <a:r>
              <a:rPr lang="en-GB" spc="-50" dirty="0"/>
              <a:t>and </a:t>
            </a:r>
            <a:r>
              <a:rPr lang="en-GB" b="1" dirty="0">
                <a:latin typeface="Calibri"/>
                <a:cs typeface="Calibri"/>
              </a:rPr>
              <a:t>value.</a:t>
            </a:r>
            <a:endParaRPr lang="en-US" dirty="0"/>
          </a:p>
        </p:txBody>
      </p:sp>
      <p:sp>
        <p:nvSpPr>
          <p:cNvPr id="12" name="object 3">
            <a:extLst>
              <a:ext uri="{FF2B5EF4-FFF2-40B4-BE49-F238E27FC236}">
                <a16:creationId xmlns:a16="http://schemas.microsoft.com/office/drawing/2014/main" id="{185759D4-229A-C30F-5C4B-6653E1781106}"/>
              </a:ext>
            </a:extLst>
          </p:cNvPr>
          <p:cNvSpPr txBox="1">
            <a:spLocks/>
          </p:cNvSpPr>
          <p:nvPr/>
        </p:nvSpPr>
        <p:spPr>
          <a:xfrm>
            <a:off x="1200250" y="6035575"/>
            <a:ext cx="8893616" cy="4950073"/>
          </a:xfrm>
          <a:prstGeom prst="rect">
            <a:avLst/>
          </a:prstGeom>
          <a:solidFill>
            <a:schemeClr val="tx1">
              <a:lumMod val="95000"/>
              <a:lumOff val="5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09600" lvl="1" indent="0" hangingPunct="1">
              <a:lnSpc>
                <a:spcPct val="100000"/>
              </a:lnSpc>
              <a:spcBef>
                <a:spcPts val="0"/>
              </a:spcBef>
              <a:buNone/>
            </a:pPr>
            <a:r>
              <a:rPr lang="en-GB" sz="3200" spc="-20" dirty="0">
                <a:solidFill>
                  <a:schemeClr val="bg1">
                    <a:lumMod val="95000"/>
                  </a:schemeClr>
                </a:solidFill>
                <a:latin typeface="Courier New"/>
                <a:cs typeface="Courier New"/>
              </a:rPr>
              <a:t>&lt;p&gt;</a:t>
            </a:r>
          </a:p>
          <a:p>
            <a:pPr marL="1219200" lvl="2" indent="0" hangingPunct="1">
              <a:lnSpc>
                <a:spcPct val="100000"/>
              </a:lnSpc>
              <a:spcBef>
                <a:spcPts val="0"/>
              </a:spcBef>
              <a:buNone/>
            </a:pPr>
            <a:r>
              <a:rPr lang="en-GB" sz="3200" spc="-20" dirty="0">
                <a:solidFill>
                  <a:schemeClr val="bg1">
                    <a:lumMod val="95000"/>
                  </a:schemeClr>
                </a:solidFill>
                <a:latin typeface="Courier New"/>
                <a:cs typeface="Courier New"/>
              </a:rPr>
              <a:t>&lt;strong&gt;</a:t>
            </a:r>
          </a:p>
          <a:p>
            <a:pPr marL="1828800" lvl="3" indent="0" hangingPunct="1">
              <a:lnSpc>
                <a:spcPct val="100000"/>
              </a:lnSpc>
              <a:spcBef>
                <a:spcPts val="0"/>
              </a:spcBef>
              <a:buNone/>
            </a:pPr>
            <a:r>
              <a:rPr lang="en-GB" sz="3200" spc="-20" dirty="0">
                <a:solidFill>
                  <a:schemeClr val="bg1">
                    <a:lumMod val="95000"/>
                  </a:schemeClr>
                </a:solidFill>
                <a:latin typeface="Courier New"/>
                <a:cs typeface="Courier New"/>
              </a:rPr>
              <a:t>This is bold text.</a:t>
            </a:r>
          </a:p>
          <a:p>
            <a:pPr marL="1828800" lvl="3" indent="0" hangingPunct="1">
              <a:lnSpc>
                <a:spcPct val="100000"/>
              </a:lnSpc>
              <a:spcBef>
                <a:spcPts val="0"/>
              </a:spcBef>
              <a:buNone/>
            </a:pPr>
            <a:r>
              <a:rPr lang="en-GB" sz="3200" spc="-20" dirty="0">
                <a:solidFill>
                  <a:schemeClr val="bg1">
                    <a:lumMod val="95000"/>
                  </a:schemeClr>
                </a:solidFill>
                <a:latin typeface="Courier New"/>
                <a:cs typeface="Courier New"/>
              </a:rPr>
              <a:t>&lt;font </a:t>
            </a:r>
            <a:r>
              <a:rPr lang="en-GB" sz="3200" spc="-20" dirty="0" err="1">
                <a:solidFill>
                  <a:srgbClr val="FF0000"/>
                </a:solidFill>
                <a:latin typeface="Courier New"/>
                <a:cs typeface="Courier New"/>
              </a:rPr>
              <a:t>color</a:t>
            </a:r>
            <a:r>
              <a:rPr lang="en-GB" sz="3200" spc="-20" dirty="0">
                <a:latin typeface="Courier New"/>
                <a:cs typeface="Courier New"/>
              </a:rPr>
              <a:t>=</a:t>
            </a:r>
            <a:r>
              <a:rPr lang="en-GB" sz="3200" spc="-20" dirty="0">
                <a:solidFill>
                  <a:srgbClr val="00B050"/>
                </a:solidFill>
                <a:latin typeface="Courier New"/>
                <a:cs typeface="Courier New"/>
              </a:rPr>
              <a:t>“red”</a:t>
            </a:r>
            <a:r>
              <a:rPr lang="en-GB" sz="3200" spc="-20" dirty="0">
                <a:solidFill>
                  <a:schemeClr val="bg1">
                    <a:lumMod val="95000"/>
                  </a:schemeClr>
                </a:solidFill>
                <a:latin typeface="Courier New"/>
                <a:cs typeface="Courier New"/>
              </a:rPr>
              <a:t>&gt; </a:t>
            </a:r>
          </a:p>
          <a:p>
            <a:pPr marL="1828800" lvl="3" indent="0" hangingPunct="1">
              <a:lnSpc>
                <a:spcPct val="100000"/>
              </a:lnSpc>
              <a:spcBef>
                <a:spcPts val="0"/>
              </a:spcBef>
              <a:buNone/>
            </a:pPr>
            <a:r>
              <a:rPr lang="en-GB" sz="3200" spc="-20" dirty="0">
                <a:solidFill>
                  <a:schemeClr val="bg1">
                    <a:lumMod val="95000"/>
                  </a:schemeClr>
                </a:solidFill>
                <a:latin typeface="Courier New"/>
                <a:cs typeface="Courier New"/>
              </a:rPr>
              <a:t>I’m red and bold! &lt;/font&gt;</a:t>
            </a:r>
          </a:p>
          <a:p>
            <a:pPr marL="1219200" lvl="2" indent="0" hangingPunct="1">
              <a:lnSpc>
                <a:spcPct val="100000"/>
              </a:lnSpc>
              <a:spcBef>
                <a:spcPts val="0"/>
              </a:spcBef>
              <a:buNone/>
            </a:pPr>
            <a:r>
              <a:rPr lang="en-GB" sz="3200" spc="-20" dirty="0">
                <a:solidFill>
                  <a:schemeClr val="bg1">
                    <a:lumMod val="95000"/>
                  </a:schemeClr>
                </a:solidFill>
                <a:latin typeface="Courier New"/>
                <a:cs typeface="Courier New"/>
              </a:rPr>
              <a:t>&lt;/strong&gt;</a:t>
            </a:r>
          </a:p>
          <a:p>
            <a:pPr marL="1219200" lvl="2" indent="0" hangingPunct="1">
              <a:lnSpc>
                <a:spcPct val="100000"/>
              </a:lnSpc>
              <a:spcBef>
                <a:spcPts val="0"/>
              </a:spcBef>
              <a:buNone/>
            </a:pPr>
            <a:r>
              <a:rPr lang="en-GB" sz="3200" spc="-20" dirty="0">
                <a:solidFill>
                  <a:schemeClr val="bg1">
                    <a:lumMod val="95000"/>
                  </a:schemeClr>
                </a:solidFill>
                <a:latin typeface="Courier New"/>
                <a:cs typeface="Courier New"/>
              </a:rPr>
              <a:t>&lt;font </a:t>
            </a:r>
            <a:r>
              <a:rPr lang="en-GB" sz="3200" spc="-20" dirty="0" err="1">
                <a:solidFill>
                  <a:srgbClr val="FF0000"/>
                </a:solidFill>
                <a:latin typeface="Courier New"/>
                <a:cs typeface="Courier New"/>
              </a:rPr>
              <a:t>color</a:t>
            </a:r>
            <a:r>
              <a:rPr lang="en-GB" sz="3200" spc="-20" dirty="0">
                <a:latin typeface="Courier New"/>
                <a:cs typeface="Courier New"/>
              </a:rPr>
              <a:t>=</a:t>
            </a:r>
            <a:r>
              <a:rPr lang="en-GB" sz="3200" spc="-20" dirty="0">
                <a:solidFill>
                  <a:srgbClr val="00B050"/>
                </a:solidFill>
                <a:latin typeface="Courier New"/>
                <a:cs typeface="Courier New"/>
              </a:rPr>
              <a:t>“blue”</a:t>
            </a:r>
            <a:r>
              <a:rPr lang="en-GB" sz="3200" spc="-20" dirty="0">
                <a:solidFill>
                  <a:schemeClr val="bg1">
                    <a:lumMod val="95000"/>
                  </a:schemeClr>
                </a:solidFill>
                <a:latin typeface="Courier New"/>
                <a:cs typeface="Courier New"/>
              </a:rPr>
              <a:t>&gt;</a:t>
            </a:r>
          </a:p>
          <a:p>
            <a:pPr marL="1828800" lvl="3" indent="0" hangingPunct="1">
              <a:lnSpc>
                <a:spcPct val="100000"/>
              </a:lnSpc>
              <a:spcBef>
                <a:spcPts val="0"/>
              </a:spcBef>
              <a:buNone/>
            </a:pPr>
            <a:r>
              <a:rPr lang="en-GB" sz="3200" spc="-20" dirty="0">
                <a:solidFill>
                  <a:schemeClr val="bg1">
                    <a:lumMod val="95000"/>
                  </a:schemeClr>
                </a:solidFill>
                <a:latin typeface="Courier New"/>
                <a:cs typeface="Courier New"/>
              </a:rPr>
              <a:t>I’m not bold and blue.</a:t>
            </a:r>
          </a:p>
          <a:p>
            <a:pPr marL="1219200" lvl="2" indent="0" hangingPunct="1">
              <a:lnSpc>
                <a:spcPct val="100000"/>
              </a:lnSpc>
              <a:spcBef>
                <a:spcPts val="0"/>
              </a:spcBef>
              <a:buNone/>
            </a:pPr>
            <a:r>
              <a:rPr lang="en-GB" sz="3200" spc="-20" dirty="0">
                <a:solidFill>
                  <a:schemeClr val="bg1">
                    <a:lumMod val="95000"/>
                  </a:schemeClr>
                </a:solidFill>
                <a:latin typeface="Courier New"/>
                <a:cs typeface="Courier New"/>
              </a:rPr>
              <a:t>&lt;/font&gt;</a:t>
            </a:r>
          </a:p>
          <a:p>
            <a:pPr marL="609600" lvl="1" indent="0" hangingPunct="1">
              <a:lnSpc>
                <a:spcPct val="100000"/>
              </a:lnSpc>
              <a:spcBef>
                <a:spcPts val="0"/>
              </a:spcBef>
              <a:buNone/>
            </a:pPr>
            <a:r>
              <a:rPr lang="en-GB" sz="3200" spc="-20" dirty="0">
                <a:solidFill>
                  <a:schemeClr val="bg1">
                    <a:lumMod val="95000"/>
                  </a:schemeClr>
                </a:solidFill>
                <a:latin typeface="Courier New"/>
                <a:cs typeface="Courier New"/>
              </a:rPr>
              <a:t>&lt;/p&gt;</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xfrm>
            <a:off x="1200251" y="1204188"/>
            <a:ext cx="21971000" cy="1231363"/>
          </a:xfrm>
          <a:prstGeom prst="rect">
            <a:avLst/>
          </a:prstGeom>
        </p:spPr>
        <p:txBody>
          <a:bodyPr vert="horz" wrap="square" lIns="0" tIns="97790" rIns="0" bIns="0" rtlCol="0">
            <a:spAutoFit/>
          </a:bodyPr>
          <a:lstStyle/>
          <a:p>
            <a:pPr marL="25400" marR="10160">
              <a:lnSpc>
                <a:spcPct val="92200"/>
              </a:lnSpc>
              <a:spcBef>
                <a:spcPts val="770"/>
              </a:spcBef>
            </a:pPr>
            <a:r>
              <a:rPr lang="en-GB" spc="-20" dirty="0"/>
              <a:t>Exercise</a:t>
            </a:r>
            <a:endParaRPr spc="-20" dirty="0"/>
          </a:p>
        </p:txBody>
      </p:sp>
      <p:pic>
        <p:nvPicPr>
          <p:cNvPr id="2" name="object 2"/>
          <p:cNvPicPr/>
          <p:nvPr/>
        </p:nvPicPr>
        <p:blipFill>
          <a:blip r:embed="rId2" cstate="print"/>
          <a:stretch>
            <a:fillRect/>
          </a:stretch>
        </p:blipFill>
        <p:spPr>
          <a:xfrm>
            <a:off x="3249376" y="5958612"/>
            <a:ext cx="7200900" cy="6553200"/>
          </a:xfrm>
          <a:prstGeom prst="rect">
            <a:avLst/>
          </a:prstGeom>
        </p:spPr>
      </p:pic>
      <p:pic>
        <p:nvPicPr>
          <p:cNvPr id="5" name="object 5"/>
          <p:cNvPicPr/>
          <p:nvPr/>
        </p:nvPicPr>
        <p:blipFill>
          <a:blip r:embed="rId3" cstate="print"/>
          <a:stretch>
            <a:fillRect/>
          </a:stretch>
        </p:blipFill>
        <p:spPr>
          <a:xfrm>
            <a:off x="13111639" y="6636884"/>
            <a:ext cx="6179146" cy="3970866"/>
          </a:xfrm>
          <a:prstGeom prst="rect">
            <a:avLst/>
          </a:prstGeom>
        </p:spPr>
      </p:pic>
      <p:sp>
        <p:nvSpPr>
          <p:cNvPr id="8" name="TextBox 7">
            <a:extLst>
              <a:ext uri="{FF2B5EF4-FFF2-40B4-BE49-F238E27FC236}">
                <a16:creationId xmlns:a16="http://schemas.microsoft.com/office/drawing/2014/main" id="{96F3E308-3C3C-F243-F3E7-AF1C15F17B91}"/>
              </a:ext>
            </a:extLst>
          </p:cNvPr>
          <p:cNvSpPr txBox="1"/>
          <p:nvPr/>
        </p:nvSpPr>
        <p:spPr>
          <a:xfrm>
            <a:off x="1200250" y="3108250"/>
            <a:ext cx="21970999" cy="20867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dirty="0"/>
              <a:t>The </a:t>
            </a:r>
            <a:r>
              <a:rPr lang="en-GB" spc="20" dirty="0"/>
              <a:t> </a:t>
            </a:r>
            <a:r>
              <a:rPr lang="en-GB" dirty="0"/>
              <a:t>HTML</a:t>
            </a:r>
            <a:r>
              <a:rPr lang="en-GB" spc="90" dirty="0"/>
              <a:t> </a:t>
            </a:r>
            <a:r>
              <a:rPr lang="en-GB" dirty="0"/>
              <a:t>produces</a:t>
            </a:r>
            <a:r>
              <a:rPr lang="en-GB" spc="260" dirty="0"/>
              <a:t> </a:t>
            </a:r>
            <a:r>
              <a:rPr lang="en-GB" dirty="0"/>
              <a:t>the</a:t>
            </a:r>
            <a:r>
              <a:rPr lang="en-GB" spc="110" dirty="0"/>
              <a:t> </a:t>
            </a:r>
            <a:r>
              <a:rPr lang="en-GB" dirty="0"/>
              <a:t>table</a:t>
            </a:r>
            <a:r>
              <a:rPr lang="en-GB" spc="120" dirty="0"/>
              <a:t> </a:t>
            </a:r>
            <a:r>
              <a:rPr lang="en-GB" dirty="0"/>
              <a:t>on</a:t>
            </a:r>
            <a:r>
              <a:rPr lang="en-GB" spc="260" dirty="0"/>
              <a:t> </a:t>
            </a:r>
            <a:r>
              <a:rPr lang="en-GB" dirty="0"/>
              <a:t>the</a:t>
            </a:r>
            <a:r>
              <a:rPr lang="en-GB" spc="110" dirty="0"/>
              <a:t> </a:t>
            </a:r>
            <a:r>
              <a:rPr lang="en-GB" dirty="0"/>
              <a:t>right.</a:t>
            </a:r>
            <a:r>
              <a:rPr lang="en-GB" spc="50" dirty="0"/>
              <a:t> </a:t>
            </a:r>
            <a:r>
              <a:rPr lang="en-GB" b="1" spc="-20" dirty="0"/>
              <a:t>Describe </a:t>
            </a:r>
            <a:r>
              <a:rPr lang="en-GB" b="1" dirty="0">
                <a:latin typeface="Calibri"/>
                <a:cs typeface="Calibri"/>
              </a:rPr>
              <a:t>the</a:t>
            </a:r>
            <a:r>
              <a:rPr lang="en-GB" b="1" spc="70" dirty="0"/>
              <a:t> </a:t>
            </a:r>
            <a:r>
              <a:rPr lang="en-GB" b="1" dirty="0">
                <a:latin typeface="Calibri"/>
                <a:cs typeface="Calibri"/>
              </a:rPr>
              <a:t>combination</a:t>
            </a:r>
            <a:r>
              <a:rPr lang="en-GB" b="1" spc="60" dirty="0"/>
              <a:t> </a:t>
            </a:r>
            <a:r>
              <a:rPr lang="en-GB" b="1" dirty="0">
                <a:latin typeface="Calibri"/>
                <a:cs typeface="Calibri"/>
              </a:rPr>
              <a:t>of</a:t>
            </a:r>
            <a:r>
              <a:rPr lang="en-GB" b="1" spc="70" dirty="0"/>
              <a:t> </a:t>
            </a:r>
            <a:r>
              <a:rPr lang="en-GB" b="1" dirty="0">
                <a:latin typeface="Calibri"/>
                <a:cs typeface="Calibri"/>
              </a:rPr>
              <a:t>tag</a:t>
            </a:r>
            <a:r>
              <a:rPr lang="en-GB" b="1" spc="90" dirty="0"/>
              <a:t> </a:t>
            </a:r>
            <a:r>
              <a:rPr lang="en-GB" b="1" dirty="0">
                <a:latin typeface="Calibri"/>
                <a:cs typeface="Calibri"/>
              </a:rPr>
              <a:t>name,</a:t>
            </a:r>
            <a:r>
              <a:rPr lang="en-GB" b="1" spc="240" dirty="0"/>
              <a:t> </a:t>
            </a:r>
            <a:r>
              <a:rPr lang="en-GB" b="1" dirty="0">
                <a:latin typeface="Calibri"/>
                <a:cs typeface="Calibri"/>
              </a:rPr>
              <a:t>attribute</a:t>
            </a:r>
            <a:r>
              <a:rPr lang="en-GB" b="1" spc="220" dirty="0"/>
              <a:t> </a:t>
            </a:r>
            <a:r>
              <a:rPr lang="en-GB" b="1" dirty="0">
                <a:latin typeface="Calibri"/>
                <a:cs typeface="Calibri"/>
              </a:rPr>
              <a:t>and</a:t>
            </a:r>
            <a:r>
              <a:rPr lang="en-GB" b="1" spc="190" dirty="0"/>
              <a:t> </a:t>
            </a:r>
            <a:r>
              <a:rPr lang="en-GB" b="1" dirty="0">
                <a:latin typeface="Calibri"/>
                <a:cs typeface="Calibri"/>
              </a:rPr>
              <a:t>value</a:t>
            </a:r>
            <a:r>
              <a:rPr lang="en-GB" b="1" spc="170" dirty="0"/>
              <a:t> </a:t>
            </a:r>
            <a:r>
              <a:rPr lang="en-GB" dirty="0"/>
              <a:t>(Do</a:t>
            </a:r>
            <a:r>
              <a:rPr lang="en-GB" spc="240" dirty="0"/>
              <a:t> </a:t>
            </a:r>
            <a:r>
              <a:rPr lang="en-GB" dirty="0"/>
              <a:t>you</a:t>
            </a:r>
            <a:r>
              <a:rPr lang="en-GB" spc="90" dirty="0"/>
              <a:t> </a:t>
            </a:r>
            <a:r>
              <a:rPr lang="en-GB" dirty="0"/>
              <a:t>need</a:t>
            </a:r>
            <a:r>
              <a:rPr lang="en-GB" spc="240" dirty="0"/>
              <a:t> </a:t>
            </a:r>
            <a:r>
              <a:rPr lang="en-GB" spc="-50" dirty="0"/>
              <a:t>all </a:t>
            </a:r>
            <a:r>
              <a:rPr lang="en-GB" dirty="0"/>
              <a:t>three?)</a:t>
            </a:r>
            <a:r>
              <a:rPr lang="en-GB" spc="110" dirty="0"/>
              <a:t> </a:t>
            </a:r>
            <a:r>
              <a:rPr lang="en-GB" dirty="0"/>
              <a:t>that</a:t>
            </a:r>
            <a:r>
              <a:rPr lang="en-GB" spc="110" dirty="0"/>
              <a:t> </a:t>
            </a:r>
            <a:r>
              <a:rPr lang="en-GB" dirty="0"/>
              <a:t>will</a:t>
            </a:r>
            <a:r>
              <a:rPr lang="en-GB" spc="80" dirty="0"/>
              <a:t> </a:t>
            </a:r>
            <a:r>
              <a:rPr lang="en-GB" dirty="0"/>
              <a:t>allow</a:t>
            </a:r>
            <a:r>
              <a:rPr lang="en-GB" spc="100" dirty="0"/>
              <a:t> </a:t>
            </a:r>
            <a:r>
              <a:rPr lang="en-GB" dirty="0"/>
              <a:t>you</a:t>
            </a:r>
            <a:r>
              <a:rPr lang="en-GB" spc="100" dirty="0"/>
              <a:t> </a:t>
            </a:r>
            <a:r>
              <a:rPr lang="en-GB" dirty="0"/>
              <a:t>to</a:t>
            </a:r>
            <a:r>
              <a:rPr lang="en-GB" spc="80" dirty="0"/>
              <a:t> </a:t>
            </a:r>
            <a:r>
              <a:rPr lang="en-GB" dirty="0"/>
              <a:t>extract</a:t>
            </a:r>
            <a:r>
              <a:rPr lang="en-GB" spc="110" dirty="0"/>
              <a:t> only </a:t>
            </a:r>
            <a:r>
              <a:rPr lang="en-GB" dirty="0"/>
              <a:t>the</a:t>
            </a:r>
            <a:r>
              <a:rPr lang="en-GB" spc="100" dirty="0"/>
              <a:t> </a:t>
            </a:r>
            <a:r>
              <a:rPr lang="en-GB" dirty="0"/>
              <a:t>brands</a:t>
            </a:r>
            <a:r>
              <a:rPr lang="en-GB" spc="80" dirty="0"/>
              <a:t> </a:t>
            </a:r>
            <a:r>
              <a:rPr lang="en-GB" dirty="0"/>
              <a:t>of</a:t>
            </a:r>
            <a:r>
              <a:rPr lang="en-GB" spc="120" dirty="0"/>
              <a:t> </a:t>
            </a:r>
            <a:r>
              <a:rPr lang="en-GB" dirty="0"/>
              <a:t>the</a:t>
            </a:r>
            <a:r>
              <a:rPr lang="en-GB" spc="100" dirty="0"/>
              <a:t> </a:t>
            </a:r>
            <a:r>
              <a:rPr lang="en-GB" spc="-20" dirty="0"/>
              <a:t>cars.</a:t>
            </a:r>
            <a:endParaRPr lang="en-US" dirty="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9144507" y="616713"/>
            <a:ext cx="6216650" cy="991870"/>
          </a:xfrm>
          <a:prstGeom prst="rect">
            <a:avLst/>
          </a:prstGeom>
        </p:spPr>
      </p:pic>
      <p:sp>
        <p:nvSpPr>
          <p:cNvPr id="4" name="object 4" descr="$PPTXTitle"/>
          <p:cNvSpPr txBox="1">
            <a:spLocks noGrp="1"/>
          </p:cNvSpPr>
          <p:nvPr>
            <p:ph type="title"/>
          </p:nvPr>
        </p:nvSpPr>
        <p:spPr>
          <a:xfrm>
            <a:off x="1200251" y="1204188"/>
            <a:ext cx="21971000" cy="1231363"/>
          </a:xfrm>
          <a:prstGeom prst="rect">
            <a:avLst/>
          </a:prstGeom>
        </p:spPr>
        <p:txBody>
          <a:bodyPr vert="horz" wrap="square" lIns="0" tIns="97790" rIns="0" bIns="0" rtlCol="0">
            <a:spAutoFit/>
          </a:bodyPr>
          <a:lstStyle/>
          <a:p>
            <a:pPr marL="25400" marR="10160">
              <a:lnSpc>
                <a:spcPct val="92200"/>
              </a:lnSpc>
              <a:spcBef>
                <a:spcPts val="770"/>
              </a:spcBef>
            </a:pPr>
            <a:r>
              <a:rPr lang="en-GB" spc="-20" dirty="0"/>
              <a:t>Exercise</a:t>
            </a:r>
            <a:endParaRPr spc="-20" dirty="0"/>
          </a:p>
        </p:txBody>
      </p:sp>
      <p:pic>
        <p:nvPicPr>
          <p:cNvPr id="2" name="object 2"/>
          <p:cNvPicPr/>
          <p:nvPr/>
        </p:nvPicPr>
        <p:blipFill>
          <a:blip r:embed="rId3" cstate="print"/>
          <a:stretch>
            <a:fillRect/>
          </a:stretch>
        </p:blipFill>
        <p:spPr>
          <a:xfrm>
            <a:off x="1856874" y="3893590"/>
            <a:ext cx="8249652" cy="7687176"/>
          </a:xfrm>
          <a:prstGeom prst="rect">
            <a:avLst/>
          </a:prstGeom>
        </p:spPr>
      </p:pic>
      <p:sp>
        <p:nvSpPr>
          <p:cNvPr id="5" name="object 5"/>
          <p:cNvSpPr txBox="1"/>
          <p:nvPr/>
        </p:nvSpPr>
        <p:spPr>
          <a:xfrm>
            <a:off x="10978642" y="5725794"/>
            <a:ext cx="11747500" cy="2011384"/>
          </a:xfrm>
          <a:prstGeom prst="rect">
            <a:avLst/>
          </a:prstGeom>
        </p:spPr>
        <p:txBody>
          <a:bodyPr vert="horz" wrap="square" lIns="0" tIns="66040" rIns="0" bIns="0" rtlCol="0">
            <a:spAutoFit/>
          </a:bodyPr>
          <a:lstStyle/>
          <a:p>
            <a:pPr marL="25400" marR="10160">
              <a:lnSpc>
                <a:spcPts val="7658"/>
              </a:lnSpc>
              <a:spcBef>
                <a:spcPts val="520"/>
              </a:spcBef>
            </a:pPr>
            <a:r>
              <a:rPr sz="6400" spc="-120" dirty="0">
                <a:latin typeface="Calibri"/>
                <a:cs typeface="Calibri"/>
              </a:rPr>
              <a:t>“Any </a:t>
            </a:r>
            <a:r>
              <a:rPr sz="6400" dirty="0">
                <a:latin typeface="Calibri"/>
                <a:cs typeface="Calibri"/>
              </a:rPr>
              <a:t>&lt;td&gt;</a:t>
            </a:r>
            <a:r>
              <a:rPr sz="6400" spc="-100" dirty="0">
                <a:latin typeface="Calibri"/>
                <a:cs typeface="Calibri"/>
              </a:rPr>
              <a:t> </a:t>
            </a:r>
            <a:r>
              <a:rPr sz="6400" dirty="0">
                <a:latin typeface="Calibri"/>
                <a:cs typeface="Calibri"/>
              </a:rPr>
              <a:t>tag</a:t>
            </a:r>
            <a:r>
              <a:rPr sz="6400" spc="-210" dirty="0">
                <a:latin typeface="Calibri"/>
                <a:cs typeface="Calibri"/>
              </a:rPr>
              <a:t> </a:t>
            </a:r>
            <a:r>
              <a:rPr sz="6400" dirty="0">
                <a:latin typeface="Calibri"/>
                <a:cs typeface="Calibri"/>
              </a:rPr>
              <a:t>that</a:t>
            </a:r>
            <a:r>
              <a:rPr sz="6400" spc="-100" dirty="0">
                <a:latin typeface="Calibri"/>
                <a:cs typeface="Calibri"/>
              </a:rPr>
              <a:t> </a:t>
            </a:r>
            <a:r>
              <a:rPr sz="6400" dirty="0">
                <a:latin typeface="Calibri"/>
                <a:cs typeface="Calibri"/>
              </a:rPr>
              <a:t>has</a:t>
            </a:r>
            <a:r>
              <a:rPr sz="6400" spc="-30" dirty="0">
                <a:latin typeface="Calibri"/>
                <a:cs typeface="Calibri"/>
              </a:rPr>
              <a:t> </a:t>
            </a:r>
            <a:r>
              <a:rPr sz="6400" dirty="0">
                <a:latin typeface="Calibri"/>
                <a:cs typeface="Calibri"/>
              </a:rPr>
              <a:t>the</a:t>
            </a:r>
            <a:r>
              <a:rPr sz="6400" spc="-228" dirty="0">
                <a:latin typeface="Calibri"/>
                <a:cs typeface="Calibri"/>
              </a:rPr>
              <a:t> </a:t>
            </a:r>
            <a:r>
              <a:rPr sz="6400" spc="-20" dirty="0">
                <a:latin typeface="Calibri"/>
                <a:cs typeface="Calibri"/>
              </a:rPr>
              <a:t>attribute </a:t>
            </a:r>
            <a:r>
              <a:rPr sz="6400" i="1" dirty="0">
                <a:latin typeface="Calibri"/>
                <a:cs typeface="Calibri"/>
              </a:rPr>
              <a:t>class</a:t>
            </a:r>
            <a:r>
              <a:rPr sz="6400" i="1" spc="-70" dirty="0">
                <a:latin typeface="Calibri"/>
                <a:cs typeface="Calibri"/>
              </a:rPr>
              <a:t> </a:t>
            </a:r>
            <a:r>
              <a:rPr sz="6400" dirty="0">
                <a:latin typeface="Calibri"/>
                <a:cs typeface="Calibri"/>
              </a:rPr>
              <a:t>with</a:t>
            </a:r>
            <a:r>
              <a:rPr sz="6400" spc="-150" dirty="0">
                <a:latin typeface="Calibri"/>
                <a:cs typeface="Calibri"/>
              </a:rPr>
              <a:t> </a:t>
            </a:r>
            <a:r>
              <a:rPr sz="6400" dirty="0">
                <a:latin typeface="Calibri"/>
                <a:cs typeface="Calibri"/>
              </a:rPr>
              <a:t>the</a:t>
            </a:r>
            <a:r>
              <a:rPr sz="6400" spc="-110" dirty="0">
                <a:latin typeface="Calibri"/>
                <a:cs typeface="Calibri"/>
              </a:rPr>
              <a:t> </a:t>
            </a:r>
            <a:r>
              <a:rPr sz="6400" dirty="0">
                <a:latin typeface="Calibri"/>
                <a:cs typeface="Calibri"/>
              </a:rPr>
              <a:t>value</a:t>
            </a:r>
            <a:r>
              <a:rPr sz="6400" spc="-60" dirty="0">
                <a:latin typeface="Calibri"/>
                <a:cs typeface="Calibri"/>
              </a:rPr>
              <a:t> </a:t>
            </a:r>
            <a:r>
              <a:rPr sz="6400" i="1" spc="-20" dirty="0">
                <a:latin typeface="Calibri"/>
                <a:cs typeface="Calibri"/>
              </a:rPr>
              <a:t>brand”</a:t>
            </a:r>
            <a:endParaRPr sz="6400" dirty="0">
              <a:latin typeface="Calibri"/>
              <a:cs typeface="Calibri"/>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xfrm>
            <a:off x="1200251" y="1204188"/>
            <a:ext cx="21971000" cy="985847"/>
          </a:xfrm>
          <a:prstGeom prst="rect">
            <a:avLst/>
          </a:prstGeom>
        </p:spPr>
        <p:txBody>
          <a:bodyPr vert="horz" wrap="square" lIns="0" tIns="105410" rIns="0" bIns="0" rtlCol="0">
            <a:spAutoFit/>
          </a:bodyPr>
          <a:lstStyle/>
          <a:p>
            <a:pPr marL="25400" marR="10160">
              <a:lnSpc>
                <a:spcPts val="6160"/>
              </a:lnSpc>
              <a:spcBef>
                <a:spcPts val="830"/>
              </a:spcBef>
            </a:pPr>
            <a:r>
              <a:rPr lang="en-GB" dirty="0"/>
              <a:t>Exercise</a:t>
            </a:r>
            <a:endParaRPr spc="-20" dirty="0"/>
          </a:p>
        </p:txBody>
      </p:sp>
      <p:sp>
        <p:nvSpPr>
          <p:cNvPr id="7" name="TextBox 6">
            <a:extLst>
              <a:ext uri="{FF2B5EF4-FFF2-40B4-BE49-F238E27FC236}">
                <a16:creationId xmlns:a16="http://schemas.microsoft.com/office/drawing/2014/main" id="{3FBD11D8-CFF5-E064-9D35-E8884D952D40}"/>
              </a:ext>
            </a:extLst>
          </p:cNvPr>
          <p:cNvSpPr txBox="1"/>
          <p:nvPr/>
        </p:nvSpPr>
        <p:spPr>
          <a:xfrm>
            <a:off x="1200251" y="3179172"/>
            <a:ext cx="22325296" cy="14219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dirty="0"/>
              <a:t>Can</a:t>
            </a:r>
            <a:r>
              <a:rPr lang="en-GB" spc="110" dirty="0"/>
              <a:t> </a:t>
            </a:r>
            <a:r>
              <a:rPr lang="en-GB" dirty="0"/>
              <a:t>you</a:t>
            </a:r>
            <a:r>
              <a:rPr lang="en-GB" spc="110" dirty="0"/>
              <a:t> </a:t>
            </a:r>
            <a:r>
              <a:rPr lang="en-GB" dirty="0"/>
              <a:t>describe</a:t>
            </a:r>
            <a:r>
              <a:rPr lang="en-GB" spc="120" dirty="0"/>
              <a:t> </a:t>
            </a:r>
            <a:r>
              <a:rPr lang="en-GB" dirty="0"/>
              <a:t>the</a:t>
            </a:r>
            <a:r>
              <a:rPr lang="en-GB" spc="120" dirty="0"/>
              <a:t> </a:t>
            </a:r>
            <a:r>
              <a:rPr lang="en-GB" dirty="0"/>
              <a:t>combination</a:t>
            </a:r>
            <a:r>
              <a:rPr lang="en-GB" spc="110" dirty="0"/>
              <a:t> </a:t>
            </a:r>
            <a:r>
              <a:rPr lang="en-GB" dirty="0"/>
              <a:t>of</a:t>
            </a:r>
            <a:r>
              <a:rPr lang="en-GB" spc="140" dirty="0"/>
              <a:t> </a:t>
            </a:r>
            <a:r>
              <a:rPr lang="en-GB" dirty="0"/>
              <a:t>tag</a:t>
            </a:r>
            <a:r>
              <a:rPr lang="en-GB" spc="120" dirty="0"/>
              <a:t> </a:t>
            </a:r>
            <a:r>
              <a:rPr lang="en-GB" dirty="0"/>
              <a:t>name,</a:t>
            </a:r>
            <a:r>
              <a:rPr lang="en-GB" spc="150" dirty="0"/>
              <a:t> </a:t>
            </a:r>
            <a:r>
              <a:rPr lang="en-GB" dirty="0"/>
              <a:t>attribute</a:t>
            </a:r>
            <a:r>
              <a:rPr lang="en-GB" spc="120" dirty="0"/>
              <a:t> </a:t>
            </a:r>
            <a:r>
              <a:rPr lang="en-GB" dirty="0"/>
              <a:t>and</a:t>
            </a:r>
            <a:r>
              <a:rPr lang="en-GB" spc="110" dirty="0"/>
              <a:t> </a:t>
            </a:r>
            <a:r>
              <a:rPr lang="en-GB" dirty="0"/>
              <a:t>value</a:t>
            </a:r>
            <a:r>
              <a:rPr lang="en-GB" spc="120" dirty="0"/>
              <a:t> </a:t>
            </a:r>
            <a:r>
              <a:rPr lang="en-GB" spc="-40" dirty="0"/>
              <a:t>that </a:t>
            </a:r>
            <a:r>
              <a:rPr lang="en-GB" dirty="0"/>
              <a:t>would</a:t>
            </a:r>
            <a:r>
              <a:rPr lang="en-GB" spc="30" dirty="0"/>
              <a:t> </a:t>
            </a:r>
            <a:r>
              <a:rPr lang="en-GB" dirty="0"/>
              <a:t>get</a:t>
            </a:r>
            <a:r>
              <a:rPr lang="en-GB" spc="70" dirty="0"/>
              <a:t> </a:t>
            </a:r>
            <a:r>
              <a:rPr lang="en-GB" dirty="0"/>
              <a:t>us</a:t>
            </a:r>
            <a:r>
              <a:rPr lang="en-GB" spc="200" dirty="0"/>
              <a:t> </a:t>
            </a:r>
            <a:r>
              <a:rPr lang="en-GB" dirty="0"/>
              <a:t>the</a:t>
            </a:r>
            <a:r>
              <a:rPr lang="en-GB" spc="60" dirty="0"/>
              <a:t> </a:t>
            </a:r>
            <a:r>
              <a:rPr lang="en-GB" dirty="0"/>
              <a:t>brands</a:t>
            </a:r>
            <a:r>
              <a:rPr lang="en-GB" spc="60" dirty="0"/>
              <a:t> </a:t>
            </a:r>
            <a:r>
              <a:rPr lang="en-GB" dirty="0"/>
              <a:t>of</a:t>
            </a:r>
            <a:r>
              <a:rPr lang="en-GB" spc="80" dirty="0"/>
              <a:t> </a:t>
            </a:r>
            <a:r>
              <a:rPr lang="en-GB" dirty="0"/>
              <a:t>the</a:t>
            </a:r>
            <a:r>
              <a:rPr lang="en-GB" spc="70" dirty="0"/>
              <a:t> </a:t>
            </a:r>
            <a:r>
              <a:rPr lang="en-GB" dirty="0"/>
              <a:t>cars?</a:t>
            </a:r>
            <a:r>
              <a:rPr lang="en-GB" spc="100" dirty="0"/>
              <a:t> </a:t>
            </a:r>
            <a:r>
              <a:rPr lang="en-GB" dirty="0"/>
              <a:t>Why</a:t>
            </a:r>
            <a:r>
              <a:rPr lang="en-GB" spc="10" dirty="0"/>
              <a:t> </a:t>
            </a:r>
            <a:r>
              <a:rPr lang="en-GB" spc="-20" dirty="0"/>
              <a:t>(not?)</a:t>
            </a:r>
            <a:endParaRPr lang="en-US" dirty="0"/>
          </a:p>
        </p:txBody>
      </p:sp>
      <p:pic>
        <p:nvPicPr>
          <p:cNvPr id="8" name="object 2">
            <a:extLst>
              <a:ext uri="{FF2B5EF4-FFF2-40B4-BE49-F238E27FC236}">
                <a16:creationId xmlns:a16="http://schemas.microsoft.com/office/drawing/2014/main" id="{C881FCD4-EFFF-3767-EB80-ABA8EABAE934}"/>
              </a:ext>
            </a:extLst>
          </p:cNvPr>
          <p:cNvPicPr/>
          <p:nvPr/>
        </p:nvPicPr>
        <p:blipFill>
          <a:blip r:embed="rId2" cstate="print"/>
          <a:stretch>
            <a:fillRect/>
          </a:stretch>
        </p:blipFill>
        <p:spPr>
          <a:xfrm>
            <a:off x="3365834" y="5085774"/>
            <a:ext cx="5364079" cy="8058254"/>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24631-020B-F8A5-9C36-D1EBB38378F4}"/>
            </a:ext>
          </a:extLst>
        </p:cNvPr>
        <p:cNvGrpSpPr/>
        <p:nvPr/>
      </p:nvGrpSpPr>
      <p:grpSpPr>
        <a:xfrm>
          <a:off x="0" y="0"/>
          <a:ext cx="0" cy="0"/>
          <a:chOff x="0" y="0"/>
          <a:chExt cx="0" cy="0"/>
        </a:xfrm>
      </p:grpSpPr>
      <p:sp>
        <p:nvSpPr>
          <p:cNvPr id="4" name="object 4" descr="$PPTXTitle">
            <a:extLst>
              <a:ext uri="{FF2B5EF4-FFF2-40B4-BE49-F238E27FC236}">
                <a16:creationId xmlns:a16="http://schemas.microsoft.com/office/drawing/2014/main" id="{79BB66D4-CC89-B231-236A-6AE52BF0632A}"/>
              </a:ext>
            </a:extLst>
          </p:cNvPr>
          <p:cNvSpPr txBox="1">
            <a:spLocks noGrp="1"/>
          </p:cNvSpPr>
          <p:nvPr>
            <p:ph type="title"/>
          </p:nvPr>
        </p:nvSpPr>
        <p:spPr>
          <a:xfrm>
            <a:off x="1200251" y="1204188"/>
            <a:ext cx="21971000" cy="985847"/>
          </a:xfrm>
          <a:prstGeom prst="rect">
            <a:avLst/>
          </a:prstGeom>
        </p:spPr>
        <p:txBody>
          <a:bodyPr vert="horz" wrap="square" lIns="0" tIns="105410" rIns="0" bIns="0" rtlCol="0">
            <a:spAutoFit/>
          </a:bodyPr>
          <a:lstStyle/>
          <a:p>
            <a:pPr marL="25400" marR="10160">
              <a:lnSpc>
                <a:spcPts val="6160"/>
              </a:lnSpc>
              <a:spcBef>
                <a:spcPts val="830"/>
              </a:spcBef>
            </a:pPr>
            <a:r>
              <a:rPr lang="en-GB" dirty="0"/>
              <a:t>Exercise</a:t>
            </a:r>
            <a:endParaRPr spc="-20" dirty="0"/>
          </a:p>
        </p:txBody>
      </p:sp>
      <p:pic>
        <p:nvPicPr>
          <p:cNvPr id="2" name="object 2">
            <a:extLst>
              <a:ext uri="{FF2B5EF4-FFF2-40B4-BE49-F238E27FC236}">
                <a16:creationId xmlns:a16="http://schemas.microsoft.com/office/drawing/2014/main" id="{1F34F928-551C-4F66-9126-3E3088E5C404}"/>
              </a:ext>
            </a:extLst>
          </p:cNvPr>
          <p:cNvPicPr/>
          <p:nvPr/>
        </p:nvPicPr>
        <p:blipFill>
          <a:blip r:embed="rId2" cstate="print"/>
          <a:stretch>
            <a:fillRect/>
          </a:stretch>
        </p:blipFill>
        <p:spPr>
          <a:xfrm>
            <a:off x="3365834" y="5085774"/>
            <a:ext cx="5364079" cy="8058254"/>
          </a:xfrm>
          <a:prstGeom prst="rect">
            <a:avLst/>
          </a:prstGeom>
        </p:spPr>
      </p:pic>
      <p:sp>
        <p:nvSpPr>
          <p:cNvPr id="7" name="TextBox 6">
            <a:extLst>
              <a:ext uri="{FF2B5EF4-FFF2-40B4-BE49-F238E27FC236}">
                <a16:creationId xmlns:a16="http://schemas.microsoft.com/office/drawing/2014/main" id="{AF38F3F6-5CA9-51DE-E18E-24D967CD84E3}"/>
              </a:ext>
            </a:extLst>
          </p:cNvPr>
          <p:cNvSpPr txBox="1"/>
          <p:nvPr/>
        </p:nvSpPr>
        <p:spPr>
          <a:xfrm>
            <a:off x="1200251" y="3179172"/>
            <a:ext cx="22325296" cy="14219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dirty="0"/>
              <a:t>Can</a:t>
            </a:r>
            <a:r>
              <a:rPr lang="en-GB" spc="110" dirty="0"/>
              <a:t> </a:t>
            </a:r>
            <a:r>
              <a:rPr lang="en-GB" dirty="0"/>
              <a:t>you</a:t>
            </a:r>
            <a:r>
              <a:rPr lang="en-GB" spc="110" dirty="0"/>
              <a:t> </a:t>
            </a:r>
            <a:r>
              <a:rPr lang="en-GB" dirty="0"/>
              <a:t>describe</a:t>
            </a:r>
            <a:r>
              <a:rPr lang="en-GB" spc="120" dirty="0"/>
              <a:t> </a:t>
            </a:r>
            <a:r>
              <a:rPr lang="en-GB" dirty="0"/>
              <a:t>the</a:t>
            </a:r>
            <a:r>
              <a:rPr lang="en-GB" spc="120" dirty="0"/>
              <a:t> </a:t>
            </a:r>
            <a:r>
              <a:rPr lang="en-GB" dirty="0"/>
              <a:t>combination</a:t>
            </a:r>
            <a:r>
              <a:rPr lang="en-GB" spc="110" dirty="0"/>
              <a:t> </a:t>
            </a:r>
            <a:r>
              <a:rPr lang="en-GB" dirty="0"/>
              <a:t>of</a:t>
            </a:r>
            <a:r>
              <a:rPr lang="en-GB" spc="140" dirty="0"/>
              <a:t> </a:t>
            </a:r>
            <a:r>
              <a:rPr lang="en-GB" dirty="0"/>
              <a:t>tag</a:t>
            </a:r>
            <a:r>
              <a:rPr lang="en-GB" spc="120" dirty="0"/>
              <a:t> </a:t>
            </a:r>
            <a:r>
              <a:rPr lang="en-GB" dirty="0"/>
              <a:t>name,</a:t>
            </a:r>
            <a:r>
              <a:rPr lang="en-GB" spc="150" dirty="0"/>
              <a:t> </a:t>
            </a:r>
            <a:r>
              <a:rPr lang="en-GB" dirty="0"/>
              <a:t>attribute</a:t>
            </a:r>
            <a:r>
              <a:rPr lang="en-GB" spc="120" dirty="0"/>
              <a:t> </a:t>
            </a:r>
            <a:r>
              <a:rPr lang="en-GB" dirty="0"/>
              <a:t>and</a:t>
            </a:r>
            <a:r>
              <a:rPr lang="en-GB" spc="110" dirty="0"/>
              <a:t> </a:t>
            </a:r>
            <a:r>
              <a:rPr lang="en-GB" dirty="0"/>
              <a:t>value</a:t>
            </a:r>
            <a:r>
              <a:rPr lang="en-GB" spc="120" dirty="0"/>
              <a:t> </a:t>
            </a:r>
            <a:r>
              <a:rPr lang="en-GB" spc="-40" dirty="0"/>
              <a:t>that </a:t>
            </a:r>
            <a:r>
              <a:rPr lang="en-GB" dirty="0"/>
              <a:t>would</a:t>
            </a:r>
            <a:r>
              <a:rPr lang="en-GB" spc="30" dirty="0"/>
              <a:t> </a:t>
            </a:r>
            <a:r>
              <a:rPr lang="en-GB" dirty="0"/>
              <a:t>get</a:t>
            </a:r>
            <a:r>
              <a:rPr lang="en-GB" spc="70" dirty="0"/>
              <a:t> </a:t>
            </a:r>
            <a:r>
              <a:rPr lang="en-GB" dirty="0"/>
              <a:t>us</a:t>
            </a:r>
            <a:r>
              <a:rPr lang="en-GB" spc="200" dirty="0"/>
              <a:t> </a:t>
            </a:r>
            <a:r>
              <a:rPr lang="en-GB" dirty="0"/>
              <a:t>the</a:t>
            </a:r>
            <a:r>
              <a:rPr lang="en-GB" spc="60" dirty="0"/>
              <a:t> </a:t>
            </a:r>
            <a:r>
              <a:rPr lang="en-GB" dirty="0"/>
              <a:t>brands</a:t>
            </a:r>
            <a:r>
              <a:rPr lang="en-GB" spc="60" dirty="0"/>
              <a:t> </a:t>
            </a:r>
            <a:r>
              <a:rPr lang="en-GB" dirty="0"/>
              <a:t>of</a:t>
            </a:r>
            <a:r>
              <a:rPr lang="en-GB" spc="80" dirty="0"/>
              <a:t> </a:t>
            </a:r>
            <a:r>
              <a:rPr lang="en-GB" dirty="0"/>
              <a:t>the</a:t>
            </a:r>
            <a:r>
              <a:rPr lang="en-GB" spc="70" dirty="0"/>
              <a:t> </a:t>
            </a:r>
            <a:r>
              <a:rPr lang="en-GB" dirty="0"/>
              <a:t>cars?</a:t>
            </a:r>
            <a:r>
              <a:rPr lang="en-GB" spc="100" dirty="0"/>
              <a:t> </a:t>
            </a:r>
            <a:r>
              <a:rPr lang="en-GB" dirty="0"/>
              <a:t>Why</a:t>
            </a:r>
            <a:r>
              <a:rPr lang="en-GB" spc="10" dirty="0"/>
              <a:t> </a:t>
            </a:r>
            <a:r>
              <a:rPr lang="en-GB" spc="-20" dirty="0"/>
              <a:t>(not?)</a:t>
            </a:r>
            <a:endParaRPr lang="en-US" dirty="0"/>
          </a:p>
        </p:txBody>
      </p:sp>
      <p:sp>
        <p:nvSpPr>
          <p:cNvPr id="3" name="TextBox 2">
            <a:extLst>
              <a:ext uri="{FF2B5EF4-FFF2-40B4-BE49-F238E27FC236}">
                <a16:creationId xmlns:a16="http://schemas.microsoft.com/office/drawing/2014/main" id="{E5899A72-B06B-8F49-CB63-1A0F31B54977}"/>
              </a:ext>
            </a:extLst>
          </p:cNvPr>
          <p:cNvSpPr txBox="1"/>
          <p:nvPr/>
        </p:nvSpPr>
        <p:spPr>
          <a:xfrm>
            <a:off x="9529011" y="5085774"/>
            <a:ext cx="9264316" cy="40472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618490" marR="10160" indent="0">
              <a:lnSpc>
                <a:spcPct val="100000"/>
              </a:lnSpc>
              <a:spcBef>
                <a:spcPts val="260"/>
              </a:spcBef>
              <a:buNone/>
            </a:pPr>
            <a:r>
              <a:rPr lang="en-GB" spc="-130" dirty="0"/>
              <a:t>We</a:t>
            </a:r>
            <a:r>
              <a:rPr lang="en-GB" spc="-190" dirty="0"/>
              <a:t> </a:t>
            </a:r>
            <a:r>
              <a:rPr lang="en-GB" dirty="0"/>
              <a:t>need</a:t>
            </a:r>
            <a:r>
              <a:rPr lang="en-GB" spc="-180" dirty="0"/>
              <a:t> </a:t>
            </a:r>
            <a:r>
              <a:rPr lang="en-GB" dirty="0"/>
              <a:t>extra</a:t>
            </a:r>
            <a:r>
              <a:rPr lang="en-GB" spc="-190" dirty="0"/>
              <a:t> </a:t>
            </a:r>
            <a:r>
              <a:rPr lang="en-GB" spc="-20" dirty="0"/>
              <a:t>information</a:t>
            </a:r>
            <a:r>
              <a:rPr lang="en-GB" spc="-50" dirty="0"/>
              <a:t> </a:t>
            </a:r>
            <a:r>
              <a:rPr lang="en-GB" dirty="0"/>
              <a:t>(e.g.,</a:t>
            </a:r>
            <a:r>
              <a:rPr lang="en-GB" spc="-210" dirty="0"/>
              <a:t> </a:t>
            </a:r>
            <a:r>
              <a:rPr lang="en-GB" spc="-20" dirty="0"/>
              <a:t>about </a:t>
            </a:r>
            <a:r>
              <a:rPr lang="en-GB" dirty="0"/>
              <a:t>where</a:t>
            </a:r>
            <a:r>
              <a:rPr lang="en-GB" spc="-130" dirty="0"/>
              <a:t> </a:t>
            </a:r>
            <a:r>
              <a:rPr lang="en-GB" dirty="0"/>
              <a:t>the</a:t>
            </a:r>
            <a:r>
              <a:rPr lang="en-GB" spc="-120" dirty="0"/>
              <a:t> </a:t>
            </a:r>
            <a:r>
              <a:rPr lang="en-GB" dirty="0"/>
              <a:t>tag</a:t>
            </a:r>
            <a:r>
              <a:rPr lang="en-GB" spc="-100" dirty="0"/>
              <a:t> </a:t>
            </a:r>
            <a:r>
              <a:rPr lang="en-GB" spc="-40" dirty="0"/>
              <a:t>is).</a:t>
            </a:r>
          </a:p>
          <a:p>
            <a:pPr marL="618490" marR="1021080" indent="0">
              <a:lnSpc>
                <a:spcPct val="100000"/>
              </a:lnSpc>
              <a:spcBef>
                <a:spcPts val="7770"/>
              </a:spcBef>
              <a:buNone/>
            </a:pPr>
            <a:r>
              <a:rPr lang="en-GB" dirty="0"/>
              <a:t>It</a:t>
            </a:r>
            <a:r>
              <a:rPr lang="en-GB" spc="-80" dirty="0"/>
              <a:t> </a:t>
            </a:r>
            <a:r>
              <a:rPr lang="en-GB" dirty="0"/>
              <a:t>is</a:t>
            </a:r>
            <a:r>
              <a:rPr lang="en-GB" spc="-130" dirty="0"/>
              <a:t> </a:t>
            </a:r>
            <a:r>
              <a:rPr lang="en-GB" dirty="0"/>
              <a:t>still</a:t>
            </a:r>
            <a:r>
              <a:rPr lang="en-GB" spc="10" dirty="0"/>
              <a:t> </a:t>
            </a:r>
            <a:r>
              <a:rPr lang="en-GB" dirty="0"/>
              <a:t>possible</a:t>
            </a:r>
            <a:r>
              <a:rPr lang="en-GB" spc="-70" dirty="0"/>
              <a:t> </a:t>
            </a:r>
            <a:r>
              <a:rPr lang="en-GB" dirty="0"/>
              <a:t>to</a:t>
            </a:r>
            <a:r>
              <a:rPr lang="en-GB" spc="-110" dirty="0"/>
              <a:t> </a:t>
            </a:r>
            <a:r>
              <a:rPr lang="en-GB" dirty="0"/>
              <a:t>scrape using </a:t>
            </a:r>
            <a:r>
              <a:rPr lang="en-GB" dirty="0">
                <a:solidFill>
                  <a:srgbClr val="C00000"/>
                </a:solidFill>
              </a:rPr>
              <a:t>CSS selectors</a:t>
            </a:r>
            <a:endParaRPr lang="en-GB" spc="-50" dirty="0">
              <a:solidFill>
                <a:srgbClr val="C00000"/>
              </a:solidFill>
            </a:endParaRPr>
          </a:p>
        </p:txBody>
      </p:sp>
    </p:spTree>
    <p:extLst>
      <p:ext uri="{BB962C8B-B14F-4D97-AF65-F5344CB8AC3E}">
        <p14:creationId xmlns:p14="http://schemas.microsoft.com/office/powerpoint/2010/main" val="127110914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E8B25CB-155F-0A6C-3C7F-2F704F85B34B}"/>
              </a:ext>
            </a:extLst>
          </p:cNvPr>
          <p:cNvSpPr>
            <a:spLocks noGrp="1"/>
          </p:cNvSpPr>
          <p:nvPr>
            <p:ph type="title"/>
          </p:nvPr>
        </p:nvSpPr>
        <p:spPr/>
        <p:txBody>
          <a:bodyPr/>
          <a:lstStyle/>
          <a:p>
            <a:r>
              <a:rPr lang="en-US" dirty="0"/>
              <a:t>CSS selectors</a:t>
            </a:r>
          </a:p>
        </p:txBody>
      </p:sp>
      <p:sp>
        <p:nvSpPr>
          <p:cNvPr id="11" name="object 3">
            <a:extLst>
              <a:ext uri="{FF2B5EF4-FFF2-40B4-BE49-F238E27FC236}">
                <a16:creationId xmlns:a16="http://schemas.microsoft.com/office/drawing/2014/main" id="{C1B6F87A-1965-434D-B5DC-DA56BE47A8E6}"/>
              </a:ext>
            </a:extLst>
          </p:cNvPr>
          <p:cNvSpPr txBox="1">
            <a:spLocks/>
          </p:cNvSpPr>
          <p:nvPr/>
        </p:nvSpPr>
        <p:spPr>
          <a:xfrm>
            <a:off x="1200251" y="2396388"/>
            <a:ext cx="20670252" cy="2918748"/>
          </a:xfrm>
          <a:prstGeom prst="rect">
            <a:avLst/>
          </a:prstGeom>
          <a:solidFill>
            <a:schemeClr val="tx1">
              <a:lumMod val="95000"/>
              <a:lumOff val="5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25400" rIns="0" bIns="0" rtlCol="0">
            <a:sp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144000" indent="0">
              <a:lnSpc>
                <a:spcPct val="150000"/>
              </a:lnSpc>
              <a:spcBef>
                <a:spcPts val="0"/>
              </a:spcBef>
              <a:buNone/>
            </a:pPr>
            <a:r>
              <a:rPr lang="en-GB" sz="3200" spc="-20" dirty="0">
                <a:solidFill>
                  <a:schemeClr val="bg1">
                    <a:lumMod val="95000"/>
                  </a:schemeClr>
                </a:solidFill>
                <a:latin typeface="Courier New"/>
                <a:cs typeface="Courier New"/>
              </a:rPr>
              <a:t>&lt;h1 </a:t>
            </a:r>
            <a:r>
              <a:rPr lang="en-GB" sz="3200" spc="-20" dirty="0">
                <a:solidFill>
                  <a:srgbClr val="FF0000"/>
                </a:solidFill>
                <a:latin typeface="Courier New"/>
                <a:cs typeface="Courier New"/>
              </a:rPr>
              <a:t>class</a:t>
            </a:r>
            <a:r>
              <a:rPr lang="en-GB" sz="3200" spc="-20" dirty="0">
                <a:solidFill>
                  <a:schemeClr val="bg1">
                    <a:lumMod val="95000"/>
                  </a:schemeClr>
                </a:solidFill>
                <a:latin typeface="Courier New"/>
                <a:cs typeface="Courier New"/>
              </a:rPr>
              <a:t>=</a:t>
            </a:r>
            <a:r>
              <a:rPr lang="en-GB" sz="3200" spc="-20" dirty="0">
                <a:solidFill>
                  <a:srgbClr val="00B050"/>
                </a:solidFill>
                <a:latin typeface="Courier New"/>
                <a:cs typeface="Courier New"/>
              </a:rPr>
              <a:t>"intro” </a:t>
            </a:r>
            <a:r>
              <a:rPr lang="en-GB" sz="3200" spc="-20" dirty="0" err="1">
                <a:solidFill>
                  <a:srgbClr val="FF0000"/>
                </a:solidFill>
                <a:latin typeface="Courier New"/>
                <a:cs typeface="Courier New"/>
              </a:rPr>
              <a:t>href</a:t>
            </a:r>
            <a:r>
              <a:rPr lang="en-GB" sz="3200" spc="-20" dirty="0">
                <a:solidFill>
                  <a:srgbClr val="00B050"/>
                </a:solidFill>
                <a:latin typeface="Courier New"/>
                <a:cs typeface="Courier New"/>
              </a:rPr>
              <a:t>= “</a:t>
            </a:r>
            <a:r>
              <a:rPr lang="en-GB" sz="3200" spc="-20" dirty="0" err="1">
                <a:solidFill>
                  <a:srgbClr val="00B050"/>
                </a:solidFill>
                <a:latin typeface="Courier New"/>
                <a:cs typeface="Courier New"/>
              </a:rPr>
              <a:t>myweb.com</a:t>
            </a:r>
            <a:r>
              <a:rPr lang="en-GB" sz="3200" spc="-20" dirty="0">
                <a:solidFill>
                  <a:srgbClr val="00B050"/>
                </a:solidFill>
                <a:latin typeface="Courier New"/>
                <a:cs typeface="Courier New"/>
              </a:rPr>
              <a:t>”</a:t>
            </a:r>
            <a:r>
              <a:rPr lang="en-GB" sz="3200" spc="-20" dirty="0">
                <a:solidFill>
                  <a:schemeClr val="bg1">
                    <a:lumMod val="95000"/>
                  </a:schemeClr>
                </a:solidFill>
                <a:latin typeface="Courier New"/>
                <a:cs typeface="Courier New"/>
              </a:rPr>
              <a:t>&gt;My Website&lt;/h1&gt;</a:t>
            </a:r>
          </a:p>
          <a:p>
            <a:pPr marL="144000" indent="0">
              <a:lnSpc>
                <a:spcPct val="150000"/>
              </a:lnSpc>
              <a:spcBef>
                <a:spcPts val="0"/>
              </a:spcBef>
              <a:buNone/>
            </a:pPr>
            <a:r>
              <a:rPr lang="en-GB" sz="3200" spc="-20" dirty="0">
                <a:solidFill>
                  <a:schemeClr val="bg1">
                    <a:lumMod val="95000"/>
                  </a:schemeClr>
                </a:solidFill>
                <a:latin typeface="Courier New"/>
                <a:cs typeface="Courier New"/>
              </a:rPr>
              <a:t>&lt;p &gt;Hello World&lt;/p&gt;</a:t>
            </a:r>
          </a:p>
          <a:p>
            <a:pPr marL="144000" indent="0">
              <a:lnSpc>
                <a:spcPct val="150000"/>
              </a:lnSpc>
              <a:spcBef>
                <a:spcPts val="0"/>
              </a:spcBef>
              <a:buNone/>
            </a:pPr>
            <a:r>
              <a:rPr lang="en-GB" sz="3200" spc="-20" dirty="0">
                <a:solidFill>
                  <a:schemeClr val="bg1">
                    <a:lumMod val="95000"/>
                  </a:schemeClr>
                </a:solidFill>
                <a:latin typeface="Courier New"/>
                <a:cs typeface="Courier New"/>
              </a:rPr>
              <a:t>&lt;p </a:t>
            </a:r>
            <a:r>
              <a:rPr lang="en-GB" sz="3200" spc="-20" dirty="0">
                <a:solidFill>
                  <a:srgbClr val="FF0000"/>
                </a:solidFill>
                <a:latin typeface="Courier New"/>
                <a:cs typeface="Courier New"/>
              </a:rPr>
              <a:t>class</a:t>
            </a:r>
            <a:r>
              <a:rPr lang="en-GB" sz="3200" spc="-20" dirty="0">
                <a:solidFill>
                  <a:schemeClr val="bg1">
                    <a:lumMod val="95000"/>
                  </a:schemeClr>
                </a:solidFill>
                <a:latin typeface="Courier New"/>
                <a:cs typeface="Courier New"/>
              </a:rPr>
              <a:t>=</a:t>
            </a:r>
            <a:r>
              <a:rPr lang="en-GB" sz="3200" spc="-20" dirty="0">
                <a:solidFill>
                  <a:srgbClr val="00B050"/>
                </a:solidFill>
                <a:latin typeface="Courier New"/>
                <a:cs typeface="Courier New"/>
              </a:rPr>
              <a:t>"intro”</a:t>
            </a:r>
            <a:r>
              <a:rPr lang="en-GB" sz="3200" spc="-20" dirty="0">
                <a:solidFill>
                  <a:schemeClr val="bg1">
                    <a:lumMod val="95000"/>
                  </a:schemeClr>
                </a:solidFill>
                <a:latin typeface="Courier New"/>
                <a:cs typeface="Courier New"/>
              </a:rPr>
              <a:t>&gt;Welcome!&lt;/p&gt;</a:t>
            </a:r>
          </a:p>
          <a:p>
            <a:pPr marL="144000" indent="0">
              <a:lnSpc>
                <a:spcPct val="150000"/>
              </a:lnSpc>
              <a:spcBef>
                <a:spcPts val="0"/>
              </a:spcBef>
              <a:buNone/>
            </a:pPr>
            <a:r>
              <a:rPr lang="en-GB" sz="3200" spc="-20" dirty="0">
                <a:solidFill>
                  <a:schemeClr val="bg1">
                    <a:lumMod val="95000"/>
                  </a:schemeClr>
                </a:solidFill>
                <a:latin typeface="Courier New"/>
                <a:cs typeface="Courier New"/>
              </a:rPr>
              <a:t>&lt;p </a:t>
            </a:r>
            <a:r>
              <a:rPr lang="en-GB" sz="3200" spc="-20" dirty="0">
                <a:solidFill>
                  <a:srgbClr val="FF0000"/>
                </a:solidFill>
                <a:latin typeface="Courier New"/>
                <a:cs typeface="Courier New"/>
              </a:rPr>
              <a:t>id</a:t>
            </a:r>
            <a:r>
              <a:rPr lang="en-GB" sz="3200" spc="-20" dirty="0">
                <a:solidFill>
                  <a:schemeClr val="bg1">
                    <a:lumMod val="95000"/>
                  </a:schemeClr>
                </a:solidFill>
                <a:latin typeface="Courier New"/>
                <a:cs typeface="Courier New"/>
              </a:rPr>
              <a:t>=</a:t>
            </a:r>
            <a:r>
              <a:rPr lang="en-GB" sz="3200" spc="-20" dirty="0">
                <a:solidFill>
                  <a:srgbClr val="00B050"/>
                </a:solidFill>
                <a:latin typeface="Courier New"/>
                <a:cs typeface="Courier New"/>
              </a:rPr>
              <a:t>"special"</a:t>
            </a:r>
            <a:r>
              <a:rPr lang="en-GB" sz="3200" spc="-20" dirty="0">
                <a:solidFill>
                  <a:schemeClr val="bg1">
                    <a:lumMod val="95000"/>
                  </a:schemeClr>
                </a:solidFill>
                <a:latin typeface="Courier New"/>
                <a:cs typeface="Courier New"/>
              </a:rPr>
              <a:t>&gt;Important text&lt;/p&gt;</a:t>
            </a:r>
          </a:p>
        </p:txBody>
      </p:sp>
      <p:graphicFrame>
        <p:nvGraphicFramePr>
          <p:cNvPr id="13" name="Table 12">
            <a:extLst>
              <a:ext uri="{FF2B5EF4-FFF2-40B4-BE49-F238E27FC236}">
                <a16:creationId xmlns:a16="http://schemas.microsoft.com/office/drawing/2014/main" id="{598BC533-47EA-ED8F-8CBF-27860E4B7BD3}"/>
              </a:ext>
            </a:extLst>
          </p:cNvPr>
          <p:cNvGraphicFramePr>
            <a:graphicFrameLocks noGrp="1"/>
          </p:cNvGraphicFramePr>
          <p:nvPr>
            <p:extLst>
              <p:ext uri="{D42A27DB-BD31-4B8C-83A1-F6EECF244321}">
                <p14:modId xmlns:p14="http://schemas.microsoft.com/office/powerpoint/2010/main" val="132802291"/>
              </p:ext>
            </p:extLst>
          </p:nvPr>
        </p:nvGraphicFramePr>
        <p:xfrm>
          <a:off x="1200251" y="5463799"/>
          <a:ext cx="22285390" cy="7839848"/>
        </p:xfrm>
        <a:graphic>
          <a:graphicData uri="http://schemas.openxmlformats.org/drawingml/2006/table">
            <a:tbl>
              <a:tblPr firstRow="1" bandRow="1">
                <a:tableStyleId>{5940675A-B579-460E-94D1-54222C63F5DA}</a:tableStyleId>
              </a:tblPr>
              <a:tblGrid>
                <a:gridCol w="2529538">
                  <a:extLst>
                    <a:ext uri="{9D8B030D-6E8A-4147-A177-3AD203B41FA5}">
                      <a16:colId xmlns:a16="http://schemas.microsoft.com/office/drawing/2014/main" val="343146635"/>
                    </a:ext>
                  </a:extLst>
                </a:gridCol>
                <a:gridCol w="3850107">
                  <a:extLst>
                    <a:ext uri="{9D8B030D-6E8A-4147-A177-3AD203B41FA5}">
                      <a16:colId xmlns:a16="http://schemas.microsoft.com/office/drawing/2014/main" val="2825578783"/>
                    </a:ext>
                  </a:extLst>
                </a:gridCol>
                <a:gridCol w="3344779">
                  <a:extLst>
                    <a:ext uri="{9D8B030D-6E8A-4147-A177-3AD203B41FA5}">
                      <a16:colId xmlns:a16="http://schemas.microsoft.com/office/drawing/2014/main" val="1103530587"/>
                    </a:ext>
                  </a:extLst>
                </a:gridCol>
                <a:gridCol w="7411452">
                  <a:extLst>
                    <a:ext uri="{9D8B030D-6E8A-4147-A177-3AD203B41FA5}">
                      <a16:colId xmlns:a16="http://schemas.microsoft.com/office/drawing/2014/main" val="366654768"/>
                    </a:ext>
                  </a:extLst>
                </a:gridCol>
                <a:gridCol w="5149514">
                  <a:extLst>
                    <a:ext uri="{9D8B030D-6E8A-4147-A177-3AD203B41FA5}">
                      <a16:colId xmlns:a16="http://schemas.microsoft.com/office/drawing/2014/main" val="1460404326"/>
                    </a:ext>
                  </a:extLst>
                </a:gridCol>
              </a:tblGrid>
              <a:tr h="768488">
                <a:tc>
                  <a:txBody>
                    <a:bodyPr/>
                    <a:lstStyle/>
                    <a:p>
                      <a:r>
                        <a:rPr lang="en-US" sz="4400" dirty="0"/>
                        <a:t>Selector</a:t>
                      </a:r>
                    </a:p>
                  </a:txBody>
                  <a:tcPr/>
                </a:tc>
                <a:tc>
                  <a:txBody>
                    <a:bodyPr/>
                    <a:lstStyle/>
                    <a:p>
                      <a:r>
                        <a:rPr lang="en-US" sz="4400" dirty="0"/>
                        <a:t>Symbol</a:t>
                      </a:r>
                    </a:p>
                  </a:txBody>
                  <a:tcPr/>
                </a:tc>
                <a:tc>
                  <a:txBody>
                    <a:bodyPr/>
                    <a:lstStyle/>
                    <a:p>
                      <a:r>
                        <a:rPr lang="en-US" sz="4400" dirty="0"/>
                        <a:t>Example</a:t>
                      </a:r>
                    </a:p>
                  </a:txBody>
                  <a:tcPr/>
                </a:tc>
                <a:tc>
                  <a:txBody>
                    <a:bodyPr/>
                    <a:lstStyle/>
                    <a:p>
                      <a:r>
                        <a:rPr lang="en-US" sz="4400" dirty="0"/>
                        <a:t>Action</a:t>
                      </a:r>
                    </a:p>
                  </a:txBody>
                  <a:tcPr/>
                </a:tc>
                <a:tc>
                  <a:txBody>
                    <a:bodyPr/>
                    <a:lstStyle/>
                    <a:p>
                      <a:r>
                        <a:rPr lang="en-US" sz="4400" dirty="0"/>
                        <a:t>Extracted contents</a:t>
                      </a:r>
                    </a:p>
                  </a:txBody>
                  <a:tcPr/>
                </a:tc>
                <a:extLst>
                  <a:ext uri="{0D108BD9-81ED-4DB2-BD59-A6C34878D82A}">
                    <a16:rowId xmlns:a16="http://schemas.microsoft.com/office/drawing/2014/main" val="3229038642"/>
                  </a:ext>
                </a:extLst>
              </a:tr>
              <a:tr h="768488">
                <a:tc>
                  <a:txBody>
                    <a:bodyPr/>
                    <a:lstStyle/>
                    <a:p>
                      <a:pPr algn="l"/>
                      <a:r>
                        <a:rPr lang="en-GB" sz="4400" dirty="0"/>
                        <a:t>Tag</a:t>
                      </a:r>
                      <a:endParaRPr lang="en-US" sz="4400" dirty="0"/>
                    </a:p>
                  </a:txBody>
                  <a:tcPr/>
                </a:tc>
                <a:tc>
                  <a:txBody>
                    <a:bodyPr/>
                    <a:lstStyle/>
                    <a:p>
                      <a:r>
                        <a:rPr lang="en-US" sz="4400" dirty="0"/>
                        <a:t>Tag name</a:t>
                      </a:r>
                    </a:p>
                  </a:txBody>
                  <a:tcPr/>
                </a:tc>
                <a:tc>
                  <a:txBody>
                    <a:bodyPr/>
                    <a:lstStyle/>
                    <a:p>
                      <a:pPr algn="l"/>
                      <a:r>
                        <a:rPr lang="en-GB" sz="4400" dirty="0">
                          <a:latin typeface="Courier New" panose="02070309020205020404" pitchFamily="49" charset="0"/>
                        </a:rPr>
                        <a:t>p</a:t>
                      </a:r>
                      <a:endParaRPr lang="en-US" sz="4400" dirty="0"/>
                    </a:p>
                  </a:txBody>
                  <a:tcPr/>
                </a:tc>
                <a:tc>
                  <a:txBody>
                    <a:bodyPr/>
                    <a:lstStyle/>
                    <a:p>
                      <a:pPr algn="l"/>
                      <a:r>
                        <a:rPr lang="en-GB" sz="4400" dirty="0"/>
                        <a:t>Selects all </a:t>
                      </a:r>
                      <a:r>
                        <a:rPr lang="en-GB" sz="4400" dirty="0">
                          <a:latin typeface="Courier New" panose="02070309020205020404" pitchFamily="49" charset="0"/>
                        </a:rPr>
                        <a:t>&lt;p&gt;</a:t>
                      </a:r>
                      <a:r>
                        <a:rPr lang="en-GB" sz="4400" dirty="0"/>
                        <a:t> elements on the webpage</a:t>
                      </a:r>
                      <a:endParaRPr lang="en-US" sz="4400" dirty="0"/>
                    </a:p>
                  </a:txBody>
                  <a:tcPr/>
                </a:tc>
                <a:tc>
                  <a:txBody>
                    <a:bodyPr/>
                    <a:lstStyle/>
                    <a:p>
                      <a:pPr algn="l"/>
                      <a:r>
                        <a:rPr lang="en-US" sz="4400" dirty="0"/>
                        <a:t>Hello World</a:t>
                      </a:r>
                    </a:p>
                    <a:p>
                      <a:pPr algn="l"/>
                      <a:r>
                        <a:rPr lang="en-US" sz="4400" dirty="0"/>
                        <a:t>Welcome!</a:t>
                      </a:r>
                    </a:p>
                    <a:p>
                      <a:pPr algn="l"/>
                      <a:r>
                        <a:rPr lang="en-US" sz="4400" dirty="0"/>
                        <a:t>Important text</a:t>
                      </a:r>
                    </a:p>
                  </a:txBody>
                  <a:tcPr/>
                </a:tc>
                <a:extLst>
                  <a:ext uri="{0D108BD9-81ED-4DB2-BD59-A6C34878D82A}">
                    <a16:rowId xmlns:a16="http://schemas.microsoft.com/office/drawing/2014/main" val="309461966"/>
                  </a:ext>
                </a:extLst>
              </a:tr>
              <a:tr h="0">
                <a:tc>
                  <a:txBody>
                    <a:bodyPr/>
                    <a:lstStyle/>
                    <a:p>
                      <a:pPr algn="l"/>
                      <a:r>
                        <a:rPr lang="en-GB" sz="4400" dirty="0"/>
                        <a:t>Class</a:t>
                      </a:r>
                      <a:endParaRPr lang="en-US" sz="4400" dirty="0"/>
                    </a:p>
                  </a:txBody>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GB" sz="4400" dirty="0"/>
                        <a:t>.</a:t>
                      </a:r>
                    </a:p>
                  </a:txBody>
                  <a:tcPr/>
                </a:tc>
                <a:tc>
                  <a:txBody>
                    <a:bodyPr/>
                    <a:lstStyle/>
                    <a:p>
                      <a:pPr marL="0" marR="0" lvl="0" indent="0" algn="l" defTabSz="584200" rtl="0" eaLnBrk="1" fontAlgn="auto" latinLnBrk="0" hangingPunct="1">
                        <a:lnSpc>
                          <a:spcPct val="100000"/>
                        </a:lnSpc>
                        <a:spcBef>
                          <a:spcPts val="0"/>
                        </a:spcBef>
                        <a:spcAft>
                          <a:spcPts val="0"/>
                        </a:spcAft>
                        <a:buClrTx/>
                        <a:buSzTx/>
                        <a:buFontTx/>
                        <a:buNone/>
                        <a:tabLst/>
                        <a:defRPr/>
                      </a:pPr>
                      <a:r>
                        <a:rPr lang="en-GB" sz="4400" dirty="0">
                          <a:latin typeface="Courier New" panose="02070309020205020404" pitchFamily="49" charset="0"/>
                        </a:rPr>
                        <a:t>.intro</a:t>
                      </a:r>
                      <a:endParaRPr lang="en-GB" sz="4400" dirty="0"/>
                    </a:p>
                    <a:p>
                      <a:pPr marL="0" marR="0" lvl="0" indent="0" algn="l" defTabSz="584200" rtl="0" eaLnBrk="1" fontAlgn="auto" latinLnBrk="0" hangingPunct="1">
                        <a:lnSpc>
                          <a:spcPct val="100000"/>
                        </a:lnSpc>
                        <a:spcBef>
                          <a:spcPts val="0"/>
                        </a:spcBef>
                        <a:spcAft>
                          <a:spcPts val="0"/>
                        </a:spcAft>
                        <a:buClrTx/>
                        <a:buSzTx/>
                        <a:buFontTx/>
                        <a:buNone/>
                        <a:tabLst/>
                        <a:defRPr/>
                      </a:pPr>
                      <a:endParaRPr lang="en-GB" sz="4400" dirty="0"/>
                    </a:p>
                  </a:txBody>
                  <a:tcPr/>
                </a:tc>
                <a:tc>
                  <a:txBody>
                    <a:bodyPr/>
                    <a:lstStyle/>
                    <a:p>
                      <a:pPr marL="0" indent="0" algn="l">
                        <a:lnSpc>
                          <a:spcPct val="100000"/>
                        </a:lnSpc>
                        <a:buFont typeface="Arial" panose="020B0604020202020204" pitchFamily="34" charset="0"/>
                        <a:buNone/>
                      </a:pPr>
                      <a:r>
                        <a:rPr lang="en-GB" sz="4400" dirty="0"/>
                        <a:t>Selects elements with the class attribute </a:t>
                      </a:r>
                      <a:r>
                        <a:rPr lang="en-GB" sz="4400" dirty="0">
                          <a:latin typeface="Courier New" panose="02070309020205020404" pitchFamily="49" charset="0"/>
                        </a:rPr>
                        <a:t>class="intro"</a:t>
                      </a:r>
                      <a:endParaRPr lang="en-GB" sz="4400" dirty="0"/>
                    </a:p>
                  </a:txBody>
                  <a:tcPr/>
                </a:tc>
                <a:tc>
                  <a:txBody>
                    <a:bodyPr/>
                    <a:lstStyle/>
                    <a:p>
                      <a:pPr algn="l"/>
                      <a:r>
                        <a:rPr lang="en-US" sz="4400" dirty="0"/>
                        <a:t>My Website</a:t>
                      </a:r>
                    </a:p>
                    <a:p>
                      <a:pPr algn="l"/>
                      <a:r>
                        <a:rPr lang="en-US" sz="4400" dirty="0"/>
                        <a:t>Welcome!</a:t>
                      </a:r>
                    </a:p>
                  </a:txBody>
                  <a:tcPr/>
                </a:tc>
                <a:extLst>
                  <a:ext uri="{0D108BD9-81ED-4DB2-BD59-A6C34878D82A}">
                    <a16:rowId xmlns:a16="http://schemas.microsoft.com/office/drawing/2014/main" val="1578338552"/>
                  </a:ext>
                </a:extLst>
              </a:tr>
              <a:tr h="768488">
                <a:tc>
                  <a:txBody>
                    <a:bodyPr/>
                    <a:lstStyle/>
                    <a:p>
                      <a:pPr algn="l"/>
                      <a:r>
                        <a:rPr lang="en-GB" sz="4400" dirty="0"/>
                        <a:t>ID</a:t>
                      </a:r>
                      <a:endParaRPr lang="en-US" sz="4400" dirty="0"/>
                    </a:p>
                  </a:txBody>
                  <a:tcPr/>
                </a:tc>
                <a:tc>
                  <a:txBody>
                    <a:bodyPr/>
                    <a:lstStyle/>
                    <a:p>
                      <a:r>
                        <a:rPr lang="en-GB" sz="4400" dirty="0">
                          <a:latin typeface="Courier New" panose="02070309020205020404" pitchFamily="49" charset="0"/>
                        </a:rPr>
                        <a:t>#</a:t>
                      </a:r>
                      <a:endParaRPr lang="en-US" sz="4400" dirty="0"/>
                    </a:p>
                  </a:txBody>
                  <a:tcPr/>
                </a:tc>
                <a:tc>
                  <a:txBody>
                    <a:bodyPr/>
                    <a:lstStyle/>
                    <a:p>
                      <a:pPr algn="l"/>
                      <a:r>
                        <a:rPr lang="en-GB" sz="4400" dirty="0">
                          <a:latin typeface="Courier New" panose="02070309020205020404" pitchFamily="49" charset="0"/>
                        </a:rPr>
                        <a:t>#special</a:t>
                      </a:r>
                      <a:endParaRPr lang="en-US" sz="4400" dirty="0"/>
                    </a:p>
                  </a:txBody>
                  <a:tcPr/>
                </a:tc>
                <a:tc>
                  <a:txBody>
                    <a:bodyPr/>
                    <a:lstStyle/>
                    <a:p>
                      <a:pPr marL="0" marR="0" lvl="0" indent="0" algn="l" defTabSz="584200" rtl="0" eaLnBrk="1" fontAlgn="auto" latinLnBrk="0" hangingPunct="1">
                        <a:lnSpc>
                          <a:spcPct val="100000"/>
                        </a:lnSpc>
                        <a:spcBef>
                          <a:spcPts val="0"/>
                        </a:spcBef>
                        <a:spcAft>
                          <a:spcPts val="0"/>
                        </a:spcAft>
                        <a:buClrTx/>
                        <a:buSzTx/>
                        <a:buFontTx/>
                        <a:buNone/>
                        <a:tabLst/>
                        <a:defRPr/>
                      </a:pPr>
                      <a:r>
                        <a:rPr lang="en-GB" sz="4400" dirty="0"/>
                        <a:t>Selects elements with the id attribute </a:t>
                      </a:r>
                      <a:r>
                        <a:rPr lang="en-GB" sz="4400" dirty="0">
                          <a:latin typeface="Courier New" panose="02070309020205020404" pitchFamily="49" charset="0"/>
                        </a:rPr>
                        <a:t>id=”special"</a:t>
                      </a:r>
                      <a:endParaRPr lang="en-GB" sz="4400" dirty="0"/>
                    </a:p>
                  </a:txBody>
                  <a:tcPr/>
                </a:tc>
                <a:tc>
                  <a:txBody>
                    <a:bodyPr/>
                    <a:lstStyle/>
                    <a:p>
                      <a:pPr algn="l"/>
                      <a:r>
                        <a:rPr lang="en-US" sz="4400" dirty="0"/>
                        <a:t>Important text</a:t>
                      </a:r>
                    </a:p>
                  </a:txBody>
                  <a:tcPr/>
                </a:tc>
                <a:extLst>
                  <a:ext uri="{0D108BD9-81ED-4DB2-BD59-A6C34878D82A}">
                    <a16:rowId xmlns:a16="http://schemas.microsoft.com/office/drawing/2014/main" val="822342052"/>
                  </a:ext>
                </a:extLst>
              </a:tr>
              <a:tr h="768488">
                <a:tc>
                  <a:txBody>
                    <a:bodyPr/>
                    <a:lstStyle/>
                    <a:p>
                      <a:pPr algn="l"/>
                      <a:r>
                        <a:rPr lang="en-US" sz="4400" dirty="0"/>
                        <a:t>Attribute</a:t>
                      </a:r>
                    </a:p>
                  </a:txBody>
                  <a:tcPr/>
                </a:tc>
                <a:tc>
                  <a:txBody>
                    <a:bodyPr/>
                    <a:lstStyle/>
                    <a:p>
                      <a:r>
                        <a:rPr lang="en-US" sz="4400" dirty="0"/>
                        <a:t>[ ]</a:t>
                      </a:r>
                    </a:p>
                  </a:txBody>
                  <a:tcPr/>
                </a:tc>
                <a:tc>
                  <a:txBody>
                    <a:bodyPr/>
                    <a:lstStyle/>
                    <a:p>
                      <a:pPr algn="l"/>
                      <a:r>
                        <a:rPr lang="en-US" sz="4400" b="0" i="0" u="none" strike="noStrike" cap="none" spc="0" baseline="0" dirty="0">
                          <a:solidFill>
                            <a:schemeClr val="tx1"/>
                          </a:solidFill>
                          <a:uFillTx/>
                          <a:latin typeface="Courier New" panose="02070309020205020404" pitchFamily="49" charset="0"/>
                          <a:ea typeface="+mn-ea"/>
                          <a:cs typeface="+mn-cs"/>
                          <a:sym typeface="Helvetica Neue"/>
                        </a:rPr>
                        <a:t>[</a:t>
                      </a:r>
                      <a:r>
                        <a:rPr lang="en-US" sz="4400" b="0" i="0" u="none" strike="noStrike" cap="none" spc="0" baseline="0" dirty="0" err="1">
                          <a:solidFill>
                            <a:schemeClr val="tx1"/>
                          </a:solidFill>
                          <a:uFillTx/>
                          <a:latin typeface="Courier New" panose="02070309020205020404" pitchFamily="49" charset="0"/>
                          <a:ea typeface="+mn-ea"/>
                          <a:cs typeface="+mn-cs"/>
                          <a:sym typeface="Helvetica Neue"/>
                        </a:rPr>
                        <a:t>href</a:t>
                      </a:r>
                      <a:r>
                        <a:rPr lang="en-US" sz="4400" b="0" i="0" u="none" strike="noStrike" cap="none" spc="0" baseline="0" dirty="0">
                          <a:solidFill>
                            <a:schemeClr val="tx1"/>
                          </a:solidFill>
                          <a:uFillTx/>
                          <a:latin typeface="Courier New" panose="02070309020205020404" pitchFamily="49" charset="0"/>
                          <a:ea typeface="+mn-ea"/>
                          <a:cs typeface="+mn-cs"/>
                          <a:sym typeface="Helvetica Neue"/>
                        </a:rPr>
                        <a:t>]</a:t>
                      </a:r>
                    </a:p>
                  </a:txBody>
                  <a:tcPr/>
                </a:tc>
                <a:tc>
                  <a:txBody>
                    <a:bodyPr/>
                    <a:lstStyle/>
                    <a:p>
                      <a:pPr algn="l"/>
                      <a:r>
                        <a:rPr lang="en-US" sz="4400" dirty="0"/>
                        <a:t>Select element with </a:t>
                      </a:r>
                      <a:r>
                        <a:rPr lang="en-US" sz="4400" b="0" i="0" u="none" strike="noStrike" cap="none" spc="0" baseline="0" dirty="0" err="1">
                          <a:solidFill>
                            <a:schemeClr val="tx1"/>
                          </a:solidFill>
                          <a:uFillTx/>
                          <a:latin typeface="Courier New" panose="02070309020205020404" pitchFamily="49" charset="0"/>
                          <a:ea typeface="+mn-ea"/>
                          <a:cs typeface="+mn-cs"/>
                          <a:sym typeface="Helvetica Neue"/>
                        </a:rPr>
                        <a:t>href</a:t>
                      </a:r>
                      <a:r>
                        <a:rPr lang="en-US" sz="4400" b="0" i="0" u="none" strike="noStrike" cap="none" spc="0" baseline="0" dirty="0">
                          <a:solidFill>
                            <a:schemeClr val="tx1"/>
                          </a:solidFill>
                          <a:uFillTx/>
                          <a:latin typeface="Courier New" panose="02070309020205020404" pitchFamily="49" charset="0"/>
                          <a:ea typeface="+mn-ea"/>
                          <a:cs typeface="+mn-cs"/>
                          <a:sym typeface="Helvetica Neue"/>
                        </a:rPr>
                        <a:t> </a:t>
                      </a:r>
                      <a:r>
                        <a:rPr lang="en-US" sz="4400" dirty="0"/>
                        <a:t>attribute</a:t>
                      </a:r>
                      <a:endParaRPr lang="en-US" sz="4400" b="0" i="0" u="none" strike="noStrike" cap="none" spc="0" baseline="0" dirty="0">
                        <a:solidFill>
                          <a:schemeClr val="tx1"/>
                        </a:solidFill>
                        <a:uFillTx/>
                        <a:latin typeface="Courier New" panose="02070309020205020404" pitchFamily="49" charset="0"/>
                        <a:ea typeface="+mn-ea"/>
                        <a:cs typeface="+mn-cs"/>
                        <a:sym typeface="Helvetica Neue"/>
                      </a:endParaRPr>
                    </a:p>
                  </a:txBody>
                  <a:tcPr/>
                </a:tc>
                <a:tc>
                  <a:txBody>
                    <a:bodyPr/>
                    <a:lstStyle/>
                    <a:p>
                      <a:pPr algn="l"/>
                      <a:r>
                        <a:rPr lang="en-US" sz="4400" dirty="0"/>
                        <a:t>My Website</a:t>
                      </a:r>
                    </a:p>
                  </a:txBody>
                  <a:tcPr/>
                </a:tc>
                <a:extLst>
                  <a:ext uri="{0D108BD9-81ED-4DB2-BD59-A6C34878D82A}">
                    <a16:rowId xmlns:a16="http://schemas.microsoft.com/office/drawing/2014/main" val="696200214"/>
                  </a:ext>
                </a:extLst>
              </a:tr>
            </a:tbl>
          </a:graphicData>
        </a:graphic>
      </p:graphicFrame>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AAB11-28CA-5F18-0217-A5D14712B18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F236E6D-288D-AD17-7F5D-640C39A62C6C}"/>
              </a:ext>
            </a:extLst>
          </p:cNvPr>
          <p:cNvSpPr>
            <a:spLocks noGrp="1"/>
          </p:cNvSpPr>
          <p:nvPr>
            <p:ph type="title"/>
          </p:nvPr>
        </p:nvSpPr>
        <p:spPr/>
        <p:txBody>
          <a:bodyPr/>
          <a:lstStyle/>
          <a:p>
            <a:r>
              <a:rPr lang="en-US" dirty="0"/>
              <a:t>CSS and CSS selectors</a:t>
            </a:r>
          </a:p>
        </p:txBody>
      </p:sp>
      <p:graphicFrame>
        <p:nvGraphicFramePr>
          <p:cNvPr id="13" name="Table 12">
            <a:extLst>
              <a:ext uri="{FF2B5EF4-FFF2-40B4-BE49-F238E27FC236}">
                <a16:creationId xmlns:a16="http://schemas.microsoft.com/office/drawing/2014/main" id="{2F519754-B29B-D2A1-D53C-66208C82026B}"/>
              </a:ext>
            </a:extLst>
          </p:cNvPr>
          <p:cNvGraphicFramePr>
            <a:graphicFrameLocks noGrp="1"/>
          </p:cNvGraphicFramePr>
          <p:nvPr>
            <p:extLst>
              <p:ext uri="{D42A27DB-BD31-4B8C-83A1-F6EECF244321}">
                <p14:modId xmlns:p14="http://schemas.microsoft.com/office/powerpoint/2010/main" val="2437855291"/>
              </p:ext>
            </p:extLst>
          </p:nvPr>
        </p:nvGraphicFramePr>
        <p:xfrm>
          <a:off x="7243010" y="4002932"/>
          <a:ext cx="15616990" cy="8991600"/>
        </p:xfrm>
        <a:graphic>
          <a:graphicData uri="http://schemas.openxmlformats.org/drawingml/2006/table">
            <a:tbl>
              <a:tblPr firstRow="1" bandRow="1">
                <a:tableStyleId>{5940675A-B579-460E-94D1-54222C63F5DA}</a:tableStyleId>
              </a:tblPr>
              <a:tblGrid>
                <a:gridCol w="2322713">
                  <a:extLst>
                    <a:ext uri="{9D8B030D-6E8A-4147-A177-3AD203B41FA5}">
                      <a16:colId xmlns:a16="http://schemas.microsoft.com/office/drawing/2014/main" val="343146635"/>
                    </a:ext>
                  </a:extLst>
                </a:gridCol>
                <a:gridCol w="1920644">
                  <a:extLst>
                    <a:ext uri="{9D8B030D-6E8A-4147-A177-3AD203B41FA5}">
                      <a16:colId xmlns:a16="http://schemas.microsoft.com/office/drawing/2014/main" val="2825578783"/>
                    </a:ext>
                  </a:extLst>
                </a:gridCol>
                <a:gridCol w="3962180">
                  <a:extLst>
                    <a:ext uri="{9D8B030D-6E8A-4147-A177-3AD203B41FA5}">
                      <a16:colId xmlns:a16="http://schemas.microsoft.com/office/drawing/2014/main" val="1103530587"/>
                    </a:ext>
                  </a:extLst>
                </a:gridCol>
                <a:gridCol w="3192219">
                  <a:extLst>
                    <a:ext uri="{9D8B030D-6E8A-4147-A177-3AD203B41FA5}">
                      <a16:colId xmlns:a16="http://schemas.microsoft.com/office/drawing/2014/main" val="366654768"/>
                    </a:ext>
                  </a:extLst>
                </a:gridCol>
                <a:gridCol w="4219234">
                  <a:extLst>
                    <a:ext uri="{9D8B030D-6E8A-4147-A177-3AD203B41FA5}">
                      <a16:colId xmlns:a16="http://schemas.microsoft.com/office/drawing/2014/main" val="1460404326"/>
                    </a:ext>
                  </a:extLst>
                </a:gridCol>
              </a:tblGrid>
              <a:tr h="768488">
                <a:tc>
                  <a:txBody>
                    <a:bodyPr/>
                    <a:lstStyle/>
                    <a:p>
                      <a:endParaRPr lang="en-US" sz="4400" dirty="0"/>
                    </a:p>
                  </a:txBody>
                  <a:tcPr/>
                </a:tc>
                <a:tc>
                  <a:txBody>
                    <a:bodyPr/>
                    <a:lstStyle/>
                    <a:p>
                      <a:endParaRPr lang="en-US" sz="4400" dirty="0"/>
                    </a:p>
                  </a:txBody>
                  <a:tcPr/>
                </a:tc>
                <a:tc>
                  <a:txBody>
                    <a:bodyPr/>
                    <a:lstStyle/>
                    <a:p>
                      <a:r>
                        <a:rPr lang="en-US" sz="4400" dirty="0"/>
                        <a:t>Example</a:t>
                      </a:r>
                    </a:p>
                  </a:txBody>
                  <a:tcPr/>
                </a:tc>
                <a:tc>
                  <a:txBody>
                    <a:bodyPr/>
                    <a:lstStyle/>
                    <a:p>
                      <a:r>
                        <a:rPr lang="en-US" sz="4400" dirty="0"/>
                        <a:t>Action</a:t>
                      </a:r>
                    </a:p>
                  </a:txBody>
                  <a:tcPr/>
                </a:tc>
                <a:tc>
                  <a:txBody>
                    <a:bodyPr/>
                    <a:lstStyle/>
                    <a:p>
                      <a:r>
                        <a:rPr lang="en-US" sz="4400" dirty="0"/>
                        <a:t>Extracted contents</a:t>
                      </a:r>
                    </a:p>
                  </a:txBody>
                  <a:tcPr/>
                </a:tc>
                <a:extLst>
                  <a:ext uri="{0D108BD9-81ED-4DB2-BD59-A6C34878D82A}">
                    <a16:rowId xmlns:a16="http://schemas.microsoft.com/office/drawing/2014/main" val="3229038642"/>
                  </a:ext>
                </a:extLst>
              </a:tr>
              <a:tr h="768488">
                <a:tc>
                  <a:txBody>
                    <a:bodyPr/>
                    <a:lstStyle/>
                    <a:p>
                      <a:pPr algn="l"/>
                      <a:r>
                        <a:rPr lang="en-GB" sz="4400" dirty="0"/>
                        <a:t>Nested </a:t>
                      </a:r>
                    </a:p>
                    <a:p>
                      <a:pPr algn="l"/>
                      <a:r>
                        <a:rPr lang="en-GB" sz="4400" dirty="0"/>
                        <a:t>Element </a:t>
                      </a:r>
                      <a:endParaRPr lang="en-US" sz="4400" dirty="0"/>
                    </a:p>
                  </a:txBody>
                  <a:tcPr/>
                </a:tc>
                <a:tc>
                  <a:txBody>
                    <a:bodyPr/>
                    <a:lstStyle/>
                    <a:p>
                      <a:r>
                        <a:rPr lang="en-US" sz="4400" dirty="0"/>
                        <a:t>:</a:t>
                      </a:r>
                    </a:p>
                  </a:txBody>
                  <a:tcPr/>
                </a:tc>
                <a:tc>
                  <a:txBody>
                    <a:bodyPr/>
                    <a:lstStyle/>
                    <a:p>
                      <a:pPr algn="l"/>
                      <a:r>
                        <a:rPr lang="en-GB" sz="4400" dirty="0" err="1">
                          <a:latin typeface="Courier New" panose="02070309020205020404" pitchFamily="49" charset="0"/>
                        </a:rPr>
                        <a:t>td:first-child</a:t>
                      </a:r>
                      <a:endParaRPr lang="en-US" sz="4400" dirty="0"/>
                    </a:p>
                  </a:txBody>
                  <a:tcPr/>
                </a:tc>
                <a:tc>
                  <a:txBody>
                    <a:bodyPr/>
                    <a:lstStyle/>
                    <a:p>
                      <a:pPr algn="l"/>
                      <a:r>
                        <a:rPr lang="en-GB" sz="4400" dirty="0"/>
                        <a:t>Select all </a:t>
                      </a:r>
                      <a:r>
                        <a:rPr lang="en-GB" sz="4400" b="0" i="0" u="none" strike="noStrike" cap="none" spc="0" baseline="0" dirty="0">
                          <a:solidFill>
                            <a:schemeClr val="tx1"/>
                          </a:solidFill>
                          <a:uFillTx/>
                          <a:latin typeface="Courier New" panose="02070309020205020404" pitchFamily="49" charset="0"/>
                          <a:ea typeface="+mn-ea"/>
                          <a:cs typeface="+mn-cs"/>
                          <a:sym typeface="Helvetica Neue"/>
                        </a:rPr>
                        <a:t>&lt;td&gt; </a:t>
                      </a:r>
                      <a:r>
                        <a:rPr lang="en-GB" sz="4400" dirty="0"/>
                        <a:t>tag that are the first child node of its parent</a:t>
                      </a:r>
                    </a:p>
                  </a:txBody>
                  <a:tcPr/>
                </a:tc>
                <a:tc>
                  <a:txBody>
                    <a:bodyPr/>
                    <a:lstStyle/>
                    <a:p>
                      <a:pPr algn="l"/>
                      <a:r>
                        <a:rPr lang="en-US" sz="4400" dirty="0"/>
                        <a:t>Toyota</a:t>
                      </a:r>
                    </a:p>
                    <a:p>
                      <a:pPr algn="l"/>
                      <a:r>
                        <a:rPr lang="en-US" sz="4400" dirty="0"/>
                        <a:t>Honda</a:t>
                      </a:r>
                    </a:p>
                  </a:txBody>
                  <a:tcPr/>
                </a:tc>
                <a:extLst>
                  <a:ext uri="{0D108BD9-81ED-4DB2-BD59-A6C34878D82A}">
                    <a16:rowId xmlns:a16="http://schemas.microsoft.com/office/drawing/2014/main" val="309461966"/>
                  </a:ext>
                </a:extLst>
              </a:tr>
              <a:tr h="768488">
                <a:tc>
                  <a:txBody>
                    <a:bodyPr/>
                    <a:lstStyle/>
                    <a:p>
                      <a:pPr algn="l"/>
                      <a:r>
                        <a:rPr lang="en-US" sz="4400" dirty="0"/>
                        <a:t>Direct Child</a:t>
                      </a:r>
                    </a:p>
                  </a:txBody>
                  <a:tcPr/>
                </a:tc>
                <a:tc>
                  <a:txBody>
                    <a:bodyPr/>
                    <a:lstStyle/>
                    <a:p>
                      <a:r>
                        <a:rPr lang="en-US" sz="4400" dirty="0"/>
                        <a:t>&gt;</a:t>
                      </a:r>
                    </a:p>
                  </a:txBody>
                  <a:tcPr/>
                </a:tc>
                <a:tc>
                  <a:txBody>
                    <a:bodyPr/>
                    <a:lstStyle/>
                    <a:p>
                      <a:pPr algn="l"/>
                      <a:r>
                        <a:rPr lang="en-US" sz="4400" b="0" i="0" u="none" strike="noStrike" cap="none" spc="0" baseline="0" dirty="0">
                          <a:solidFill>
                            <a:schemeClr val="tx1"/>
                          </a:solidFill>
                          <a:uFillTx/>
                          <a:latin typeface="Courier New" panose="02070309020205020404" pitchFamily="49" charset="0"/>
                          <a:ea typeface="+mn-ea"/>
                          <a:cs typeface="+mn-cs"/>
                          <a:sym typeface="Helvetica Neue"/>
                        </a:rPr>
                        <a:t>table &gt; tr</a:t>
                      </a:r>
                    </a:p>
                  </a:txBody>
                  <a:tcPr/>
                </a:tc>
                <a:tc>
                  <a:txBody>
                    <a:bodyPr/>
                    <a:lstStyle/>
                    <a:p>
                      <a:pPr marL="0" marR="0" lvl="0" indent="0" algn="l" defTabSz="584200" rtl="0" eaLnBrk="1" fontAlgn="auto" latinLnBrk="0" hangingPunct="1">
                        <a:lnSpc>
                          <a:spcPct val="100000"/>
                        </a:lnSpc>
                        <a:spcBef>
                          <a:spcPts val="0"/>
                        </a:spcBef>
                        <a:spcAft>
                          <a:spcPts val="0"/>
                        </a:spcAft>
                        <a:buClrTx/>
                        <a:buSzTx/>
                        <a:buFontTx/>
                        <a:buNone/>
                        <a:tabLst/>
                        <a:defRPr/>
                      </a:pPr>
                      <a:r>
                        <a:rPr lang="en-GB" sz="4400" dirty="0"/>
                        <a:t>Select tag </a:t>
                      </a:r>
                      <a:r>
                        <a:rPr lang="en-GB" sz="4400" b="0" i="0" u="none" strike="noStrike" cap="none" spc="0" baseline="0" dirty="0">
                          <a:solidFill>
                            <a:schemeClr val="tx1"/>
                          </a:solidFill>
                          <a:uFillTx/>
                          <a:latin typeface="Courier New" panose="02070309020205020404" pitchFamily="49" charset="0"/>
                          <a:ea typeface="+mn-ea"/>
                          <a:cs typeface="+mn-cs"/>
                          <a:sym typeface="Helvetica Neue"/>
                        </a:rPr>
                        <a:t>&lt;tr&gt; </a:t>
                      </a:r>
                      <a:r>
                        <a:rPr lang="en-GB" sz="4400" b="0" i="0" u="none" strike="noStrike" cap="none" spc="0" baseline="0" dirty="0">
                          <a:solidFill>
                            <a:schemeClr val="tx1"/>
                          </a:solidFill>
                          <a:uFillTx/>
                          <a:latin typeface="+mn-lt"/>
                          <a:ea typeface="+mn-ea"/>
                          <a:cs typeface="+mn-cs"/>
                          <a:sym typeface="Helvetica Neue"/>
                        </a:rPr>
                        <a:t>that is the direct child of </a:t>
                      </a:r>
                      <a:r>
                        <a:rPr lang="en-GB" sz="4400" b="0" i="0" u="none" strike="noStrike" cap="none" spc="0" baseline="0" dirty="0">
                          <a:solidFill>
                            <a:schemeClr val="tx1"/>
                          </a:solidFill>
                          <a:uFillTx/>
                          <a:latin typeface="Courier New" panose="02070309020205020404" pitchFamily="49" charset="0"/>
                          <a:ea typeface="+mn-ea"/>
                          <a:cs typeface="+mn-cs"/>
                          <a:sym typeface="Helvetica Neue"/>
                        </a:rPr>
                        <a:t>&lt;table&gt;</a:t>
                      </a:r>
                    </a:p>
                  </a:txBody>
                  <a:tcPr/>
                </a:tc>
                <a:tc>
                  <a:txBody>
                    <a:bodyPr/>
                    <a:lstStyle/>
                    <a:p>
                      <a:pPr algn="l"/>
                      <a:r>
                        <a:rPr lang="en-US" sz="4400" dirty="0" err="1"/>
                        <a:t>BrandColor</a:t>
                      </a:r>
                      <a:endParaRPr lang="en-US" sz="4400" dirty="0"/>
                    </a:p>
                    <a:p>
                      <a:pPr algn="l"/>
                      <a:r>
                        <a:rPr lang="en-US" sz="4400" dirty="0" err="1"/>
                        <a:t>ToyotaRed</a:t>
                      </a:r>
                      <a:endParaRPr lang="en-US" sz="4400" dirty="0"/>
                    </a:p>
                    <a:p>
                      <a:pPr algn="l"/>
                      <a:r>
                        <a:rPr lang="en-US" sz="4400" dirty="0" err="1"/>
                        <a:t>HondaBlack</a:t>
                      </a:r>
                      <a:endParaRPr lang="en-US" sz="4400" dirty="0"/>
                    </a:p>
                  </a:txBody>
                  <a:tcPr/>
                </a:tc>
                <a:extLst>
                  <a:ext uri="{0D108BD9-81ED-4DB2-BD59-A6C34878D82A}">
                    <a16:rowId xmlns:a16="http://schemas.microsoft.com/office/drawing/2014/main" val="8233695"/>
                  </a:ext>
                </a:extLst>
              </a:tr>
            </a:tbl>
          </a:graphicData>
        </a:graphic>
      </p:graphicFrame>
      <p:pic>
        <p:nvPicPr>
          <p:cNvPr id="2" name="object 2">
            <a:extLst>
              <a:ext uri="{FF2B5EF4-FFF2-40B4-BE49-F238E27FC236}">
                <a16:creationId xmlns:a16="http://schemas.microsoft.com/office/drawing/2014/main" id="{F356C959-D5A0-A4DC-84EB-11E523B7E94E}"/>
              </a:ext>
            </a:extLst>
          </p:cNvPr>
          <p:cNvPicPr/>
          <p:nvPr/>
        </p:nvPicPr>
        <p:blipFill>
          <a:blip r:embed="rId3" cstate="print"/>
          <a:stretch>
            <a:fillRect/>
          </a:stretch>
        </p:blipFill>
        <p:spPr>
          <a:xfrm>
            <a:off x="898360" y="4002932"/>
            <a:ext cx="5364079" cy="8058254"/>
          </a:xfrm>
          <a:prstGeom prst="rect">
            <a:avLst/>
          </a:prstGeom>
        </p:spPr>
      </p:pic>
    </p:spTree>
    <p:extLst>
      <p:ext uri="{BB962C8B-B14F-4D97-AF65-F5344CB8AC3E}">
        <p14:creationId xmlns:p14="http://schemas.microsoft.com/office/powerpoint/2010/main" val="111379567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00251" y="3004018"/>
            <a:ext cx="21267420" cy="7854714"/>
          </a:xfrm>
          <a:prstGeom prst="rect">
            <a:avLst/>
          </a:prstGeom>
        </p:spPr>
        <p:txBody>
          <a:bodyPr vert="horz" wrap="square" lIns="0" tIns="105410" rIns="0" bIns="0" rtlCol="0">
            <a:spAutoFit/>
          </a:bodyPr>
          <a:lstStyle/>
          <a:p>
            <a:pPr marL="25400" marR="887730">
              <a:lnSpc>
                <a:spcPts val="6160"/>
              </a:lnSpc>
              <a:spcBef>
                <a:spcPts val="830"/>
              </a:spcBef>
            </a:pPr>
            <a:r>
              <a:rPr sz="5500" dirty="0">
                <a:solidFill>
                  <a:srgbClr val="002D5F"/>
                </a:solidFill>
                <a:cs typeface="Calibri"/>
              </a:rPr>
              <a:t>Note</a:t>
            </a:r>
            <a:r>
              <a:rPr sz="5500" spc="120" dirty="0">
                <a:solidFill>
                  <a:srgbClr val="002D5F"/>
                </a:solidFill>
                <a:cs typeface="Calibri"/>
              </a:rPr>
              <a:t> </a:t>
            </a:r>
            <a:r>
              <a:rPr sz="5500" dirty="0">
                <a:solidFill>
                  <a:srgbClr val="002D5F"/>
                </a:solidFill>
                <a:cs typeface="Calibri"/>
              </a:rPr>
              <a:t>that</a:t>
            </a:r>
            <a:r>
              <a:rPr sz="5500" spc="140" dirty="0">
                <a:solidFill>
                  <a:srgbClr val="002D5F"/>
                </a:solidFill>
                <a:cs typeface="Calibri"/>
              </a:rPr>
              <a:t> </a:t>
            </a:r>
            <a:r>
              <a:rPr sz="5500" dirty="0">
                <a:solidFill>
                  <a:srgbClr val="002D5F"/>
                </a:solidFill>
                <a:cs typeface="Calibri"/>
              </a:rPr>
              <a:t>an</a:t>
            </a:r>
            <a:r>
              <a:rPr sz="5500" spc="270" dirty="0">
                <a:solidFill>
                  <a:srgbClr val="002D5F"/>
                </a:solidFill>
                <a:cs typeface="Calibri"/>
              </a:rPr>
              <a:t> </a:t>
            </a:r>
            <a:r>
              <a:rPr sz="5500" dirty="0">
                <a:solidFill>
                  <a:srgbClr val="002D5F"/>
                </a:solidFill>
                <a:cs typeface="Calibri"/>
              </a:rPr>
              <a:t>ID</a:t>
            </a:r>
            <a:r>
              <a:rPr sz="5500" spc="60" dirty="0">
                <a:solidFill>
                  <a:srgbClr val="002D5F"/>
                </a:solidFill>
                <a:cs typeface="Calibri"/>
              </a:rPr>
              <a:t> </a:t>
            </a:r>
            <a:r>
              <a:rPr sz="5500" dirty="0">
                <a:solidFill>
                  <a:srgbClr val="002D5F"/>
                </a:solidFill>
                <a:cs typeface="Calibri"/>
              </a:rPr>
              <a:t>is</a:t>
            </a:r>
            <a:r>
              <a:rPr sz="5500" spc="120" dirty="0">
                <a:solidFill>
                  <a:srgbClr val="002D5F"/>
                </a:solidFill>
                <a:cs typeface="Calibri"/>
              </a:rPr>
              <a:t> </a:t>
            </a:r>
            <a:r>
              <a:rPr sz="5500" dirty="0">
                <a:solidFill>
                  <a:srgbClr val="002D5F"/>
                </a:solidFill>
                <a:cs typeface="Calibri"/>
              </a:rPr>
              <a:t>unique</a:t>
            </a:r>
            <a:r>
              <a:rPr sz="5500" spc="130" dirty="0">
                <a:solidFill>
                  <a:srgbClr val="002D5F"/>
                </a:solidFill>
                <a:cs typeface="Calibri"/>
              </a:rPr>
              <a:t> </a:t>
            </a:r>
            <a:r>
              <a:rPr sz="5500" dirty="0">
                <a:solidFill>
                  <a:srgbClr val="002D5F"/>
                </a:solidFill>
                <a:cs typeface="Calibri"/>
              </a:rPr>
              <a:t>to</a:t>
            </a:r>
            <a:r>
              <a:rPr sz="5500" spc="260" dirty="0">
                <a:solidFill>
                  <a:srgbClr val="002D5F"/>
                </a:solidFill>
                <a:cs typeface="Calibri"/>
              </a:rPr>
              <a:t> </a:t>
            </a:r>
            <a:r>
              <a:rPr sz="5500" dirty="0">
                <a:solidFill>
                  <a:srgbClr val="002D5F"/>
                </a:solidFill>
                <a:cs typeface="Calibri"/>
              </a:rPr>
              <a:t>a</a:t>
            </a:r>
            <a:r>
              <a:rPr sz="5500" spc="80" dirty="0">
                <a:solidFill>
                  <a:srgbClr val="002D5F"/>
                </a:solidFill>
                <a:cs typeface="Calibri"/>
              </a:rPr>
              <a:t> </a:t>
            </a:r>
            <a:r>
              <a:rPr sz="5500" dirty="0">
                <a:solidFill>
                  <a:srgbClr val="002D5F"/>
                </a:solidFill>
                <a:cs typeface="Calibri"/>
              </a:rPr>
              <a:t>single</a:t>
            </a:r>
            <a:r>
              <a:rPr sz="5500" spc="130" dirty="0">
                <a:solidFill>
                  <a:srgbClr val="002D5F"/>
                </a:solidFill>
                <a:cs typeface="Calibri"/>
              </a:rPr>
              <a:t> </a:t>
            </a:r>
            <a:r>
              <a:rPr sz="5500" dirty="0">
                <a:solidFill>
                  <a:srgbClr val="002D5F"/>
                </a:solidFill>
                <a:cs typeface="Calibri"/>
              </a:rPr>
              <a:t>HTML</a:t>
            </a:r>
            <a:r>
              <a:rPr sz="5500" spc="100" dirty="0">
                <a:solidFill>
                  <a:srgbClr val="002D5F"/>
                </a:solidFill>
                <a:cs typeface="Calibri"/>
              </a:rPr>
              <a:t> </a:t>
            </a:r>
            <a:r>
              <a:rPr sz="5500" dirty="0">
                <a:solidFill>
                  <a:srgbClr val="002D5F"/>
                </a:solidFill>
                <a:cs typeface="Calibri"/>
              </a:rPr>
              <a:t>node/tag</a:t>
            </a:r>
            <a:r>
              <a:rPr sz="5500" spc="120" dirty="0">
                <a:solidFill>
                  <a:srgbClr val="002D5F"/>
                </a:solidFill>
                <a:cs typeface="Calibri"/>
              </a:rPr>
              <a:t> </a:t>
            </a:r>
            <a:r>
              <a:rPr sz="5500" dirty="0">
                <a:solidFill>
                  <a:srgbClr val="002D5F"/>
                </a:solidFill>
                <a:cs typeface="Calibri"/>
              </a:rPr>
              <a:t>in</a:t>
            </a:r>
            <a:r>
              <a:rPr sz="5500" spc="110" dirty="0">
                <a:solidFill>
                  <a:srgbClr val="002D5F"/>
                </a:solidFill>
                <a:cs typeface="Calibri"/>
              </a:rPr>
              <a:t> </a:t>
            </a:r>
            <a:r>
              <a:rPr sz="5500" dirty="0">
                <a:solidFill>
                  <a:srgbClr val="002D5F"/>
                </a:solidFill>
                <a:cs typeface="Calibri"/>
              </a:rPr>
              <a:t>a</a:t>
            </a:r>
            <a:r>
              <a:rPr sz="5500" spc="90" dirty="0">
                <a:solidFill>
                  <a:srgbClr val="002D5F"/>
                </a:solidFill>
                <a:cs typeface="Calibri"/>
              </a:rPr>
              <a:t> </a:t>
            </a:r>
            <a:r>
              <a:rPr sz="5500" dirty="0">
                <a:solidFill>
                  <a:srgbClr val="002D5F"/>
                </a:solidFill>
                <a:cs typeface="Calibri"/>
              </a:rPr>
              <a:t>document</a:t>
            </a:r>
            <a:r>
              <a:rPr sz="5500" spc="130" dirty="0">
                <a:solidFill>
                  <a:srgbClr val="002D5F"/>
                </a:solidFill>
                <a:cs typeface="Calibri"/>
              </a:rPr>
              <a:t> </a:t>
            </a:r>
            <a:r>
              <a:rPr sz="5500" spc="-50" dirty="0">
                <a:solidFill>
                  <a:srgbClr val="002D5F"/>
                </a:solidFill>
                <a:cs typeface="Calibri"/>
              </a:rPr>
              <a:t>(so </a:t>
            </a:r>
            <a:r>
              <a:rPr sz="5500" dirty="0">
                <a:solidFill>
                  <a:srgbClr val="002D5F"/>
                </a:solidFill>
                <a:cs typeface="Calibri"/>
              </a:rPr>
              <a:t>most</a:t>
            </a:r>
            <a:r>
              <a:rPr sz="5500" spc="100" dirty="0">
                <a:solidFill>
                  <a:srgbClr val="002D5F"/>
                </a:solidFill>
                <a:cs typeface="Calibri"/>
              </a:rPr>
              <a:t> </a:t>
            </a:r>
            <a:r>
              <a:rPr sz="5500" dirty="0">
                <a:solidFill>
                  <a:srgbClr val="002D5F"/>
                </a:solidFill>
                <a:cs typeface="Calibri"/>
              </a:rPr>
              <a:t>of</a:t>
            </a:r>
            <a:r>
              <a:rPr sz="5500" spc="110" dirty="0">
                <a:solidFill>
                  <a:srgbClr val="002D5F"/>
                </a:solidFill>
                <a:cs typeface="Calibri"/>
              </a:rPr>
              <a:t> </a:t>
            </a:r>
            <a:r>
              <a:rPr sz="5500" dirty="0">
                <a:solidFill>
                  <a:srgbClr val="002D5F"/>
                </a:solidFill>
                <a:cs typeface="Calibri"/>
              </a:rPr>
              <a:t>the</a:t>
            </a:r>
            <a:r>
              <a:rPr sz="5500" spc="100" dirty="0">
                <a:solidFill>
                  <a:srgbClr val="002D5F"/>
                </a:solidFill>
                <a:cs typeface="Calibri"/>
              </a:rPr>
              <a:t> </a:t>
            </a:r>
            <a:r>
              <a:rPr sz="5500" dirty="0">
                <a:solidFill>
                  <a:srgbClr val="002D5F"/>
                </a:solidFill>
                <a:cs typeface="Calibri"/>
              </a:rPr>
              <a:t>time</a:t>
            </a:r>
            <a:r>
              <a:rPr sz="5500" spc="90" dirty="0">
                <a:solidFill>
                  <a:srgbClr val="002D5F"/>
                </a:solidFill>
                <a:cs typeface="Calibri"/>
              </a:rPr>
              <a:t> </a:t>
            </a:r>
            <a:r>
              <a:rPr sz="5500" dirty="0">
                <a:solidFill>
                  <a:srgbClr val="002D5F"/>
                </a:solidFill>
                <a:cs typeface="Calibri"/>
              </a:rPr>
              <a:t>you</a:t>
            </a:r>
            <a:r>
              <a:rPr sz="5500" spc="80" dirty="0">
                <a:solidFill>
                  <a:srgbClr val="002D5F"/>
                </a:solidFill>
                <a:cs typeface="Calibri"/>
              </a:rPr>
              <a:t> </a:t>
            </a:r>
            <a:r>
              <a:rPr sz="5500" dirty="0">
                <a:solidFill>
                  <a:srgbClr val="002D5F"/>
                </a:solidFill>
                <a:cs typeface="Calibri"/>
              </a:rPr>
              <a:t>won’t</a:t>
            </a:r>
            <a:r>
              <a:rPr sz="5500" spc="100" dirty="0">
                <a:solidFill>
                  <a:srgbClr val="002D5F"/>
                </a:solidFill>
                <a:cs typeface="Calibri"/>
              </a:rPr>
              <a:t> </a:t>
            </a:r>
            <a:r>
              <a:rPr sz="5500" dirty="0">
                <a:solidFill>
                  <a:srgbClr val="002D5F"/>
                </a:solidFill>
                <a:cs typeface="Calibri"/>
              </a:rPr>
              <a:t>need</a:t>
            </a:r>
            <a:r>
              <a:rPr sz="5500" spc="80" dirty="0">
                <a:solidFill>
                  <a:srgbClr val="002D5F"/>
                </a:solidFill>
                <a:cs typeface="Calibri"/>
              </a:rPr>
              <a:t> </a:t>
            </a:r>
            <a:r>
              <a:rPr sz="5500" dirty="0">
                <a:solidFill>
                  <a:srgbClr val="002D5F"/>
                </a:solidFill>
                <a:cs typeface="Calibri"/>
              </a:rPr>
              <a:t>the</a:t>
            </a:r>
            <a:r>
              <a:rPr sz="5500" spc="100" dirty="0">
                <a:solidFill>
                  <a:srgbClr val="002D5F"/>
                </a:solidFill>
                <a:cs typeface="Calibri"/>
              </a:rPr>
              <a:t> </a:t>
            </a:r>
            <a:r>
              <a:rPr sz="5500" dirty="0">
                <a:solidFill>
                  <a:srgbClr val="002D5F"/>
                </a:solidFill>
                <a:cs typeface="Calibri"/>
              </a:rPr>
              <a:t>tag</a:t>
            </a:r>
            <a:r>
              <a:rPr sz="5500" spc="90" dirty="0">
                <a:solidFill>
                  <a:srgbClr val="002D5F"/>
                </a:solidFill>
                <a:cs typeface="Calibri"/>
              </a:rPr>
              <a:t> </a:t>
            </a:r>
            <a:r>
              <a:rPr sz="5500" dirty="0">
                <a:solidFill>
                  <a:srgbClr val="002D5F"/>
                </a:solidFill>
                <a:cs typeface="Calibri"/>
              </a:rPr>
              <a:t>name</a:t>
            </a:r>
            <a:r>
              <a:rPr sz="5500" spc="90" dirty="0">
                <a:solidFill>
                  <a:srgbClr val="002D5F"/>
                </a:solidFill>
                <a:cs typeface="Calibri"/>
              </a:rPr>
              <a:t> </a:t>
            </a:r>
            <a:r>
              <a:rPr sz="5500" dirty="0">
                <a:solidFill>
                  <a:srgbClr val="002D5F"/>
                </a:solidFill>
                <a:cs typeface="Calibri"/>
              </a:rPr>
              <a:t>at</a:t>
            </a:r>
            <a:r>
              <a:rPr sz="5500" spc="100" dirty="0">
                <a:solidFill>
                  <a:srgbClr val="002D5F"/>
                </a:solidFill>
                <a:cs typeface="Calibri"/>
              </a:rPr>
              <a:t> </a:t>
            </a:r>
            <a:r>
              <a:rPr sz="5500" spc="-20" dirty="0">
                <a:solidFill>
                  <a:srgbClr val="002D5F"/>
                </a:solidFill>
                <a:cs typeface="Calibri"/>
              </a:rPr>
              <a:t>all.)</a:t>
            </a:r>
            <a:endParaRPr sz="5500" dirty="0">
              <a:cs typeface="Calibri"/>
            </a:endParaRPr>
          </a:p>
          <a:p>
            <a:pPr marL="25400" marR="10160">
              <a:lnSpc>
                <a:spcPct val="92200"/>
              </a:lnSpc>
              <a:spcBef>
                <a:spcPts val="5800"/>
              </a:spcBef>
            </a:pPr>
            <a:r>
              <a:rPr sz="5500" dirty="0">
                <a:solidFill>
                  <a:srgbClr val="002D5F"/>
                </a:solidFill>
                <a:cs typeface="Calibri"/>
              </a:rPr>
              <a:t>A</a:t>
            </a:r>
            <a:r>
              <a:rPr sz="5500" spc="130" dirty="0">
                <a:solidFill>
                  <a:srgbClr val="002D5F"/>
                </a:solidFill>
                <a:cs typeface="Calibri"/>
              </a:rPr>
              <a:t> </a:t>
            </a:r>
            <a:r>
              <a:rPr sz="5500" dirty="0">
                <a:solidFill>
                  <a:srgbClr val="002D5F"/>
                </a:solidFill>
                <a:cs typeface="Calibri"/>
              </a:rPr>
              <a:t>class</a:t>
            </a:r>
            <a:r>
              <a:rPr sz="5500" spc="120" dirty="0">
                <a:solidFill>
                  <a:srgbClr val="002D5F"/>
                </a:solidFill>
                <a:cs typeface="Calibri"/>
              </a:rPr>
              <a:t> </a:t>
            </a:r>
            <a:r>
              <a:rPr sz="5500" dirty="0">
                <a:solidFill>
                  <a:srgbClr val="002D5F"/>
                </a:solidFill>
                <a:cs typeface="Calibri"/>
              </a:rPr>
              <a:t>can</a:t>
            </a:r>
            <a:r>
              <a:rPr sz="5500" spc="120" dirty="0">
                <a:solidFill>
                  <a:srgbClr val="002D5F"/>
                </a:solidFill>
                <a:cs typeface="Calibri"/>
              </a:rPr>
              <a:t> </a:t>
            </a:r>
            <a:r>
              <a:rPr sz="5500" dirty="0">
                <a:solidFill>
                  <a:srgbClr val="002D5F"/>
                </a:solidFill>
                <a:cs typeface="Calibri"/>
              </a:rPr>
              <a:t>be</a:t>
            </a:r>
            <a:r>
              <a:rPr sz="5500" spc="120" dirty="0">
                <a:solidFill>
                  <a:srgbClr val="002D5F"/>
                </a:solidFill>
                <a:cs typeface="Calibri"/>
              </a:rPr>
              <a:t> </a:t>
            </a:r>
            <a:r>
              <a:rPr sz="5500" dirty="0">
                <a:solidFill>
                  <a:srgbClr val="002D5F"/>
                </a:solidFill>
                <a:cs typeface="Calibri"/>
              </a:rPr>
              <a:t>applied</a:t>
            </a:r>
            <a:r>
              <a:rPr sz="5500" spc="110" dirty="0">
                <a:solidFill>
                  <a:srgbClr val="002D5F"/>
                </a:solidFill>
                <a:cs typeface="Calibri"/>
              </a:rPr>
              <a:t> </a:t>
            </a:r>
            <a:r>
              <a:rPr sz="5500" dirty="0">
                <a:solidFill>
                  <a:srgbClr val="002D5F"/>
                </a:solidFill>
                <a:cs typeface="Calibri"/>
              </a:rPr>
              <a:t>across</a:t>
            </a:r>
            <a:r>
              <a:rPr sz="5500" spc="130" dirty="0">
                <a:solidFill>
                  <a:srgbClr val="002D5F"/>
                </a:solidFill>
                <a:cs typeface="Calibri"/>
              </a:rPr>
              <a:t> </a:t>
            </a:r>
            <a:r>
              <a:rPr sz="5500" dirty="0">
                <a:solidFill>
                  <a:srgbClr val="002D5F"/>
                </a:solidFill>
                <a:cs typeface="Calibri"/>
              </a:rPr>
              <a:t>elements,</a:t>
            </a:r>
            <a:r>
              <a:rPr sz="5500" spc="160" dirty="0">
                <a:solidFill>
                  <a:srgbClr val="002D5F"/>
                </a:solidFill>
                <a:cs typeface="Calibri"/>
              </a:rPr>
              <a:t> </a:t>
            </a:r>
            <a:r>
              <a:rPr sz="5500" dirty="0">
                <a:solidFill>
                  <a:srgbClr val="002D5F"/>
                </a:solidFill>
                <a:cs typeface="Calibri"/>
              </a:rPr>
              <a:t>and</a:t>
            </a:r>
            <a:r>
              <a:rPr sz="5500" spc="270" dirty="0">
                <a:solidFill>
                  <a:srgbClr val="002D5F"/>
                </a:solidFill>
                <a:cs typeface="Calibri"/>
              </a:rPr>
              <a:t> </a:t>
            </a:r>
            <a:r>
              <a:rPr sz="5500" dirty="0">
                <a:solidFill>
                  <a:srgbClr val="002D5F"/>
                </a:solidFill>
                <a:cs typeface="Calibri"/>
              </a:rPr>
              <a:t>a</a:t>
            </a:r>
            <a:r>
              <a:rPr sz="5500" spc="80" dirty="0">
                <a:solidFill>
                  <a:srgbClr val="002D5F"/>
                </a:solidFill>
                <a:cs typeface="Calibri"/>
              </a:rPr>
              <a:t> </a:t>
            </a:r>
            <a:r>
              <a:rPr sz="5500" dirty="0">
                <a:solidFill>
                  <a:srgbClr val="002D5F"/>
                </a:solidFill>
                <a:cs typeface="Calibri"/>
              </a:rPr>
              <a:t>single</a:t>
            </a:r>
            <a:r>
              <a:rPr sz="5500" spc="130" dirty="0">
                <a:solidFill>
                  <a:srgbClr val="002D5F"/>
                </a:solidFill>
                <a:cs typeface="Calibri"/>
              </a:rPr>
              <a:t> </a:t>
            </a:r>
            <a:r>
              <a:rPr sz="5500" dirty="0">
                <a:solidFill>
                  <a:srgbClr val="002D5F"/>
                </a:solidFill>
                <a:cs typeface="Calibri"/>
              </a:rPr>
              <a:t>tag</a:t>
            </a:r>
            <a:r>
              <a:rPr sz="5500" spc="120" dirty="0">
                <a:solidFill>
                  <a:srgbClr val="002D5F"/>
                </a:solidFill>
                <a:cs typeface="Calibri"/>
              </a:rPr>
              <a:t> </a:t>
            </a:r>
            <a:r>
              <a:rPr sz="5500" dirty="0">
                <a:solidFill>
                  <a:srgbClr val="002D5F"/>
                </a:solidFill>
                <a:cs typeface="Calibri"/>
              </a:rPr>
              <a:t>can</a:t>
            </a:r>
            <a:r>
              <a:rPr sz="5500" spc="120" dirty="0">
                <a:solidFill>
                  <a:srgbClr val="002D5F"/>
                </a:solidFill>
                <a:cs typeface="Calibri"/>
              </a:rPr>
              <a:t> </a:t>
            </a:r>
            <a:r>
              <a:rPr sz="5500" dirty="0">
                <a:solidFill>
                  <a:srgbClr val="002D5F"/>
                </a:solidFill>
                <a:cs typeface="Calibri"/>
              </a:rPr>
              <a:t>have</a:t>
            </a:r>
            <a:r>
              <a:rPr sz="5500" spc="120" dirty="0">
                <a:solidFill>
                  <a:srgbClr val="002D5F"/>
                </a:solidFill>
                <a:cs typeface="Calibri"/>
              </a:rPr>
              <a:t> </a:t>
            </a:r>
            <a:r>
              <a:rPr sz="5500" spc="-20" dirty="0">
                <a:solidFill>
                  <a:srgbClr val="002D5F"/>
                </a:solidFill>
                <a:cs typeface="Calibri"/>
              </a:rPr>
              <a:t>multiple </a:t>
            </a:r>
            <a:r>
              <a:rPr sz="5500" dirty="0">
                <a:solidFill>
                  <a:srgbClr val="002D5F"/>
                </a:solidFill>
                <a:cs typeface="Calibri"/>
              </a:rPr>
              <a:t>classes</a:t>
            </a:r>
            <a:r>
              <a:rPr sz="5500" spc="220" dirty="0">
                <a:solidFill>
                  <a:srgbClr val="002D5F"/>
                </a:solidFill>
                <a:cs typeface="Calibri"/>
              </a:rPr>
              <a:t> </a:t>
            </a:r>
            <a:endParaRPr lang="en-GB" sz="5500" spc="220" dirty="0">
              <a:solidFill>
                <a:srgbClr val="002D5F"/>
              </a:solidFill>
              <a:cs typeface="Calibri"/>
            </a:endParaRPr>
          </a:p>
          <a:p>
            <a:pPr marL="25400" marR="10160">
              <a:lnSpc>
                <a:spcPct val="92200"/>
              </a:lnSpc>
              <a:spcBef>
                <a:spcPts val="5800"/>
              </a:spcBef>
            </a:pPr>
            <a:r>
              <a:rPr sz="5500" dirty="0">
                <a:solidFill>
                  <a:srgbClr val="002D5F"/>
                </a:solidFill>
                <a:latin typeface="Courier New"/>
                <a:cs typeface="Courier New"/>
              </a:rPr>
              <a:t>&lt;a</a:t>
            </a:r>
            <a:r>
              <a:rPr sz="5500" spc="630" dirty="0">
                <a:solidFill>
                  <a:srgbClr val="002D5F"/>
                </a:solidFill>
                <a:latin typeface="Courier New"/>
                <a:cs typeface="Courier New"/>
              </a:rPr>
              <a:t> </a:t>
            </a:r>
            <a:r>
              <a:rPr sz="5500" dirty="0">
                <a:solidFill>
                  <a:srgbClr val="FF0000"/>
                </a:solidFill>
                <a:latin typeface="Courier New"/>
                <a:cs typeface="Courier New"/>
              </a:rPr>
              <a:t>class</a:t>
            </a:r>
            <a:r>
              <a:rPr sz="5500" dirty="0">
                <a:solidFill>
                  <a:srgbClr val="002D5F"/>
                </a:solidFill>
                <a:latin typeface="Courier New"/>
                <a:cs typeface="Courier New"/>
              </a:rPr>
              <a:t>=“</a:t>
            </a:r>
            <a:r>
              <a:rPr sz="5500" dirty="0">
                <a:solidFill>
                  <a:srgbClr val="00B050"/>
                </a:solidFill>
                <a:latin typeface="Courier New"/>
                <a:cs typeface="Courier New"/>
              </a:rPr>
              <a:t>link</a:t>
            </a:r>
            <a:r>
              <a:rPr sz="5500" spc="630" dirty="0">
                <a:solidFill>
                  <a:srgbClr val="00B050"/>
                </a:solidFill>
                <a:latin typeface="Courier New"/>
                <a:cs typeface="Courier New"/>
              </a:rPr>
              <a:t> </a:t>
            </a:r>
            <a:r>
              <a:rPr sz="5500" dirty="0">
                <a:solidFill>
                  <a:srgbClr val="00B050"/>
                </a:solidFill>
                <a:latin typeface="Courier New"/>
                <a:cs typeface="Courier New"/>
              </a:rPr>
              <a:t>link-main</a:t>
            </a:r>
            <a:r>
              <a:rPr sz="5500" dirty="0">
                <a:solidFill>
                  <a:srgbClr val="002D5F"/>
                </a:solidFill>
                <a:latin typeface="Courier New"/>
                <a:cs typeface="Courier New"/>
              </a:rPr>
              <a:t>”&gt;link&lt;/a&gt;</a:t>
            </a:r>
            <a:r>
              <a:rPr sz="5500" spc="-1738" dirty="0">
                <a:solidFill>
                  <a:srgbClr val="002D5F"/>
                </a:solidFill>
                <a:latin typeface="Courier New"/>
                <a:cs typeface="Courier New"/>
              </a:rPr>
              <a:t> </a:t>
            </a:r>
            <a:endParaRPr lang="en-GB" sz="5500" spc="-1738" dirty="0">
              <a:solidFill>
                <a:srgbClr val="002D5F"/>
              </a:solidFill>
              <a:latin typeface="Courier New"/>
              <a:cs typeface="Courier New"/>
            </a:endParaRPr>
          </a:p>
          <a:p>
            <a:pPr marL="25400" marR="10160">
              <a:lnSpc>
                <a:spcPct val="92200"/>
              </a:lnSpc>
              <a:spcBef>
                <a:spcPts val="5800"/>
              </a:spcBef>
            </a:pPr>
            <a:r>
              <a:rPr sz="5500" dirty="0">
                <a:solidFill>
                  <a:srgbClr val="002D5F"/>
                </a:solidFill>
                <a:cs typeface="Calibri"/>
              </a:rPr>
              <a:t>has two classes, </a:t>
            </a:r>
            <a:r>
              <a:rPr sz="5500" dirty="0">
                <a:solidFill>
                  <a:srgbClr val="002D5F"/>
                </a:solidFill>
                <a:latin typeface="Courier New"/>
                <a:cs typeface="Courier New"/>
              </a:rPr>
              <a:t>link</a:t>
            </a:r>
            <a:r>
              <a:rPr sz="5500" spc="-1720" dirty="0">
                <a:solidFill>
                  <a:srgbClr val="002D5F"/>
                </a:solidFill>
                <a:latin typeface="Courier New"/>
                <a:cs typeface="Courier New"/>
              </a:rPr>
              <a:t> </a:t>
            </a:r>
            <a:r>
              <a:rPr sz="5500" dirty="0">
                <a:solidFill>
                  <a:srgbClr val="002D5F"/>
                </a:solidFill>
                <a:cs typeface="Calibri"/>
              </a:rPr>
              <a:t>and</a:t>
            </a:r>
            <a:r>
              <a:rPr sz="5500" spc="290" dirty="0">
                <a:solidFill>
                  <a:srgbClr val="002D5F"/>
                </a:solidFill>
                <a:latin typeface="Calibri"/>
                <a:cs typeface="Calibri"/>
              </a:rPr>
              <a:t> </a:t>
            </a:r>
            <a:r>
              <a:rPr sz="5500" dirty="0">
                <a:solidFill>
                  <a:srgbClr val="002D5F"/>
                </a:solidFill>
                <a:latin typeface="Courier New"/>
                <a:cs typeface="Courier New"/>
              </a:rPr>
              <a:t>link-</a:t>
            </a:r>
            <a:r>
              <a:rPr sz="5500" spc="-20" dirty="0">
                <a:solidFill>
                  <a:srgbClr val="002D5F"/>
                </a:solidFill>
                <a:latin typeface="Courier New"/>
                <a:cs typeface="Courier New"/>
              </a:rPr>
              <a:t>main</a:t>
            </a:r>
            <a:r>
              <a:rPr sz="5500" spc="-20" dirty="0">
                <a:solidFill>
                  <a:srgbClr val="002D5F"/>
                </a:solidFill>
                <a:latin typeface="Calibri"/>
                <a:cs typeface="Calibri"/>
              </a:rPr>
              <a:t>).</a:t>
            </a:r>
            <a:endParaRPr sz="5500" dirty="0">
              <a:latin typeface="Calibri"/>
              <a:cs typeface="Calibri"/>
            </a:endParaRPr>
          </a:p>
        </p:txBody>
      </p:sp>
      <p:sp>
        <p:nvSpPr>
          <p:cNvPr id="8" name="Title 7">
            <a:extLst>
              <a:ext uri="{FF2B5EF4-FFF2-40B4-BE49-F238E27FC236}">
                <a16:creationId xmlns:a16="http://schemas.microsoft.com/office/drawing/2014/main" id="{4B9D8CB5-00F0-961C-2E0E-678BB306BFB1}"/>
              </a:ext>
            </a:extLst>
          </p:cNvPr>
          <p:cNvSpPr>
            <a:spLocks noGrp="1"/>
          </p:cNvSpPr>
          <p:nvPr>
            <p:ph type="title"/>
          </p:nvPr>
        </p:nvSpPr>
        <p:spPr>
          <a:xfrm>
            <a:off x="1200251" y="1204188"/>
            <a:ext cx="21971000" cy="1433163"/>
          </a:xfrm>
        </p:spPr>
        <p:txBody>
          <a:bodyPr/>
          <a:lstStyle/>
          <a:p>
            <a:r>
              <a:rPr lang="en-US" dirty="0"/>
              <a:t>CSS and CSS selectors</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799580" y="616713"/>
            <a:ext cx="10977372" cy="991870"/>
          </a:xfrm>
          <a:prstGeom prst="rect">
            <a:avLst/>
          </a:prstGeom>
        </p:spPr>
      </p:pic>
      <p:sp>
        <p:nvSpPr>
          <p:cNvPr id="4" name="object 4"/>
          <p:cNvSpPr txBox="1"/>
          <p:nvPr/>
        </p:nvSpPr>
        <p:spPr>
          <a:xfrm>
            <a:off x="2462464" y="4817711"/>
            <a:ext cx="21257260" cy="2369880"/>
          </a:xfrm>
          <a:prstGeom prst="rect">
            <a:avLst/>
          </a:prstGeom>
        </p:spPr>
        <p:txBody>
          <a:bodyPr vert="horz" wrap="square" lIns="0" tIns="33020" rIns="0" bIns="0" rtlCol="0">
            <a:spAutoFit/>
          </a:bodyPr>
          <a:lstStyle/>
          <a:p>
            <a:pPr marL="1855470">
              <a:lnSpc>
                <a:spcPct val="100000"/>
              </a:lnSpc>
              <a:spcBef>
                <a:spcPts val="260"/>
              </a:spcBef>
            </a:pPr>
            <a:r>
              <a:rPr sz="5500" spc="-20" dirty="0">
                <a:solidFill>
                  <a:srgbClr val="002D5F"/>
                </a:solidFill>
                <a:latin typeface="Courier New"/>
                <a:cs typeface="Courier New"/>
              </a:rPr>
              <a:t>&lt;strong&gt;</a:t>
            </a:r>
            <a:r>
              <a:rPr sz="5500" b="1" spc="-20" dirty="0">
                <a:solidFill>
                  <a:srgbClr val="002D5F"/>
                </a:solidFill>
                <a:latin typeface="Courier New"/>
                <a:cs typeface="Courier New"/>
              </a:rPr>
              <a:t>&lt;a&gt;here&lt;/a&gt;</a:t>
            </a:r>
            <a:r>
              <a:rPr sz="5500" spc="-20" dirty="0">
                <a:solidFill>
                  <a:srgbClr val="002D5F"/>
                </a:solidFill>
                <a:latin typeface="Courier New"/>
                <a:cs typeface="Courier New"/>
              </a:rPr>
              <a:t>&lt;/strong&gt;</a:t>
            </a:r>
            <a:endParaRPr sz="5500" dirty="0">
              <a:latin typeface="Courier New"/>
              <a:cs typeface="Courier New"/>
            </a:endParaRPr>
          </a:p>
          <a:p>
            <a:pPr marL="1855470">
              <a:lnSpc>
                <a:spcPct val="100000"/>
              </a:lnSpc>
              <a:spcBef>
                <a:spcPts val="100"/>
              </a:spcBef>
            </a:pPr>
            <a:r>
              <a:rPr dirty="0">
                <a:solidFill>
                  <a:srgbClr val="002D5F"/>
                </a:solidFill>
                <a:latin typeface="Courier New"/>
                <a:cs typeface="Courier New"/>
              </a:rPr>
              <a:t>&lt;strong&gt;&lt;font</a:t>
            </a:r>
            <a:r>
              <a:rPr spc="-190" dirty="0">
                <a:solidFill>
                  <a:srgbClr val="002D5F"/>
                </a:solidFill>
                <a:latin typeface="Courier New"/>
                <a:cs typeface="Courier New"/>
              </a:rPr>
              <a:t> </a:t>
            </a:r>
            <a:r>
              <a:rPr spc="-20" dirty="0">
                <a:solidFill>
                  <a:srgbClr val="002D5F"/>
                </a:solidFill>
                <a:latin typeface="Courier New"/>
                <a:cs typeface="Courier New"/>
              </a:rPr>
              <a:t>color=“red”&gt;</a:t>
            </a:r>
            <a:r>
              <a:rPr b="1" spc="-20" dirty="0">
                <a:solidFill>
                  <a:srgbClr val="002D5F"/>
                </a:solidFill>
                <a:latin typeface="Courier New"/>
                <a:cs typeface="Courier New"/>
              </a:rPr>
              <a:t>&lt;a&gt;</a:t>
            </a:r>
            <a:r>
              <a:rPr lang="en-GB" b="1" spc="-20" dirty="0">
                <a:solidFill>
                  <a:srgbClr val="002D5F"/>
                </a:solidFill>
                <a:latin typeface="Courier New"/>
                <a:cs typeface="Courier New"/>
              </a:rPr>
              <a:t>there</a:t>
            </a:r>
            <a:r>
              <a:rPr b="1" spc="-20" dirty="0">
                <a:solidFill>
                  <a:srgbClr val="002D5F"/>
                </a:solidFill>
                <a:latin typeface="Courier New"/>
                <a:cs typeface="Courier New"/>
              </a:rPr>
              <a:t>&lt;/a&gt;</a:t>
            </a:r>
            <a:r>
              <a:rPr spc="-20" dirty="0">
                <a:solidFill>
                  <a:srgbClr val="002D5F"/>
                </a:solidFill>
                <a:latin typeface="Courier New"/>
                <a:cs typeface="Courier New"/>
              </a:rPr>
              <a:t>&lt;/font&gt;&lt;/strong&gt;</a:t>
            </a:r>
            <a:endParaRPr dirty="0">
              <a:latin typeface="Courier New"/>
              <a:cs typeface="Courier New"/>
            </a:endParaRPr>
          </a:p>
        </p:txBody>
      </p:sp>
      <p:sp>
        <p:nvSpPr>
          <p:cNvPr id="7" name="TextBox 6">
            <a:extLst>
              <a:ext uri="{FF2B5EF4-FFF2-40B4-BE49-F238E27FC236}">
                <a16:creationId xmlns:a16="http://schemas.microsoft.com/office/drawing/2014/main" id="{3DF94FCC-7B34-8B8C-A932-45733DAFD878}"/>
              </a:ext>
            </a:extLst>
          </p:cNvPr>
          <p:cNvSpPr txBox="1"/>
          <p:nvPr/>
        </p:nvSpPr>
        <p:spPr>
          <a:xfrm>
            <a:off x="1455417" y="2986199"/>
            <a:ext cx="21765529" cy="105955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5400" marR="220978">
              <a:lnSpc>
                <a:spcPts val="6160"/>
              </a:lnSpc>
              <a:spcBef>
                <a:spcPts val="830"/>
              </a:spcBef>
            </a:pPr>
            <a:r>
              <a:rPr lang="en-GB" dirty="0"/>
              <a:t>We can also specify</a:t>
            </a:r>
            <a:r>
              <a:rPr lang="en-GB" spc="70" dirty="0"/>
              <a:t> </a:t>
            </a:r>
            <a:r>
              <a:rPr lang="en-GB" b="1" dirty="0">
                <a:cs typeface="Calibri"/>
              </a:rPr>
              <a:t>where</a:t>
            </a:r>
            <a:r>
              <a:rPr lang="en-GB" b="1" spc="50" dirty="0"/>
              <a:t> </a:t>
            </a:r>
            <a:r>
              <a:rPr lang="en-GB" dirty="0"/>
              <a:t>the</a:t>
            </a:r>
            <a:r>
              <a:rPr lang="en-GB" spc="70" dirty="0"/>
              <a:t> </a:t>
            </a:r>
            <a:r>
              <a:rPr lang="en-GB" dirty="0"/>
              <a:t>tag</a:t>
            </a:r>
            <a:r>
              <a:rPr lang="en-GB" spc="80" dirty="0"/>
              <a:t> </a:t>
            </a:r>
            <a:r>
              <a:rPr lang="en-GB" dirty="0"/>
              <a:t>is</a:t>
            </a:r>
            <a:r>
              <a:rPr lang="en-GB" spc="70" dirty="0"/>
              <a:t> </a:t>
            </a:r>
            <a:r>
              <a:rPr lang="en-GB" spc="-20" dirty="0"/>
              <a:t>relative </a:t>
            </a:r>
            <a:r>
              <a:rPr lang="en-GB" dirty="0"/>
              <a:t>to</a:t>
            </a:r>
            <a:r>
              <a:rPr lang="en-GB" spc="40" dirty="0"/>
              <a:t> </a:t>
            </a:r>
            <a:r>
              <a:rPr lang="en-GB" dirty="0"/>
              <a:t>another</a:t>
            </a:r>
            <a:r>
              <a:rPr lang="en-GB" spc="160" dirty="0"/>
              <a:t> </a:t>
            </a:r>
            <a:r>
              <a:rPr lang="en-GB" dirty="0"/>
              <a:t>tag by</a:t>
            </a:r>
            <a:r>
              <a:rPr lang="en-GB" spc="30" dirty="0"/>
              <a:t> </a:t>
            </a:r>
            <a:r>
              <a:rPr lang="en-GB" dirty="0"/>
              <a:t>adding</a:t>
            </a:r>
            <a:r>
              <a:rPr lang="en-GB" spc="70" dirty="0"/>
              <a:t> </a:t>
            </a:r>
            <a:r>
              <a:rPr lang="en-GB" dirty="0"/>
              <a:t>the</a:t>
            </a:r>
            <a:r>
              <a:rPr lang="en-GB" spc="80" dirty="0"/>
              <a:t> </a:t>
            </a:r>
            <a:r>
              <a:rPr lang="en-GB" dirty="0"/>
              <a:t>tag</a:t>
            </a:r>
            <a:r>
              <a:rPr lang="en-GB" spc="80" dirty="0"/>
              <a:t> </a:t>
            </a:r>
            <a:r>
              <a:rPr lang="en-GB" dirty="0"/>
              <a:t>it</a:t>
            </a:r>
            <a:r>
              <a:rPr lang="en-GB" spc="90" dirty="0"/>
              <a:t> </a:t>
            </a:r>
            <a:r>
              <a:rPr lang="en-GB" dirty="0"/>
              <a:t>is</a:t>
            </a:r>
            <a:r>
              <a:rPr lang="en-GB" spc="220" dirty="0"/>
              <a:t> </a:t>
            </a:r>
            <a:r>
              <a:rPr lang="en-GB" dirty="0"/>
              <a:t>nested</a:t>
            </a:r>
            <a:r>
              <a:rPr lang="en-GB" spc="60" dirty="0"/>
              <a:t> within</a:t>
            </a:r>
            <a:r>
              <a:rPr lang="en-GB" spc="-20" dirty="0"/>
              <a:t>.</a:t>
            </a:r>
          </a:p>
          <a:p>
            <a:pPr marL="25400" marR="220978">
              <a:lnSpc>
                <a:spcPts val="6160"/>
              </a:lnSpc>
              <a:spcBef>
                <a:spcPts val="830"/>
              </a:spcBef>
            </a:pPr>
            <a:endParaRPr lang="en-GB" spc="-20" dirty="0"/>
          </a:p>
          <a:p>
            <a:pPr marL="25400" marR="220978">
              <a:lnSpc>
                <a:spcPts val="6160"/>
              </a:lnSpc>
              <a:spcBef>
                <a:spcPts val="830"/>
              </a:spcBef>
            </a:pPr>
            <a:endParaRPr lang="en-GB" spc="-20" dirty="0"/>
          </a:p>
          <a:p>
            <a:pPr marL="25400" marR="220978">
              <a:lnSpc>
                <a:spcPts val="6160"/>
              </a:lnSpc>
              <a:spcBef>
                <a:spcPts val="830"/>
              </a:spcBef>
            </a:pPr>
            <a:endParaRPr lang="en-GB" spc="-20" dirty="0"/>
          </a:p>
          <a:p>
            <a:pPr marL="25400" marR="220978">
              <a:lnSpc>
                <a:spcPts val="6160"/>
              </a:lnSpc>
              <a:spcBef>
                <a:spcPts val="830"/>
              </a:spcBef>
            </a:pPr>
            <a:r>
              <a:rPr lang="en-GB" spc="-20" dirty="0" err="1"/>
              <a:t>Css</a:t>
            </a:r>
            <a:r>
              <a:rPr lang="en-GB" spc="-20" dirty="0"/>
              <a:t> selector </a:t>
            </a:r>
            <a:r>
              <a:rPr lang="en-GB" sz="5500" spc="-20" dirty="0">
                <a:solidFill>
                  <a:srgbClr val="002D5F"/>
                </a:solidFill>
                <a:latin typeface="Courier New"/>
                <a:cs typeface="Courier New"/>
              </a:rPr>
              <a:t>strong</a:t>
            </a:r>
            <a:r>
              <a:rPr lang="en-GB" spc="80" dirty="0">
                <a:cs typeface="Courier New"/>
              </a:rPr>
              <a:t> </a:t>
            </a:r>
            <a:r>
              <a:rPr lang="en-GB" sz="5500" spc="-20" dirty="0">
                <a:solidFill>
                  <a:srgbClr val="002D5F"/>
                </a:solidFill>
                <a:latin typeface="Courier New"/>
                <a:cs typeface="Courier New"/>
              </a:rPr>
              <a:t>a</a:t>
            </a:r>
            <a:r>
              <a:rPr lang="en-GB" spc="260" dirty="0">
                <a:cs typeface="Courier New"/>
              </a:rPr>
              <a:t> </a:t>
            </a:r>
            <a:r>
              <a:rPr lang="en-GB" spc="-20" dirty="0"/>
              <a:t>will select elements in </a:t>
            </a:r>
          </a:p>
          <a:p>
            <a:pPr marL="25400" marR="220978">
              <a:lnSpc>
                <a:spcPts val="6160"/>
              </a:lnSpc>
              <a:spcBef>
                <a:spcPts val="830"/>
              </a:spcBef>
            </a:pPr>
            <a:r>
              <a:rPr lang="en-GB" spc="-20" dirty="0"/>
              <a:t>tag &lt;a&gt; &lt;/a&gt;nested within &lt;strong&gt;&lt;/strong&gt;</a:t>
            </a:r>
          </a:p>
          <a:p>
            <a:pPr marL="25400" marR="220978">
              <a:lnSpc>
                <a:spcPts val="6160"/>
              </a:lnSpc>
              <a:spcBef>
                <a:spcPts val="830"/>
              </a:spcBef>
            </a:pPr>
            <a:r>
              <a:rPr lang="en-US" dirty="0"/>
              <a:t>It returns:</a:t>
            </a:r>
          </a:p>
          <a:p>
            <a:pPr marL="25400" marR="220978">
              <a:lnSpc>
                <a:spcPts val="6160"/>
              </a:lnSpc>
              <a:spcBef>
                <a:spcPts val="830"/>
              </a:spcBef>
            </a:pPr>
            <a:endParaRPr lang="en-US" dirty="0"/>
          </a:p>
          <a:p>
            <a:pPr marL="25400" marR="220978">
              <a:lnSpc>
                <a:spcPts val="6160"/>
              </a:lnSpc>
              <a:spcBef>
                <a:spcPts val="830"/>
              </a:spcBef>
            </a:pPr>
            <a:r>
              <a:rPr lang="en-US" dirty="0"/>
              <a:t>here</a:t>
            </a:r>
          </a:p>
          <a:p>
            <a:pPr marL="25400" marR="220978">
              <a:lnSpc>
                <a:spcPts val="6160"/>
              </a:lnSpc>
              <a:spcBef>
                <a:spcPts val="830"/>
              </a:spcBef>
            </a:pPr>
            <a:r>
              <a:rPr lang="en-US" dirty="0"/>
              <a:t>there</a:t>
            </a:r>
          </a:p>
          <a:p>
            <a:pPr marL="25400" marR="220978">
              <a:lnSpc>
                <a:spcPts val="6160"/>
              </a:lnSpc>
              <a:spcBef>
                <a:spcPts val="830"/>
              </a:spcBef>
            </a:pPr>
            <a:endParaRPr lang="en-GB" spc="-20" dirty="0"/>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407293" y="4327491"/>
            <a:ext cx="21024850" cy="8054769"/>
          </a:xfrm>
          <a:prstGeom prst="rect">
            <a:avLst/>
          </a:prstGeom>
        </p:spPr>
        <p:txBody>
          <a:bodyPr vert="horz" wrap="square" lIns="0" tIns="33020" rIns="0" bIns="0" rtlCol="0">
            <a:spAutoFit/>
          </a:bodyPr>
          <a:lstStyle/>
          <a:p>
            <a:pPr marL="25400">
              <a:lnSpc>
                <a:spcPct val="100000"/>
              </a:lnSpc>
              <a:spcBef>
                <a:spcPts val="260"/>
              </a:spcBef>
            </a:pPr>
            <a:r>
              <a:rPr sz="5500" dirty="0">
                <a:solidFill>
                  <a:srgbClr val="002D5F"/>
                </a:solidFill>
                <a:latin typeface="Calibri"/>
                <a:cs typeface="Calibri"/>
              </a:rPr>
              <a:t>We</a:t>
            </a:r>
            <a:r>
              <a:rPr sz="5500" spc="60" dirty="0">
                <a:solidFill>
                  <a:srgbClr val="002D5F"/>
                </a:solidFill>
                <a:latin typeface="Calibri"/>
                <a:cs typeface="Calibri"/>
              </a:rPr>
              <a:t> </a:t>
            </a:r>
            <a:r>
              <a:rPr sz="5500" dirty="0">
                <a:solidFill>
                  <a:srgbClr val="002D5F"/>
                </a:solidFill>
                <a:latin typeface="Calibri"/>
                <a:cs typeface="Calibri"/>
              </a:rPr>
              <a:t>can</a:t>
            </a:r>
            <a:r>
              <a:rPr sz="5500" spc="50" dirty="0">
                <a:solidFill>
                  <a:srgbClr val="002D5F"/>
                </a:solidFill>
                <a:latin typeface="Calibri"/>
                <a:cs typeface="Calibri"/>
              </a:rPr>
              <a:t> </a:t>
            </a:r>
            <a:r>
              <a:rPr sz="5500" dirty="0">
                <a:solidFill>
                  <a:srgbClr val="002D5F"/>
                </a:solidFill>
                <a:latin typeface="Calibri"/>
                <a:cs typeface="Calibri"/>
              </a:rPr>
              <a:t>repeat</a:t>
            </a:r>
            <a:r>
              <a:rPr sz="5500" spc="70" dirty="0">
                <a:solidFill>
                  <a:srgbClr val="002D5F"/>
                </a:solidFill>
                <a:latin typeface="Calibri"/>
                <a:cs typeface="Calibri"/>
              </a:rPr>
              <a:t> </a:t>
            </a:r>
            <a:r>
              <a:rPr sz="5500" dirty="0">
                <a:solidFill>
                  <a:srgbClr val="002D5F"/>
                </a:solidFill>
                <a:latin typeface="Calibri"/>
                <a:cs typeface="Calibri"/>
              </a:rPr>
              <a:t>this</a:t>
            </a:r>
            <a:r>
              <a:rPr sz="5500" spc="50" dirty="0">
                <a:solidFill>
                  <a:srgbClr val="002D5F"/>
                </a:solidFill>
                <a:latin typeface="Calibri"/>
                <a:cs typeface="Calibri"/>
              </a:rPr>
              <a:t> </a:t>
            </a:r>
            <a:r>
              <a:rPr sz="5500" spc="-20" dirty="0">
                <a:solidFill>
                  <a:srgbClr val="002D5F"/>
                </a:solidFill>
                <a:latin typeface="Calibri"/>
                <a:cs typeface="Calibri"/>
              </a:rPr>
              <a:t>process…</a:t>
            </a:r>
            <a:endParaRPr lang="en-GB" sz="5500" spc="-20" dirty="0">
              <a:latin typeface="Calibri"/>
              <a:cs typeface="Calibri"/>
            </a:endParaRPr>
          </a:p>
          <a:p>
            <a:pPr marL="25400">
              <a:lnSpc>
                <a:spcPct val="100000"/>
              </a:lnSpc>
              <a:spcBef>
                <a:spcPts val="260"/>
              </a:spcBef>
            </a:pPr>
            <a:r>
              <a:rPr lang="en-GB" sz="5500" spc="-20" dirty="0">
                <a:solidFill>
                  <a:srgbClr val="002D5F"/>
                </a:solidFill>
                <a:latin typeface="Calibri"/>
                <a:cs typeface="Calibri"/>
              </a:rPr>
              <a:t>	</a:t>
            </a:r>
          </a:p>
          <a:p>
            <a:pPr marL="25400">
              <a:lnSpc>
                <a:spcPct val="100000"/>
              </a:lnSpc>
              <a:spcBef>
                <a:spcPts val="260"/>
              </a:spcBef>
            </a:pPr>
            <a:r>
              <a:rPr lang="en-GB" sz="5500" spc="-20" dirty="0">
                <a:solidFill>
                  <a:srgbClr val="002D5F"/>
                </a:solidFill>
                <a:latin typeface="Calibri"/>
                <a:cs typeface="Calibri"/>
              </a:rPr>
              <a:t>	</a:t>
            </a:r>
            <a:r>
              <a:rPr sz="5500" dirty="0">
                <a:solidFill>
                  <a:srgbClr val="002D5F"/>
                </a:solidFill>
                <a:latin typeface="Courier New"/>
                <a:cs typeface="Courier New"/>
              </a:rPr>
              <a:t>div</a:t>
            </a:r>
            <a:r>
              <a:rPr sz="5500" spc="320" dirty="0">
                <a:solidFill>
                  <a:srgbClr val="002D5F"/>
                </a:solidFill>
                <a:latin typeface="Courier New"/>
                <a:cs typeface="Courier New"/>
              </a:rPr>
              <a:t> </a:t>
            </a:r>
            <a:r>
              <a:rPr sz="5500" dirty="0" err="1">
                <a:solidFill>
                  <a:srgbClr val="002D5F"/>
                </a:solidFill>
                <a:latin typeface="Courier New"/>
                <a:cs typeface="Courier New"/>
              </a:rPr>
              <a:t>strong.test</a:t>
            </a:r>
            <a:r>
              <a:rPr sz="5500" spc="450" dirty="0">
                <a:solidFill>
                  <a:srgbClr val="002D5F"/>
                </a:solidFill>
                <a:latin typeface="Courier New"/>
                <a:cs typeface="Courier New"/>
              </a:rPr>
              <a:t> </a:t>
            </a:r>
            <a:r>
              <a:rPr sz="5500" spc="-100" dirty="0">
                <a:solidFill>
                  <a:srgbClr val="002D5F"/>
                </a:solidFill>
                <a:latin typeface="Courier New"/>
                <a:cs typeface="Courier New"/>
              </a:rPr>
              <a:t>a</a:t>
            </a:r>
            <a:endParaRPr sz="5500" dirty="0">
              <a:latin typeface="Courier New"/>
              <a:cs typeface="Courier New"/>
            </a:endParaRPr>
          </a:p>
          <a:p>
            <a:pPr marL="25400" marR="10160">
              <a:lnSpc>
                <a:spcPts val="6020"/>
              </a:lnSpc>
            </a:pPr>
            <a:r>
              <a:rPr sz="5500" dirty="0">
                <a:solidFill>
                  <a:srgbClr val="002D5F"/>
                </a:solidFill>
                <a:latin typeface="Calibri"/>
                <a:cs typeface="Calibri"/>
              </a:rPr>
              <a:t>selects</a:t>
            </a:r>
            <a:r>
              <a:rPr sz="5500" spc="70" dirty="0">
                <a:solidFill>
                  <a:srgbClr val="002D5F"/>
                </a:solidFill>
                <a:latin typeface="Calibri"/>
                <a:cs typeface="Calibri"/>
              </a:rPr>
              <a:t> </a:t>
            </a:r>
            <a:r>
              <a:rPr sz="5500" dirty="0">
                <a:solidFill>
                  <a:srgbClr val="002D5F"/>
                </a:solidFill>
                <a:latin typeface="Calibri"/>
                <a:cs typeface="Calibri"/>
              </a:rPr>
              <a:t>any</a:t>
            </a:r>
            <a:r>
              <a:rPr sz="5500" spc="190" dirty="0">
                <a:solidFill>
                  <a:srgbClr val="002D5F"/>
                </a:solidFill>
                <a:latin typeface="Calibri"/>
                <a:cs typeface="Calibri"/>
              </a:rPr>
              <a:t> </a:t>
            </a:r>
            <a:r>
              <a:rPr sz="5500" dirty="0">
                <a:solidFill>
                  <a:srgbClr val="002D5F"/>
                </a:solidFill>
                <a:latin typeface="Calibri"/>
                <a:cs typeface="Calibri"/>
              </a:rPr>
              <a:t>&lt;a&gt;</a:t>
            </a:r>
            <a:r>
              <a:rPr sz="5500" spc="90" dirty="0">
                <a:solidFill>
                  <a:srgbClr val="002D5F"/>
                </a:solidFill>
                <a:latin typeface="Calibri"/>
                <a:cs typeface="Calibri"/>
              </a:rPr>
              <a:t> </a:t>
            </a:r>
            <a:r>
              <a:rPr sz="5500" dirty="0">
                <a:solidFill>
                  <a:srgbClr val="002D5F"/>
                </a:solidFill>
                <a:latin typeface="Calibri"/>
                <a:cs typeface="Calibri"/>
              </a:rPr>
              <a:t>that</a:t>
            </a:r>
            <a:r>
              <a:rPr sz="5500" spc="100" dirty="0">
                <a:solidFill>
                  <a:srgbClr val="002D5F"/>
                </a:solidFill>
                <a:latin typeface="Calibri"/>
                <a:cs typeface="Calibri"/>
              </a:rPr>
              <a:t> </a:t>
            </a:r>
            <a:r>
              <a:rPr sz="5500" dirty="0">
                <a:solidFill>
                  <a:srgbClr val="002D5F"/>
                </a:solidFill>
                <a:latin typeface="Calibri"/>
                <a:cs typeface="Calibri"/>
              </a:rPr>
              <a:t>is</a:t>
            </a:r>
            <a:r>
              <a:rPr sz="5500" spc="90" dirty="0">
                <a:solidFill>
                  <a:srgbClr val="002D5F"/>
                </a:solidFill>
                <a:latin typeface="Calibri"/>
                <a:cs typeface="Calibri"/>
              </a:rPr>
              <a:t> </a:t>
            </a:r>
            <a:r>
              <a:rPr sz="5500" dirty="0">
                <a:solidFill>
                  <a:srgbClr val="002D5F"/>
                </a:solidFill>
                <a:latin typeface="Calibri"/>
                <a:cs typeface="Calibri"/>
              </a:rPr>
              <a:t>inside</a:t>
            </a:r>
            <a:r>
              <a:rPr sz="5500" spc="90" dirty="0">
                <a:solidFill>
                  <a:srgbClr val="002D5F"/>
                </a:solidFill>
                <a:latin typeface="Calibri"/>
                <a:cs typeface="Calibri"/>
              </a:rPr>
              <a:t> </a:t>
            </a:r>
            <a:r>
              <a:rPr sz="5500" dirty="0">
                <a:solidFill>
                  <a:srgbClr val="002D5F"/>
                </a:solidFill>
                <a:latin typeface="Calibri"/>
                <a:cs typeface="Calibri"/>
              </a:rPr>
              <a:t>&lt;</a:t>
            </a:r>
            <a:r>
              <a:rPr sz="5500" dirty="0" err="1">
                <a:solidFill>
                  <a:srgbClr val="002D5F"/>
                </a:solidFill>
                <a:latin typeface="Calibri"/>
                <a:cs typeface="Calibri"/>
              </a:rPr>
              <a:t>st</a:t>
            </a:r>
            <a:r>
              <a:rPr lang="en-GB" sz="5500" dirty="0">
                <a:solidFill>
                  <a:srgbClr val="002D5F"/>
                </a:solidFill>
                <a:latin typeface="Calibri"/>
                <a:cs typeface="Calibri"/>
              </a:rPr>
              <a:t>r</a:t>
            </a:r>
            <a:r>
              <a:rPr sz="5500" dirty="0" err="1">
                <a:solidFill>
                  <a:srgbClr val="002D5F"/>
                </a:solidFill>
                <a:latin typeface="Calibri"/>
                <a:cs typeface="Calibri"/>
              </a:rPr>
              <a:t>ong</a:t>
            </a:r>
            <a:r>
              <a:rPr sz="5500" dirty="0">
                <a:solidFill>
                  <a:srgbClr val="002D5F"/>
                </a:solidFill>
                <a:latin typeface="Calibri"/>
                <a:cs typeface="Calibri"/>
              </a:rPr>
              <a:t>&gt;</a:t>
            </a:r>
            <a:r>
              <a:rPr sz="5500" spc="240" dirty="0">
                <a:solidFill>
                  <a:srgbClr val="002D5F"/>
                </a:solidFill>
                <a:latin typeface="Calibri"/>
                <a:cs typeface="Calibri"/>
              </a:rPr>
              <a:t> </a:t>
            </a:r>
            <a:r>
              <a:rPr sz="5500" dirty="0">
                <a:solidFill>
                  <a:srgbClr val="002D5F"/>
                </a:solidFill>
                <a:latin typeface="Calibri"/>
                <a:cs typeface="Calibri"/>
              </a:rPr>
              <a:t>with</a:t>
            </a:r>
            <a:r>
              <a:rPr sz="5500" spc="80" dirty="0">
                <a:solidFill>
                  <a:srgbClr val="002D5F"/>
                </a:solidFill>
                <a:latin typeface="Calibri"/>
                <a:cs typeface="Calibri"/>
              </a:rPr>
              <a:t> </a:t>
            </a:r>
            <a:r>
              <a:rPr sz="5500" dirty="0">
                <a:solidFill>
                  <a:srgbClr val="002D5F"/>
                </a:solidFill>
                <a:latin typeface="Calibri"/>
                <a:cs typeface="Calibri"/>
              </a:rPr>
              <a:t>the</a:t>
            </a:r>
            <a:r>
              <a:rPr sz="5500" spc="90" dirty="0">
                <a:solidFill>
                  <a:srgbClr val="002D5F"/>
                </a:solidFill>
                <a:latin typeface="Calibri"/>
                <a:cs typeface="Calibri"/>
              </a:rPr>
              <a:t> </a:t>
            </a:r>
            <a:r>
              <a:rPr sz="5500" dirty="0">
                <a:solidFill>
                  <a:srgbClr val="002D5F"/>
                </a:solidFill>
                <a:latin typeface="Calibri"/>
                <a:cs typeface="Calibri"/>
              </a:rPr>
              <a:t>class</a:t>
            </a:r>
            <a:r>
              <a:rPr lang="en-GB" sz="5500" spc="100" dirty="0">
                <a:solidFill>
                  <a:srgbClr val="002D5F"/>
                </a:solidFill>
                <a:latin typeface="Calibri"/>
                <a:cs typeface="Calibri"/>
              </a:rPr>
              <a:t>=“</a:t>
            </a:r>
            <a:r>
              <a:rPr sz="5500" i="1" dirty="0">
                <a:solidFill>
                  <a:srgbClr val="002D5F"/>
                </a:solidFill>
                <a:latin typeface="Calibri"/>
                <a:cs typeface="Calibri"/>
              </a:rPr>
              <a:t>test</a:t>
            </a:r>
            <a:r>
              <a:rPr lang="en-GB" sz="5500" i="1" dirty="0">
                <a:solidFill>
                  <a:srgbClr val="002D5F"/>
                </a:solidFill>
                <a:latin typeface="Calibri"/>
                <a:cs typeface="Calibri"/>
              </a:rPr>
              <a:t>"</a:t>
            </a:r>
            <a:r>
              <a:rPr sz="5500" spc="-50" dirty="0">
                <a:solidFill>
                  <a:srgbClr val="002D5F"/>
                </a:solidFill>
                <a:latin typeface="Calibri"/>
                <a:cs typeface="Calibri"/>
              </a:rPr>
              <a:t> </a:t>
            </a:r>
            <a:r>
              <a:rPr sz="5500" dirty="0">
                <a:solidFill>
                  <a:srgbClr val="002D5F"/>
                </a:solidFill>
                <a:latin typeface="Calibri"/>
                <a:cs typeface="Calibri"/>
              </a:rPr>
              <a:t>inside</a:t>
            </a:r>
            <a:r>
              <a:rPr sz="5500" spc="190" dirty="0">
                <a:solidFill>
                  <a:srgbClr val="002D5F"/>
                </a:solidFill>
                <a:latin typeface="Calibri"/>
                <a:cs typeface="Calibri"/>
              </a:rPr>
              <a:t> </a:t>
            </a:r>
            <a:r>
              <a:rPr sz="5500" spc="-40" dirty="0">
                <a:solidFill>
                  <a:srgbClr val="002D5F"/>
                </a:solidFill>
                <a:latin typeface="Calibri"/>
                <a:cs typeface="Calibri"/>
              </a:rPr>
              <a:t>&lt;div&gt;</a:t>
            </a:r>
            <a:endParaRPr lang="en-GB" sz="5500" spc="-40" dirty="0">
              <a:solidFill>
                <a:srgbClr val="002D5F"/>
              </a:solidFill>
              <a:latin typeface="Calibri"/>
              <a:cs typeface="Calibri"/>
            </a:endParaRPr>
          </a:p>
          <a:p>
            <a:pPr marL="25400" marR="10160">
              <a:lnSpc>
                <a:spcPts val="6020"/>
              </a:lnSpc>
            </a:pPr>
            <a:r>
              <a:rPr lang="en-GB" sz="5500" dirty="0">
                <a:solidFill>
                  <a:srgbClr val="002D5F"/>
                </a:solidFill>
                <a:latin typeface="Courier New"/>
                <a:cs typeface="Courier New"/>
              </a:rPr>
              <a:t>	&lt;div&gt;&lt;strong class = “test”&gt;&lt;a&gt;</a:t>
            </a:r>
          </a:p>
          <a:p>
            <a:pPr marL="25400" marR="10160">
              <a:lnSpc>
                <a:spcPts val="6020"/>
              </a:lnSpc>
            </a:pPr>
            <a:r>
              <a:rPr lang="en-GB" sz="5500" dirty="0">
                <a:solidFill>
                  <a:srgbClr val="002D5F"/>
                </a:solidFill>
                <a:latin typeface="Courier New"/>
                <a:cs typeface="Courier New"/>
              </a:rPr>
              <a:t>		</a:t>
            </a:r>
            <a:r>
              <a:rPr lang="en-GB" sz="5500" b="1" dirty="0">
                <a:solidFill>
                  <a:srgbClr val="002D5F"/>
                </a:solidFill>
                <a:latin typeface="Courier New"/>
                <a:cs typeface="Courier New"/>
              </a:rPr>
              <a:t>This is the text</a:t>
            </a:r>
          </a:p>
          <a:p>
            <a:pPr marL="25400" marR="10160">
              <a:lnSpc>
                <a:spcPts val="6020"/>
              </a:lnSpc>
            </a:pPr>
            <a:r>
              <a:rPr lang="en-GB" sz="5500" dirty="0">
                <a:solidFill>
                  <a:srgbClr val="002D5F"/>
                </a:solidFill>
                <a:latin typeface="Courier New"/>
                <a:cs typeface="Courier New"/>
              </a:rPr>
              <a:t>	&lt;/a&gt;&lt;/strong&gt;&lt;/div&gt;</a:t>
            </a:r>
            <a:endParaRPr sz="5500" dirty="0">
              <a:latin typeface="Calibri"/>
              <a:cs typeface="Calibri"/>
            </a:endParaRPr>
          </a:p>
        </p:txBody>
      </p:sp>
      <p:sp>
        <p:nvSpPr>
          <p:cNvPr id="6" name="object 3" descr="$PPTXTitle">
            <a:extLst>
              <a:ext uri="{FF2B5EF4-FFF2-40B4-BE49-F238E27FC236}">
                <a16:creationId xmlns:a16="http://schemas.microsoft.com/office/drawing/2014/main" id="{CF859B60-59AE-C02B-F701-41DE7F766953}"/>
              </a:ext>
            </a:extLst>
          </p:cNvPr>
          <p:cNvSpPr txBox="1">
            <a:spLocks/>
          </p:cNvSpPr>
          <p:nvPr/>
        </p:nvSpPr>
        <p:spPr>
          <a:xfrm>
            <a:off x="1206500" y="829727"/>
            <a:ext cx="21971000" cy="12644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33020" rIns="0" bIns="0" rtlCol="0">
            <a:sp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marL="25400" hangingPunct="1">
              <a:lnSpc>
                <a:spcPct val="100000"/>
              </a:lnSpc>
              <a:spcBef>
                <a:spcPts val="260"/>
              </a:spcBef>
            </a:pPr>
            <a:r>
              <a:rPr lang="en-GB" spc="-20"/>
              <a:t>CSS Selector Basics</a:t>
            </a:r>
            <a:endParaRPr lang="en-GB" spc="-20" dirty="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54B19-8845-0926-76F3-B8797C935C42}"/>
            </a:ext>
          </a:extLst>
        </p:cNvPr>
        <p:cNvGrpSpPr/>
        <p:nvPr/>
      </p:nvGrpSpPr>
      <p:grpSpPr>
        <a:xfrm>
          <a:off x="0" y="0"/>
          <a:ext cx="0" cy="0"/>
          <a:chOff x="0" y="0"/>
          <a:chExt cx="0" cy="0"/>
        </a:xfrm>
      </p:grpSpPr>
      <p:sp>
        <p:nvSpPr>
          <p:cNvPr id="3" name="object 3" descr="$PPTXTitle">
            <a:extLst>
              <a:ext uri="{FF2B5EF4-FFF2-40B4-BE49-F238E27FC236}">
                <a16:creationId xmlns:a16="http://schemas.microsoft.com/office/drawing/2014/main" id="{008F7016-BD95-03FB-8A87-DD68A5D5ED81}"/>
              </a:ext>
            </a:extLst>
          </p:cNvPr>
          <p:cNvSpPr txBox="1">
            <a:spLocks noGrp="1"/>
          </p:cNvSpPr>
          <p:nvPr>
            <p:ph type="title"/>
          </p:nvPr>
        </p:nvSpPr>
        <p:spPr>
          <a:xfrm>
            <a:off x="1206500" y="4717409"/>
            <a:ext cx="21971000" cy="6188874"/>
          </a:xfrm>
          <a:prstGeom prst="rect">
            <a:avLst/>
          </a:prstGeom>
        </p:spPr>
        <p:txBody>
          <a:bodyPr vert="horz" wrap="square" lIns="0" tIns="33020" rIns="0" bIns="0" rtlCol="0">
            <a:spAutoFit/>
          </a:bodyPr>
          <a:lstStyle/>
          <a:p>
            <a:pPr marL="25400">
              <a:lnSpc>
                <a:spcPct val="100000"/>
              </a:lnSpc>
              <a:spcBef>
                <a:spcPts val="260"/>
              </a:spcBef>
            </a:pPr>
            <a:br>
              <a:rPr lang="en-GB" sz="4000" b="0" spc="80" dirty="0">
                <a:solidFill>
                  <a:srgbClr val="002D5F"/>
                </a:solidFill>
                <a:latin typeface="+mn-lt"/>
                <a:ea typeface="+mn-ea"/>
                <a:cs typeface="Calibri"/>
                <a:sym typeface="Helvetica Neue"/>
              </a:rPr>
            </a:br>
            <a:r>
              <a:rPr lang="en-GB" sz="4000" b="0" dirty="0">
                <a:solidFill>
                  <a:srgbClr val="002D5F"/>
                </a:solidFill>
                <a:latin typeface="Courier New"/>
                <a:ea typeface="+mn-ea"/>
                <a:cs typeface="Courier New"/>
                <a:sym typeface="Helvetica Neue"/>
              </a:rPr>
              <a:t>&lt;table id="price"&gt;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&lt;tr&gt;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&lt;td&gt;1&lt;/td&gt;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&lt;td&gt; &lt;a class=“title”&gt; Website: &lt;a/&gt;&lt;/td&gt;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&lt;td&gt;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&lt;a class=”title” </a:t>
            </a:r>
            <a:r>
              <a:rPr lang="en-GB" sz="4000" b="0" dirty="0" err="1">
                <a:solidFill>
                  <a:srgbClr val="002D5F"/>
                </a:solidFill>
                <a:latin typeface="Courier New"/>
                <a:ea typeface="+mn-ea"/>
                <a:cs typeface="Courier New"/>
                <a:sym typeface="Helvetica Neue"/>
              </a:rPr>
              <a:t>href</a:t>
            </a:r>
            <a:r>
              <a:rPr lang="en-GB" sz="4000" b="0" dirty="0">
                <a:solidFill>
                  <a:srgbClr val="002D5F"/>
                </a:solidFill>
                <a:latin typeface="Courier New"/>
                <a:ea typeface="+mn-ea"/>
                <a:cs typeface="Courier New"/>
                <a:sym typeface="Helvetica Neue"/>
              </a:rPr>
              <a:t>="https://</a:t>
            </a:r>
            <a:r>
              <a:rPr lang="en-GB" sz="4000" b="0" dirty="0" err="1">
                <a:solidFill>
                  <a:srgbClr val="002D5F"/>
                </a:solidFill>
                <a:latin typeface="Courier New"/>
                <a:ea typeface="+mn-ea"/>
                <a:cs typeface="Courier New"/>
                <a:sym typeface="Helvetica Neue"/>
              </a:rPr>
              <a:t>google.com</a:t>
            </a:r>
            <a:r>
              <a:rPr lang="en-GB" sz="4000" b="0" dirty="0">
                <a:solidFill>
                  <a:srgbClr val="002D5F"/>
                </a:solidFill>
                <a:latin typeface="Courier New"/>
                <a:ea typeface="+mn-ea"/>
                <a:cs typeface="Courier New"/>
                <a:sym typeface="Helvetica Neue"/>
              </a:rPr>
              <a:t>"&gt;</a:t>
            </a:r>
            <a:r>
              <a:rPr lang="en-GB" sz="4000" dirty="0">
                <a:solidFill>
                  <a:srgbClr val="002D5F"/>
                </a:solidFill>
                <a:latin typeface="Courier New"/>
                <a:ea typeface="+mn-ea"/>
                <a:cs typeface="Courier New"/>
                <a:sym typeface="Helvetica Neue"/>
              </a:rPr>
              <a:t>Google</a:t>
            </a:r>
            <a:r>
              <a:rPr lang="en-GB" sz="4000" b="0" dirty="0">
                <a:solidFill>
                  <a:srgbClr val="002D5F"/>
                </a:solidFill>
                <a:latin typeface="Courier New"/>
                <a:ea typeface="+mn-ea"/>
                <a:cs typeface="Courier New"/>
                <a:sym typeface="Helvetica Neue"/>
              </a:rPr>
              <a:t>&lt;/a&gt;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&lt;/td&gt;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&lt;/tr&gt;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&lt;/table&gt;</a:t>
            </a:r>
            <a:endParaRPr sz="5500" b="0" dirty="0">
              <a:solidFill>
                <a:srgbClr val="002D5F"/>
              </a:solidFill>
              <a:latin typeface="Courier New"/>
              <a:ea typeface="+mn-ea"/>
              <a:cs typeface="Courier New"/>
              <a:sym typeface="Helvetica Neue"/>
            </a:endParaRPr>
          </a:p>
        </p:txBody>
      </p:sp>
      <p:sp>
        <p:nvSpPr>
          <p:cNvPr id="7" name="object 3" descr="$PPTXTitle">
            <a:extLst>
              <a:ext uri="{FF2B5EF4-FFF2-40B4-BE49-F238E27FC236}">
                <a16:creationId xmlns:a16="http://schemas.microsoft.com/office/drawing/2014/main" id="{28970C3B-8F76-B675-5AAF-113189ADB8B0}"/>
              </a:ext>
            </a:extLst>
          </p:cNvPr>
          <p:cNvSpPr txBox="1">
            <a:spLocks/>
          </p:cNvSpPr>
          <p:nvPr/>
        </p:nvSpPr>
        <p:spPr>
          <a:xfrm>
            <a:off x="1206500" y="829727"/>
            <a:ext cx="21971000" cy="12644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33020" rIns="0" bIns="0" rtlCol="0">
            <a:sp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marL="25400" hangingPunct="1">
              <a:lnSpc>
                <a:spcPct val="100000"/>
              </a:lnSpc>
              <a:spcBef>
                <a:spcPts val="260"/>
              </a:spcBef>
            </a:pPr>
            <a:r>
              <a:rPr lang="en-GB" spc="-20" dirty="0"/>
              <a:t>Exercise</a:t>
            </a:r>
          </a:p>
        </p:txBody>
      </p:sp>
      <p:sp>
        <p:nvSpPr>
          <p:cNvPr id="4" name="TextBox 3">
            <a:extLst>
              <a:ext uri="{FF2B5EF4-FFF2-40B4-BE49-F238E27FC236}">
                <a16:creationId xmlns:a16="http://schemas.microsoft.com/office/drawing/2014/main" id="{5E426F0B-F008-0266-7A66-4F536271AF80}"/>
              </a:ext>
            </a:extLst>
          </p:cNvPr>
          <p:cNvSpPr txBox="1"/>
          <p:nvPr/>
        </p:nvSpPr>
        <p:spPr>
          <a:xfrm>
            <a:off x="1206500" y="3639983"/>
            <a:ext cx="12200020" cy="7571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4800" b="0" spc="80" dirty="0">
                <a:solidFill>
                  <a:srgbClr val="002D5F"/>
                </a:solidFill>
                <a:latin typeface="+mn-lt"/>
                <a:ea typeface="+mn-ea"/>
                <a:cs typeface="Calibri"/>
                <a:sym typeface="Helvetica Neue"/>
              </a:rPr>
              <a:t>How can we extract “Google”?</a:t>
            </a:r>
            <a:endParaRPr lang="en-US" dirty="0"/>
          </a:p>
        </p:txBody>
      </p:sp>
    </p:spTree>
    <p:extLst>
      <p:ext uri="{BB962C8B-B14F-4D97-AF65-F5344CB8AC3E}">
        <p14:creationId xmlns:p14="http://schemas.microsoft.com/office/powerpoint/2010/main" val="203877883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0DC59-CC47-0266-2DA1-52656D582453}"/>
            </a:ext>
          </a:extLst>
        </p:cNvPr>
        <p:cNvGrpSpPr/>
        <p:nvPr/>
      </p:nvGrpSpPr>
      <p:grpSpPr>
        <a:xfrm>
          <a:off x="0" y="0"/>
          <a:ext cx="0" cy="0"/>
          <a:chOff x="0" y="0"/>
          <a:chExt cx="0" cy="0"/>
        </a:xfrm>
      </p:grpSpPr>
      <p:sp>
        <p:nvSpPr>
          <p:cNvPr id="3" name="object 3" descr="$PPTXTitle">
            <a:extLst>
              <a:ext uri="{FF2B5EF4-FFF2-40B4-BE49-F238E27FC236}">
                <a16:creationId xmlns:a16="http://schemas.microsoft.com/office/drawing/2014/main" id="{CBFB0627-C278-AE02-919D-E204CCD7408A}"/>
              </a:ext>
            </a:extLst>
          </p:cNvPr>
          <p:cNvSpPr txBox="1">
            <a:spLocks noGrp="1"/>
          </p:cNvSpPr>
          <p:nvPr>
            <p:ph type="title"/>
          </p:nvPr>
        </p:nvSpPr>
        <p:spPr>
          <a:xfrm>
            <a:off x="1206500" y="4717409"/>
            <a:ext cx="21971000" cy="6188874"/>
          </a:xfrm>
          <a:prstGeom prst="rect">
            <a:avLst/>
          </a:prstGeom>
        </p:spPr>
        <p:txBody>
          <a:bodyPr vert="horz" wrap="square" lIns="0" tIns="33020" rIns="0" bIns="0" rtlCol="0">
            <a:spAutoFit/>
          </a:bodyPr>
          <a:lstStyle/>
          <a:p>
            <a:pPr marL="25400">
              <a:lnSpc>
                <a:spcPct val="100000"/>
              </a:lnSpc>
              <a:spcBef>
                <a:spcPts val="260"/>
              </a:spcBef>
            </a:pPr>
            <a:br>
              <a:rPr lang="en-GB" sz="4000" b="0" spc="80" dirty="0">
                <a:solidFill>
                  <a:srgbClr val="002D5F"/>
                </a:solidFill>
                <a:latin typeface="+mn-lt"/>
                <a:ea typeface="+mn-ea"/>
                <a:cs typeface="Calibri"/>
                <a:sym typeface="Helvetica Neue"/>
              </a:rPr>
            </a:br>
            <a:r>
              <a:rPr lang="en-GB" sz="4000" b="0" dirty="0">
                <a:solidFill>
                  <a:srgbClr val="002D5F"/>
                </a:solidFill>
                <a:latin typeface="Courier New"/>
                <a:ea typeface="+mn-ea"/>
                <a:cs typeface="Courier New"/>
                <a:sym typeface="Helvetica Neue"/>
              </a:rPr>
              <a:t>&lt;table id="price"&gt;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&lt;tr&gt;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&lt;td&gt;1&lt;/td&gt;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&lt;td&gt; &lt;a class=“title”&gt; Website: &lt;a/&gt;&lt;/td&gt;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&lt;td&gt;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&lt;a class=”title” </a:t>
            </a:r>
            <a:r>
              <a:rPr lang="en-GB" sz="4000" b="0" dirty="0" err="1">
                <a:solidFill>
                  <a:srgbClr val="002D5F"/>
                </a:solidFill>
                <a:latin typeface="Courier New"/>
                <a:ea typeface="+mn-ea"/>
                <a:cs typeface="Courier New"/>
                <a:sym typeface="Helvetica Neue"/>
              </a:rPr>
              <a:t>href</a:t>
            </a:r>
            <a:r>
              <a:rPr lang="en-GB" sz="4000" b="0" dirty="0">
                <a:solidFill>
                  <a:srgbClr val="002D5F"/>
                </a:solidFill>
                <a:latin typeface="Courier New"/>
                <a:ea typeface="+mn-ea"/>
                <a:cs typeface="Courier New"/>
                <a:sym typeface="Helvetica Neue"/>
              </a:rPr>
              <a:t>="https://</a:t>
            </a:r>
            <a:r>
              <a:rPr lang="en-GB" sz="4000" b="0" dirty="0" err="1">
                <a:solidFill>
                  <a:srgbClr val="002D5F"/>
                </a:solidFill>
                <a:latin typeface="Courier New"/>
                <a:ea typeface="+mn-ea"/>
                <a:cs typeface="Courier New"/>
                <a:sym typeface="Helvetica Neue"/>
              </a:rPr>
              <a:t>google.com</a:t>
            </a:r>
            <a:r>
              <a:rPr lang="en-GB" sz="4000" b="0" dirty="0">
                <a:solidFill>
                  <a:srgbClr val="002D5F"/>
                </a:solidFill>
                <a:latin typeface="Courier New"/>
                <a:ea typeface="+mn-ea"/>
                <a:cs typeface="Courier New"/>
                <a:sym typeface="Helvetica Neue"/>
              </a:rPr>
              <a:t>"&gt;</a:t>
            </a:r>
            <a:r>
              <a:rPr lang="en-GB" sz="4000" dirty="0">
                <a:solidFill>
                  <a:srgbClr val="002D5F"/>
                </a:solidFill>
                <a:latin typeface="Courier New"/>
                <a:ea typeface="+mn-ea"/>
                <a:cs typeface="Courier New"/>
                <a:sym typeface="Helvetica Neue"/>
              </a:rPr>
              <a:t>Google</a:t>
            </a:r>
            <a:r>
              <a:rPr lang="en-GB" sz="4000" b="0" dirty="0">
                <a:solidFill>
                  <a:srgbClr val="002D5F"/>
                </a:solidFill>
                <a:latin typeface="Courier New"/>
                <a:ea typeface="+mn-ea"/>
                <a:cs typeface="Courier New"/>
                <a:sym typeface="Helvetica Neue"/>
              </a:rPr>
              <a:t>&lt;/a&gt;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&lt;/td&gt;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  &lt;/tr&gt;</a:t>
            </a:r>
            <a:br>
              <a:rPr lang="en-GB" sz="4000" b="0" dirty="0">
                <a:solidFill>
                  <a:srgbClr val="002D5F"/>
                </a:solidFill>
                <a:latin typeface="Courier New"/>
                <a:ea typeface="+mn-ea"/>
                <a:cs typeface="Courier New"/>
                <a:sym typeface="Helvetica Neue"/>
              </a:rPr>
            </a:br>
            <a:r>
              <a:rPr lang="en-GB" sz="4000" b="0" dirty="0">
                <a:solidFill>
                  <a:srgbClr val="002D5F"/>
                </a:solidFill>
                <a:latin typeface="Courier New"/>
                <a:ea typeface="+mn-ea"/>
                <a:cs typeface="Courier New"/>
                <a:sym typeface="Helvetica Neue"/>
              </a:rPr>
              <a:t>&lt;/table&gt;</a:t>
            </a:r>
            <a:endParaRPr sz="5500" b="0" dirty="0">
              <a:solidFill>
                <a:srgbClr val="002D5F"/>
              </a:solidFill>
              <a:latin typeface="Courier New"/>
              <a:ea typeface="+mn-ea"/>
              <a:cs typeface="Courier New"/>
              <a:sym typeface="Helvetica Neue"/>
            </a:endParaRPr>
          </a:p>
        </p:txBody>
      </p:sp>
      <p:sp>
        <p:nvSpPr>
          <p:cNvPr id="7" name="object 3" descr="$PPTXTitle">
            <a:extLst>
              <a:ext uri="{FF2B5EF4-FFF2-40B4-BE49-F238E27FC236}">
                <a16:creationId xmlns:a16="http://schemas.microsoft.com/office/drawing/2014/main" id="{2950D966-73E0-7D78-7559-A7C34006384F}"/>
              </a:ext>
            </a:extLst>
          </p:cNvPr>
          <p:cNvSpPr txBox="1">
            <a:spLocks/>
          </p:cNvSpPr>
          <p:nvPr/>
        </p:nvSpPr>
        <p:spPr>
          <a:xfrm>
            <a:off x="1206500" y="829727"/>
            <a:ext cx="21971000" cy="12644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square" lIns="0" tIns="33020" rIns="0" bIns="0" rtlCol="0">
            <a:spAutoFit/>
          </a:bodyPr>
          <a:lstStyle>
            <a:lvl1pPr marL="0" marR="0" indent="0" algn="l" defTabSz="2438338" rtl="0" latinLnBrk="0">
              <a:lnSpc>
                <a:spcPct val="80000"/>
              </a:lnSpc>
              <a:spcBef>
                <a:spcPts val="0"/>
              </a:spcBef>
              <a:spcAft>
                <a:spcPts val="0"/>
              </a:spcAft>
              <a:buClrTx/>
              <a:buSzTx/>
              <a:buFontTx/>
              <a:buNone/>
              <a:tabLst/>
              <a:defRPr kumimoji="0" lang="en-GB" sz="8000" b="1" i="0" u="none" strike="noStrike" cap="none" spc="0" normalizeH="0" baseline="0" smtClean="0">
                <a:ln>
                  <a:noFill/>
                </a:ln>
                <a:solidFill>
                  <a:srgbClr val="0A1C3E"/>
                </a:solidFill>
                <a:effectLst/>
                <a:uFillTx/>
                <a:latin typeface="Helvetica"/>
                <a:ea typeface="Helvetica"/>
                <a:cs typeface="Helvetica"/>
                <a:sym typeface="Helvetica"/>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a:lstStyle>
          <a:p>
            <a:pPr marL="25400" hangingPunct="1">
              <a:lnSpc>
                <a:spcPct val="100000"/>
              </a:lnSpc>
              <a:spcBef>
                <a:spcPts val="260"/>
              </a:spcBef>
            </a:pPr>
            <a:r>
              <a:rPr lang="en-GB" spc="-20" dirty="0"/>
              <a:t>Exercise</a:t>
            </a:r>
          </a:p>
        </p:txBody>
      </p:sp>
      <p:sp>
        <p:nvSpPr>
          <p:cNvPr id="4" name="TextBox 3">
            <a:extLst>
              <a:ext uri="{FF2B5EF4-FFF2-40B4-BE49-F238E27FC236}">
                <a16:creationId xmlns:a16="http://schemas.microsoft.com/office/drawing/2014/main" id="{BCD217F2-8E42-3EC8-82B1-1574C7F369D7}"/>
              </a:ext>
            </a:extLst>
          </p:cNvPr>
          <p:cNvSpPr txBox="1"/>
          <p:nvPr/>
        </p:nvSpPr>
        <p:spPr>
          <a:xfrm>
            <a:off x="1206500" y="3639983"/>
            <a:ext cx="12200020" cy="7571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4800" b="0" spc="80" dirty="0">
                <a:solidFill>
                  <a:srgbClr val="002D5F"/>
                </a:solidFill>
                <a:latin typeface="+mn-lt"/>
                <a:ea typeface="+mn-ea"/>
                <a:cs typeface="Calibri"/>
                <a:sym typeface="Helvetica Neue"/>
              </a:rPr>
              <a:t>How can we extract “Google”?</a:t>
            </a:r>
            <a:endParaRPr lang="en-US" dirty="0"/>
          </a:p>
        </p:txBody>
      </p:sp>
      <p:sp>
        <p:nvSpPr>
          <p:cNvPr id="2" name="TextBox 1">
            <a:extLst>
              <a:ext uri="{FF2B5EF4-FFF2-40B4-BE49-F238E27FC236}">
                <a16:creationId xmlns:a16="http://schemas.microsoft.com/office/drawing/2014/main" id="{F740D13E-440C-885D-EA16-C3D65782B0A2}"/>
              </a:ext>
            </a:extLst>
          </p:cNvPr>
          <p:cNvSpPr txBox="1"/>
          <p:nvPr/>
        </p:nvSpPr>
        <p:spPr>
          <a:xfrm>
            <a:off x="1206500" y="11636972"/>
            <a:ext cx="19776574" cy="7571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4800" b="0" spc="80" dirty="0">
                <a:solidFill>
                  <a:srgbClr val="002D5F"/>
                </a:solidFill>
                <a:latin typeface="+mn-lt"/>
                <a:ea typeface="+mn-ea"/>
                <a:cs typeface="Calibri"/>
                <a:sym typeface="Helvetica Neue"/>
              </a:rPr>
              <a:t>Ans: </a:t>
            </a:r>
            <a:r>
              <a:rPr lang="en-GB" dirty="0" err="1"/>
              <a:t>a.title</a:t>
            </a:r>
            <a:r>
              <a:rPr lang="en-GB" dirty="0"/>
              <a:t>[</a:t>
            </a:r>
            <a:r>
              <a:rPr lang="en-GB" dirty="0" err="1"/>
              <a:t>href</a:t>
            </a:r>
            <a:r>
              <a:rPr lang="en-GB" dirty="0"/>
              <a:t>]</a:t>
            </a:r>
            <a:r>
              <a:rPr lang="en-US" dirty="0"/>
              <a:t> , </a:t>
            </a:r>
            <a:r>
              <a:rPr lang="en-GB" dirty="0"/>
              <a:t>#price </a:t>
            </a:r>
            <a:r>
              <a:rPr lang="en-GB" dirty="0" err="1"/>
              <a:t>a.title</a:t>
            </a:r>
            <a:r>
              <a:rPr lang="en-GB" dirty="0"/>
              <a:t>[</a:t>
            </a:r>
            <a:r>
              <a:rPr lang="en-GB" dirty="0" err="1"/>
              <a:t>href</a:t>
            </a:r>
            <a:r>
              <a:rPr lang="en-GB" dirty="0"/>
              <a:t>], </a:t>
            </a:r>
            <a:r>
              <a:rPr lang="en-US" dirty="0"/>
              <a:t>a[</a:t>
            </a:r>
            <a:r>
              <a:rPr lang="en-US" dirty="0" err="1"/>
              <a:t>href</a:t>
            </a:r>
            <a:r>
              <a:rPr lang="en-US" dirty="0"/>
              <a:t>="https://</a:t>
            </a:r>
            <a:r>
              <a:rPr lang="en-US" dirty="0" err="1"/>
              <a:t>google.com</a:t>
            </a:r>
            <a:r>
              <a:rPr lang="en-US" dirty="0"/>
              <a:t>"] </a:t>
            </a:r>
            <a:endParaRPr lang="en-GB" dirty="0"/>
          </a:p>
        </p:txBody>
      </p:sp>
    </p:spTree>
    <p:extLst>
      <p:ext uri="{BB962C8B-B14F-4D97-AF65-F5344CB8AC3E}">
        <p14:creationId xmlns:p14="http://schemas.microsoft.com/office/powerpoint/2010/main" val="6369372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00251" y="2772134"/>
            <a:ext cx="22009100" cy="5553826"/>
          </a:xfrm>
          <a:prstGeom prst="rect">
            <a:avLst/>
          </a:prstGeom>
        </p:spPr>
        <p:txBody>
          <a:bodyPr vert="horz" wrap="square" lIns="0" tIns="104138" rIns="0" bIns="0" rtlCol="0">
            <a:spAutoFit/>
          </a:bodyPr>
          <a:lstStyle/>
          <a:p>
            <a:pPr marL="25400" marR="10160">
              <a:lnSpc>
                <a:spcPts val="6160"/>
              </a:lnSpc>
              <a:spcBef>
                <a:spcPts val="818"/>
              </a:spcBef>
            </a:pPr>
            <a:r>
              <a:rPr sz="5500" dirty="0">
                <a:solidFill>
                  <a:srgbClr val="002D5F"/>
                </a:solidFill>
                <a:cs typeface="Calibri"/>
              </a:rPr>
              <a:t>You</a:t>
            </a:r>
            <a:r>
              <a:rPr sz="5500" spc="80" dirty="0">
                <a:solidFill>
                  <a:srgbClr val="002D5F"/>
                </a:solidFill>
                <a:cs typeface="Calibri"/>
              </a:rPr>
              <a:t> </a:t>
            </a:r>
            <a:r>
              <a:rPr sz="5500" dirty="0">
                <a:solidFill>
                  <a:srgbClr val="002D5F"/>
                </a:solidFill>
                <a:cs typeface="Calibri"/>
              </a:rPr>
              <a:t>can</a:t>
            </a:r>
            <a:r>
              <a:rPr sz="5500" spc="80" dirty="0">
                <a:solidFill>
                  <a:srgbClr val="002D5F"/>
                </a:solidFill>
                <a:cs typeface="Calibri"/>
              </a:rPr>
              <a:t> </a:t>
            </a:r>
            <a:r>
              <a:rPr sz="5500" dirty="0">
                <a:solidFill>
                  <a:srgbClr val="002D5F"/>
                </a:solidFill>
                <a:cs typeface="Calibri"/>
              </a:rPr>
              <a:t>get</a:t>
            </a:r>
            <a:r>
              <a:rPr sz="5500" spc="90" dirty="0">
                <a:solidFill>
                  <a:srgbClr val="002D5F"/>
                </a:solidFill>
                <a:cs typeface="Calibri"/>
              </a:rPr>
              <a:t> </a:t>
            </a:r>
            <a:r>
              <a:rPr sz="5500" dirty="0">
                <a:solidFill>
                  <a:srgbClr val="002D5F"/>
                </a:solidFill>
                <a:cs typeface="Calibri"/>
              </a:rPr>
              <a:t>away</a:t>
            </a:r>
            <a:r>
              <a:rPr sz="5500" spc="180" dirty="0">
                <a:solidFill>
                  <a:srgbClr val="002D5F"/>
                </a:solidFill>
                <a:cs typeface="Calibri"/>
              </a:rPr>
              <a:t> </a:t>
            </a:r>
            <a:r>
              <a:rPr sz="5500" dirty="0">
                <a:solidFill>
                  <a:srgbClr val="002D5F"/>
                </a:solidFill>
                <a:cs typeface="Calibri"/>
              </a:rPr>
              <a:t>with</a:t>
            </a:r>
            <a:r>
              <a:rPr sz="5500" spc="80" dirty="0">
                <a:solidFill>
                  <a:srgbClr val="002D5F"/>
                </a:solidFill>
                <a:cs typeface="Calibri"/>
              </a:rPr>
              <a:t> </a:t>
            </a:r>
            <a:r>
              <a:rPr sz="5500" dirty="0">
                <a:solidFill>
                  <a:srgbClr val="002D5F"/>
                </a:solidFill>
                <a:cs typeface="Calibri"/>
              </a:rPr>
              <a:t>knowing</a:t>
            </a:r>
            <a:r>
              <a:rPr sz="5500" spc="70" dirty="0">
                <a:solidFill>
                  <a:srgbClr val="002D5F"/>
                </a:solidFill>
                <a:cs typeface="Calibri"/>
              </a:rPr>
              <a:t> </a:t>
            </a:r>
            <a:r>
              <a:rPr sz="5500" dirty="0">
                <a:solidFill>
                  <a:srgbClr val="002D5F"/>
                </a:solidFill>
                <a:cs typeface="Calibri"/>
              </a:rPr>
              <a:t>how</a:t>
            </a:r>
            <a:r>
              <a:rPr sz="5500" spc="80" dirty="0">
                <a:solidFill>
                  <a:srgbClr val="002D5F"/>
                </a:solidFill>
                <a:cs typeface="Calibri"/>
              </a:rPr>
              <a:t> </a:t>
            </a:r>
            <a:r>
              <a:rPr sz="5500" dirty="0">
                <a:solidFill>
                  <a:srgbClr val="002D5F"/>
                </a:solidFill>
                <a:cs typeface="Calibri"/>
              </a:rPr>
              <a:t>to</a:t>
            </a:r>
            <a:r>
              <a:rPr sz="5500" spc="70" dirty="0">
                <a:solidFill>
                  <a:srgbClr val="002D5F"/>
                </a:solidFill>
                <a:cs typeface="Calibri"/>
              </a:rPr>
              <a:t> </a:t>
            </a:r>
            <a:r>
              <a:rPr sz="5500" dirty="0">
                <a:solidFill>
                  <a:srgbClr val="002D5F"/>
                </a:solidFill>
                <a:cs typeface="Calibri"/>
              </a:rPr>
              <a:t>write</a:t>
            </a:r>
            <a:r>
              <a:rPr lang="en-GB" sz="5500" dirty="0">
                <a:solidFill>
                  <a:srgbClr val="002D5F"/>
                </a:solidFill>
                <a:cs typeface="Calibri"/>
              </a:rPr>
              <a:t> all</a:t>
            </a:r>
            <a:r>
              <a:rPr sz="5500" spc="80" dirty="0">
                <a:solidFill>
                  <a:srgbClr val="002D5F"/>
                </a:solidFill>
                <a:cs typeface="Calibri"/>
              </a:rPr>
              <a:t> </a:t>
            </a:r>
            <a:r>
              <a:rPr sz="5500" dirty="0">
                <a:solidFill>
                  <a:srgbClr val="002D5F"/>
                </a:solidFill>
                <a:cs typeface="Calibri"/>
              </a:rPr>
              <a:t>CSS</a:t>
            </a:r>
            <a:r>
              <a:rPr sz="5500" spc="150" dirty="0">
                <a:solidFill>
                  <a:srgbClr val="002D5F"/>
                </a:solidFill>
                <a:cs typeface="Calibri"/>
              </a:rPr>
              <a:t> </a:t>
            </a:r>
            <a:r>
              <a:rPr sz="5500" dirty="0">
                <a:solidFill>
                  <a:srgbClr val="002D5F"/>
                </a:solidFill>
                <a:cs typeface="Calibri"/>
              </a:rPr>
              <a:t>selectors</a:t>
            </a:r>
            <a:r>
              <a:rPr sz="5500" spc="70" dirty="0">
                <a:solidFill>
                  <a:srgbClr val="002D5F"/>
                </a:solidFill>
                <a:cs typeface="Calibri"/>
              </a:rPr>
              <a:t> </a:t>
            </a:r>
            <a:r>
              <a:rPr sz="5500" dirty="0">
                <a:solidFill>
                  <a:srgbClr val="002D5F"/>
                </a:solidFill>
                <a:cs typeface="Calibri"/>
              </a:rPr>
              <a:t>because</a:t>
            </a:r>
            <a:r>
              <a:rPr sz="5500" spc="60" dirty="0">
                <a:solidFill>
                  <a:srgbClr val="002D5F"/>
                </a:solidFill>
                <a:cs typeface="Calibri"/>
              </a:rPr>
              <a:t> </a:t>
            </a:r>
            <a:r>
              <a:rPr sz="5500" dirty="0">
                <a:solidFill>
                  <a:srgbClr val="002D5F"/>
                </a:solidFill>
                <a:cs typeface="Calibri"/>
              </a:rPr>
              <a:t>there</a:t>
            </a:r>
            <a:r>
              <a:rPr sz="5500" spc="80" dirty="0">
                <a:solidFill>
                  <a:srgbClr val="002D5F"/>
                </a:solidFill>
                <a:cs typeface="Calibri"/>
              </a:rPr>
              <a:t> </a:t>
            </a:r>
            <a:r>
              <a:rPr sz="5500" dirty="0">
                <a:solidFill>
                  <a:srgbClr val="002D5F"/>
                </a:solidFill>
                <a:cs typeface="Calibri"/>
              </a:rPr>
              <a:t>are</a:t>
            </a:r>
            <a:r>
              <a:rPr sz="5500" spc="90" dirty="0">
                <a:solidFill>
                  <a:srgbClr val="002D5F"/>
                </a:solidFill>
                <a:cs typeface="Calibri"/>
              </a:rPr>
              <a:t> </a:t>
            </a:r>
            <a:r>
              <a:rPr sz="5500" dirty="0">
                <a:solidFill>
                  <a:srgbClr val="002D5F"/>
                </a:solidFill>
                <a:cs typeface="Calibri"/>
              </a:rPr>
              <a:t>tools</a:t>
            </a:r>
            <a:r>
              <a:rPr sz="5500" spc="220" dirty="0">
                <a:solidFill>
                  <a:srgbClr val="002D5F"/>
                </a:solidFill>
                <a:cs typeface="Calibri"/>
              </a:rPr>
              <a:t> </a:t>
            </a:r>
            <a:r>
              <a:rPr sz="5500" dirty="0">
                <a:solidFill>
                  <a:srgbClr val="002D5F"/>
                </a:solidFill>
                <a:cs typeface="Calibri"/>
              </a:rPr>
              <a:t>that</a:t>
            </a:r>
            <a:r>
              <a:rPr sz="5500" spc="100" dirty="0">
                <a:solidFill>
                  <a:srgbClr val="002D5F"/>
                </a:solidFill>
                <a:cs typeface="Calibri"/>
              </a:rPr>
              <a:t> </a:t>
            </a:r>
            <a:r>
              <a:rPr sz="5500" dirty="0">
                <a:solidFill>
                  <a:srgbClr val="002D5F"/>
                </a:solidFill>
                <a:cs typeface="Calibri"/>
              </a:rPr>
              <a:t>can</a:t>
            </a:r>
            <a:r>
              <a:rPr sz="5500" spc="70" dirty="0">
                <a:solidFill>
                  <a:srgbClr val="002D5F"/>
                </a:solidFill>
                <a:cs typeface="Calibri"/>
              </a:rPr>
              <a:t> </a:t>
            </a:r>
            <a:r>
              <a:rPr sz="5500" dirty="0">
                <a:solidFill>
                  <a:srgbClr val="002D5F"/>
                </a:solidFill>
                <a:cs typeface="Calibri"/>
              </a:rPr>
              <a:t>help</a:t>
            </a:r>
            <a:r>
              <a:rPr sz="5500" spc="228" dirty="0">
                <a:solidFill>
                  <a:srgbClr val="002D5F"/>
                </a:solidFill>
                <a:cs typeface="Calibri"/>
              </a:rPr>
              <a:t> </a:t>
            </a:r>
            <a:r>
              <a:rPr sz="5500" spc="-40" dirty="0">
                <a:solidFill>
                  <a:srgbClr val="002D5F"/>
                </a:solidFill>
                <a:cs typeface="Calibri"/>
              </a:rPr>
              <a:t>you!</a:t>
            </a:r>
            <a:endParaRPr sz="5500" dirty="0">
              <a:cs typeface="Calibri"/>
            </a:endParaRPr>
          </a:p>
          <a:p>
            <a:pPr marL="25400" marR="469900">
              <a:lnSpc>
                <a:spcPct val="92200"/>
              </a:lnSpc>
              <a:spcBef>
                <a:spcPts val="5800"/>
              </a:spcBef>
            </a:pPr>
            <a:r>
              <a:rPr sz="5500" b="1" dirty="0">
                <a:solidFill>
                  <a:srgbClr val="002D5F"/>
                </a:solidFill>
                <a:cs typeface="Calibri"/>
              </a:rPr>
              <a:t>Selector</a:t>
            </a:r>
            <a:r>
              <a:rPr sz="5500" b="1" spc="170" dirty="0">
                <a:solidFill>
                  <a:srgbClr val="002D5F"/>
                </a:solidFill>
                <a:cs typeface="Calibri"/>
              </a:rPr>
              <a:t> </a:t>
            </a:r>
            <a:r>
              <a:rPr sz="5500" b="1" dirty="0">
                <a:solidFill>
                  <a:srgbClr val="002D5F"/>
                </a:solidFill>
                <a:cs typeface="Calibri"/>
              </a:rPr>
              <a:t>Gadget</a:t>
            </a:r>
            <a:r>
              <a:rPr sz="5500" b="1" spc="100" dirty="0">
                <a:solidFill>
                  <a:srgbClr val="002D5F"/>
                </a:solidFill>
                <a:cs typeface="Calibri"/>
              </a:rPr>
              <a:t> </a:t>
            </a:r>
            <a:r>
              <a:rPr sz="5500" dirty="0">
                <a:solidFill>
                  <a:srgbClr val="002D5F"/>
                </a:solidFill>
                <a:cs typeface="Calibri"/>
              </a:rPr>
              <a:t>is</a:t>
            </a:r>
            <a:r>
              <a:rPr sz="5500" spc="80" dirty="0">
                <a:solidFill>
                  <a:srgbClr val="002D5F"/>
                </a:solidFill>
                <a:cs typeface="Calibri"/>
              </a:rPr>
              <a:t> </a:t>
            </a:r>
            <a:r>
              <a:rPr sz="5500" dirty="0">
                <a:solidFill>
                  <a:srgbClr val="002D5F"/>
                </a:solidFill>
                <a:cs typeface="Calibri"/>
              </a:rPr>
              <a:t>a</a:t>
            </a:r>
            <a:r>
              <a:rPr sz="5500" spc="40" dirty="0">
                <a:solidFill>
                  <a:srgbClr val="002D5F"/>
                </a:solidFill>
                <a:cs typeface="Calibri"/>
              </a:rPr>
              <a:t> </a:t>
            </a:r>
            <a:r>
              <a:rPr sz="5500" dirty="0">
                <a:solidFill>
                  <a:srgbClr val="002D5F"/>
                </a:solidFill>
                <a:cs typeface="Calibri"/>
              </a:rPr>
              <a:t>browser</a:t>
            </a:r>
            <a:r>
              <a:rPr sz="5500" spc="180" dirty="0">
                <a:solidFill>
                  <a:srgbClr val="002D5F"/>
                </a:solidFill>
                <a:cs typeface="Calibri"/>
              </a:rPr>
              <a:t> </a:t>
            </a:r>
            <a:r>
              <a:rPr sz="5500" dirty="0">
                <a:solidFill>
                  <a:srgbClr val="002D5F"/>
                </a:solidFill>
                <a:cs typeface="Calibri"/>
              </a:rPr>
              <a:t>extension</a:t>
            </a:r>
            <a:r>
              <a:rPr sz="5500" spc="90" dirty="0">
                <a:solidFill>
                  <a:srgbClr val="002D5F"/>
                </a:solidFill>
                <a:cs typeface="Calibri"/>
              </a:rPr>
              <a:t> </a:t>
            </a:r>
            <a:r>
              <a:rPr sz="5500" dirty="0">
                <a:solidFill>
                  <a:srgbClr val="002D5F"/>
                </a:solidFill>
                <a:cs typeface="Calibri"/>
              </a:rPr>
              <a:t>that</a:t>
            </a:r>
            <a:r>
              <a:rPr sz="5500" spc="100" dirty="0">
                <a:solidFill>
                  <a:srgbClr val="002D5F"/>
                </a:solidFill>
                <a:cs typeface="Calibri"/>
              </a:rPr>
              <a:t> </a:t>
            </a:r>
            <a:r>
              <a:rPr sz="5500" dirty="0">
                <a:solidFill>
                  <a:srgbClr val="002D5F"/>
                </a:solidFill>
                <a:cs typeface="Calibri"/>
              </a:rPr>
              <a:t>allow</a:t>
            </a:r>
            <a:r>
              <a:rPr sz="5500" spc="80" dirty="0">
                <a:solidFill>
                  <a:srgbClr val="002D5F"/>
                </a:solidFill>
                <a:cs typeface="Calibri"/>
              </a:rPr>
              <a:t> </a:t>
            </a:r>
            <a:r>
              <a:rPr sz="5500" dirty="0">
                <a:solidFill>
                  <a:srgbClr val="002D5F"/>
                </a:solidFill>
                <a:cs typeface="Calibri"/>
              </a:rPr>
              <a:t>you</a:t>
            </a:r>
            <a:r>
              <a:rPr sz="5500" spc="90" dirty="0">
                <a:solidFill>
                  <a:srgbClr val="002D5F"/>
                </a:solidFill>
                <a:cs typeface="Calibri"/>
              </a:rPr>
              <a:t> </a:t>
            </a:r>
            <a:r>
              <a:rPr sz="5500" dirty="0">
                <a:solidFill>
                  <a:srgbClr val="002D5F"/>
                </a:solidFill>
                <a:cs typeface="Calibri"/>
              </a:rPr>
              <a:t>to</a:t>
            </a:r>
            <a:r>
              <a:rPr sz="5500" spc="90" dirty="0">
                <a:solidFill>
                  <a:srgbClr val="002D5F"/>
                </a:solidFill>
                <a:cs typeface="Calibri"/>
              </a:rPr>
              <a:t> </a:t>
            </a:r>
            <a:r>
              <a:rPr sz="5500" dirty="0">
                <a:solidFill>
                  <a:srgbClr val="002D5F"/>
                </a:solidFill>
                <a:cs typeface="Calibri"/>
              </a:rPr>
              <a:t>click</a:t>
            </a:r>
            <a:r>
              <a:rPr sz="5500" spc="170" dirty="0">
                <a:solidFill>
                  <a:srgbClr val="002D5F"/>
                </a:solidFill>
                <a:cs typeface="Calibri"/>
              </a:rPr>
              <a:t> </a:t>
            </a:r>
            <a:r>
              <a:rPr sz="5500" dirty="0">
                <a:solidFill>
                  <a:srgbClr val="002D5F"/>
                </a:solidFill>
                <a:cs typeface="Calibri"/>
              </a:rPr>
              <a:t>on</a:t>
            </a:r>
            <a:r>
              <a:rPr sz="5500" spc="90" dirty="0">
                <a:solidFill>
                  <a:srgbClr val="002D5F"/>
                </a:solidFill>
                <a:cs typeface="Calibri"/>
              </a:rPr>
              <a:t> </a:t>
            </a:r>
            <a:r>
              <a:rPr sz="5500" spc="-50" dirty="0">
                <a:solidFill>
                  <a:srgbClr val="002D5F"/>
                </a:solidFill>
                <a:cs typeface="Calibri"/>
              </a:rPr>
              <a:t>the </a:t>
            </a:r>
            <a:r>
              <a:rPr sz="5500" dirty="0">
                <a:solidFill>
                  <a:srgbClr val="002D5F"/>
                </a:solidFill>
                <a:cs typeface="Calibri"/>
              </a:rPr>
              <a:t>elements</a:t>
            </a:r>
            <a:r>
              <a:rPr sz="5500" spc="90" dirty="0">
                <a:solidFill>
                  <a:srgbClr val="002D5F"/>
                </a:solidFill>
                <a:cs typeface="Calibri"/>
              </a:rPr>
              <a:t> </a:t>
            </a:r>
            <a:r>
              <a:rPr sz="5500" dirty="0">
                <a:solidFill>
                  <a:srgbClr val="002D5F"/>
                </a:solidFill>
                <a:cs typeface="Calibri"/>
              </a:rPr>
              <a:t>that</a:t>
            </a:r>
            <a:r>
              <a:rPr sz="5500" spc="110" dirty="0">
                <a:solidFill>
                  <a:srgbClr val="002D5F"/>
                </a:solidFill>
                <a:cs typeface="Calibri"/>
              </a:rPr>
              <a:t> </a:t>
            </a:r>
            <a:r>
              <a:rPr sz="5500" dirty="0">
                <a:solidFill>
                  <a:srgbClr val="002D5F"/>
                </a:solidFill>
                <a:cs typeface="Calibri"/>
              </a:rPr>
              <a:t>you</a:t>
            </a:r>
            <a:r>
              <a:rPr sz="5500" spc="80" dirty="0">
                <a:solidFill>
                  <a:srgbClr val="002D5F"/>
                </a:solidFill>
                <a:cs typeface="Calibri"/>
              </a:rPr>
              <a:t> </a:t>
            </a:r>
            <a:r>
              <a:rPr sz="5500" dirty="0">
                <a:solidFill>
                  <a:srgbClr val="002D5F"/>
                </a:solidFill>
                <a:cs typeface="Calibri"/>
              </a:rPr>
              <a:t>want</a:t>
            </a:r>
            <a:r>
              <a:rPr sz="5500" spc="110" dirty="0">
                <a:solidFill>
                  <a:srgbClr val="002D5F"/>
                </a:solidFill>
                <a:cs typeface="Calibri"/>
              </a:rPr>
              <a:t> </a:t>
            </a:r>
            <a:r>
              <a:rPr sz="5500" dirty="0">
                <a:solidFill>
                  <a:srgbClr val="002D5F"/>
                </a:solidFill>
                <a:cs typeface="Calibri"/>
              </a:rPr>
              <a:t>on</a:t>
            </a:r>
            <a:r>
              <a:rPr sz="5500" spc="80" dirty="0">
                <a:solidFill>
                  <a:srgbClr val="002D5F"/>
                </a:solidFill>
                <a:cs typeface="Calibri"/>
              </a:rPr>
              <a:t> </a:t>
            </a:r>
            <a:r>
              <a:rPr sz="5500" dirty="0">
                <a:solidFill>
                  <a:srgbClr val="002D5F"/>
                </a:solidFill>
                <a:cs typeface="Calibri"/>
              </a:rPr>
              <a:t>a</a:t>
            </a:r>
            <a:r>
              <a:rPr sz="5500" spc="50" dirty="0">
                <a:solidFill>
                  <a:srgbClr val="002D5F"/>
                </a:solidFill>
                <a:cs typeface="Calibri"/>
              </a:rPr>
              <a:t> </a:t>
            </a:r>
            <a:r>
              <a:rPr sz="5500" dirty="0">
                <a:solidFill>
                  <a:srgbClr val="002D5F"/>
                </a:solidFill>
                <a:cs typeface="Calibri"/>
              </a:rPr>
              <a:t>page,</a:t>
            </a:r>
            <a:r>
              <a:rPr sz="5500" spc="130" dirty="0">
                <a:solidFill>
                  <a:srgbClr val="002D5F"/>
                </a:solidFill>
                <a:cs typeface="Calibri"/>
              </a:rPr>
              <a:t> </a:t>
            </a:r>
            <a:r>
              <a:rPr sz="5500" dirty="0">
                <a:solidFill>
                  <a:srgbClr val="002D5F"/>
                </a:solidFill>
                <a:cs typeface="Calibri"/>
              </a:rPr>
              <a:t>and</a:t>
            </a:r>
            <a:r>
              <a:rPr sz="5500" spc="80" dirty="0">
                <a:solidFill>
                  <a:srgbClr val="002D5F"/>
                </a:solidFill>
                <a:cs typeface="Calibri"/>
              </a:rPr>
              <a:t> </a:t>
            </a:r>
            <a:r>
              <a:rPr sz="5500" dirty="0">
                <a:solidFill>
                  <a:srgbClr val="002D5F"/>
                </a:solidFill>
                <a:cs typeface="Calibri"/>
              </a:rPr>
              <a:t>it</a:t>
            </a:r>
            <a:r>
              <a:rPr sz="5500" spc="100" dirty="0">
                <a:solidFill>
                  <a:srgbClr val="002D5F"/>
                </a:solidFill>
                <a:cs typeface="Calibri"/>
              </a:rPr>
              <a:t> </a:t>
            </a:r>
            <a:r>
              <a:rPr sz="5500" dirty="0">
                <a:solidFill>
                  <a:srgbClr val="002D5F"/>
                </a:solidFill>
                <a:cs typeface="Calibri"/>
              </a:rPr>
              <a:t>will</a:t>
            </a:r>
            <a:r>
              <a:rPr sz="5500" spc="90" dirty="0">
                <a:solidFill>
                  <a:srgbClr val="002D5F"/>
                </a:solidFill>
                <a:cs typeface="Calibri"/>
              </a:rPr>
              <a:t> </a:t>
            </a:r>
            <a:r>
              <a:rPr sz="5500" dirty="0">
                <a:solidFill>
                  <a:srgbClr val="002D5F"/>
                </a:solidFill>
                <a:cs typeface="Calibri"/>
              </a:rPr>
              <a:t>create</a:t>
            </a:r>
            <a:r>
              <a:rPr sz="5500" spc="90" dirty="0">
                <a:solidFill>
                  <a:srgbClr val="002D5F"/>
                </a:solidFill>
                <a:cs typeface="Calibri"/>
              </a:rPr>
              <a:t> </a:t>
            </a:r>
            <a:r>
              <a:rPr sz="5500" dirty="0">
                <a:solidFill>
                  <a:srgbClr val="002D5F"/>
                </a:solidFill>
                <a:cs typeface="Calibri"/>
              </a:rPr>
              <a:t>a</a:t>
            </a:r>
            <a:r>
              <a:rPr sz="5500" spc="50" dirty="0">
                <a:solidFill>
                  <a:srgbClr val="002D5F"/>
                </a:solidFill>
                <a:cs typeface="Calibri"/>
              </a:rPr>
              <a:t> </a:t>
            </a:r>
            <a:r>
              <a:rPr sz="5500" dirty="0">
                <a:solidFill>
                  <a:srgbClr val="002D5F"/>
                </a:solidFill>
                <a:cs typeface="Calibri"/>
              </a:rPr>
              <a:t>CSS</a:t>
            </a:r>
            <a:r>
              <a:rPr sz="5500" spc="170" dirty="0">
                <a:solidFill>
                  <a:srgbClr val="002D5F"/>
                </a:solidFill>
                <a:cs typeface="Calibri"/>
              </a:rPr>
              <a:t> </a:t>
            </a:r>
            <a:r>
              <a:rPr sz="5500" dirty="0">
                <a:solidFill>
                  <a:srgbClr val="002D5F"/>
                </a:solidFill>
                <a:cs typeface="Calibri"/>
              </a:rPr>
              <a:t>selector</a:t>
            </a:r>
            <a:r>
              <a:rPr sz="5500" spc="180" dirty="0">
                <a:solidFill>
                  <a:srgbClr val="002D5F"/>
                </a:solidFill>
                <a:cs typeface="Calibri"/>
              </a:rPr>
              <a:t> </a:t>
            </a:r>
            <a:r>
              <a:rPr sz="5500" dirty="0">
                <a:solidFill>
                  <a:srgbClr val="002D5F"/>
                </a:solidFill>
                <a:cs typeface="Calibri"/>
              </a:rPr>
              <a:t>for</a:t>
            </a:r>
            <a:r>
              <a:rPr sz="5500" spc="170" dirty="0">
                <a:solidFill>
                  <a:srgbClr val="002D5F"/>
                </a:solidFill>
                <a:cs typeface="Calibri"/>
              </a:rPr>
              <a:t> </a:t>
            </a:r>
            <a:r>
              <a:rPr sz="5500" spc="-40" dirty="0">
                <a:solidFill>
                  <a:srgbClr val="002D5F"/>
                </a:solidFill>
                <a:cs typeface="Calibri"/>
              </a:rPr>
              <a:t>you, </a:t>
            </a:r>
            <a:r>
              <a:rPr sz="5500" dirty="0">
                <a:solidFill>
                  <a:srgbClr val="002D5F"/>
                </a:solidFill>
                <a:cs typeface="Calibri"/>
              </a:rPr>
              <a:t>and</a:t>
            </a:r>
            <a:r>
              <a:rPr sz="5500" spc="110" dirty="0">
                <a:solidFill>
                  <a:srgbClr val="002D5F"/>
                </a:solidFill>
                <a:cs typeface="Calibri"/>
              </a:rPr>
              <a:t> </a:t>
            </a:r>
            <a:r>
              <a:rPr sz="5500" dirty="0">
                <a:solidFill>
                  <a:srgbClr val="002D5F"/>
                </a:solidFill>
                <a:cs typeface="Calibri"/>
              </a:rPr>
              <a:t>highlight</a:t>
            </a:r>
            <a:r>
              <a:rPr sz="5500" spc="140" dirty="0">
                <a:solidFill>
                  <a:srgbClr val="002D5F"/>
                </a:solidFill>
                <a:cs typeface="Calibri"/>
              </a:rPr>
              <a:t> </a:t>
            </a:r>
            <a:r>
              <a:rPr sz="5500" dirty="0">
                <a:solidFill>
                  <a:srgbClr val="002D5F"/>
                </a:solidFill>
                <a:cs typeface="Calibri"/>
              </a:rPr>
              <a:t>all</a:t>
            </a:r>
            <a:r>
              <a:rPr sz="5500" spc="110" dirty="0">
                <a:solidFill>
                  <a:srgbClr val="002D5F"/>
                </a:solidFill>
                <a:cs typeface="Calibri"/>
              </a:rPr>
              <a:t> </a:t>
            </a:r>
            <a:r>
              <a:rPr sz="5500" dirty="0">
                <a:solidFill>
                  <a:srgbClr val="002D5F"/>
                </a:solidFill>
                <a:cs typeface="Calibri"/>
              </a:rPr>
              <a:t>elements</a:t>
            </a:r>
            <a:r>
              <a:rPr sz="5500" spc="130" dirty="0">
                <a:solidFill>
                  <a:srgbClr val="002D5F"/>
                </a:solidFill>
                <a:cs typeface="Calibri"/>
              </a:rPr>
              <a:t> </a:t>
            </a:r>
            <a:r>
              <a:rPr sz="5500" dirty="0">
                <a:solidFill>
                  <a:srgbClr val="002D5F"/>
                </a:solidFill>
                <a:cs typeface="Calibri"/>
              </a:rPr>
              <a:t>(tags)</a:t>
            </a:r>
            <a:r>
              <a:rPr sz="5500" spc="150" dirty="0">
                <a:solidFill>
                  <a:srgbClr val="002D5F"/>
                </a:solidFill>
                <a:cs typeface="Calibri"/>
              </a:rPr>
              <a:t> </a:t>
            </a:r>
            <a:r>
              <a:rPr sz="5500" dirty="0">
                <a:solidFill>
                  <a:srgbClr val="002D5F"/>
                </a:solidFill>
                <a:cs typeface="Calibri"/>
              </a:rPr>
              <a:t>selected</a:t>
            </a:r>
            <a:r>
              <a:rPr sz="5500" spc="120" dirty="0">
                <a:solidFill>
                  <a:srgbClr val="002D5F"/>
                </a:solidFill>
                <a:cs typeface="Calibri"/>
              </a:rPr>
              <a:t> </a:t>
            </a:r>
            <a:r>
              <a:rPr sz="5500" dirty="0">
                <a:solidFill>
                  <a:srgbClr val="002D5F"/>
                </a:solidFill>
                <a:cs typeface="Calibri"/>
              </a:rPr>
              <a:t>by</a:t>
            </a:r>
            <a:r>
              <a:rPr sz="5500" spc="228" dirty="0">
                <a:solidFill>
                  <a:srgbClr val="002D5F"/>
                </a:solidFill>
                <a:cs typeface="Calibri"/>
              </a:rPr>
              <a:t> </a:t>
            </a:r>
            <a:r>
              <a:rPr sz="5500" dirty="0">
                <a:solidFill>
                  <a:srgbClr val="002D5F"/>
                </a:solidFill>
                <a:cs typeface="Calibri"/>
              </a:rPr>
              <a:t>the</a:t>
            </a:r>
            <a:r>
              <a:rPr sz="5500" spc="120" dirty="0">
                <a:solidFill>
                  <a:srgbClr val="002D5F"/>
                </a:solidFill>
                <a:cs typeface="Calibri"/>
              </a:rPr>
              <a:t> </a:t>
            </a:r>
            <a:r>
              <a:rPr sz="5500" spc="-20" dirty="0">
                <a:solidFill>
                  <a:srgbClr val="002D5F"/>
                </a:solidFill>
                <a:cs typeface="Calibri"/>
              </a:rPr>
              <a:t>selector.</a:t>
            </a:r>
            <a:endParaRPr sz="5500" dirty="0">
              <a:cs typeface="Calibri"/>
            </a:endParaRPr>
          </a:p>
        </p:txBody>
      </p:sp>
      <p:sp>
        <p:nvSpPr>
          <p:cNvPr id="5" name="Title 4">
            <a:extLst>
              <a:ext uri="{FF2B5EF4-FFF2-40B4-BE49-F238E27FC236}">
                <a16:creationId xmlns:a16="http://schemas.microsoft.com/office/drawing/2014/main" id="{67DF2C27-0815-DA94-1E3E-2221BBCFBD3C}"/>
              </a:ext>
            </a:extLst>
          </p:cNvPr>
          <p:cNvSpPr>
            <a:spLocks noGrp="1"/>
          </p:cNvSpPr>
          <p:nvPr>
            <p:ph type="title"/>
          </p:nvPr>
        </p:nvSpPr>
        <p:spPr/>
        <p:txBody>
          <a:bodyPr>
            <a:normAutofit/>
          </a:bodyPr>
          <a:lstStyle/>
          <a:p>
            <a:r>
              <a:rPr lang="en-US" dirty="0"/>
              <a:t>Selector Gadget</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0094" y="6129987"/>
            <a:ext cx="21276310" cy="5812489"/>
          </a:xfrm>
          <a:prstGeom prst="rect">
            <a:avLst/>
          </a:prstGeom>
        </p:spPr>
        <p:txBody>
          <a:bodyPr vert="horz" wrap="square" lIns="0" tIns="137160" rIns="0" bIns="0" rtlCol="0">
            <a:spAutoFit/>
          </a:bodyPr>
          <a:lstStyle/>
          <a:p>
            <a:pPr marL="824230" indent="-798830">
              <a:lnSpc>
                <a:spcPct val="100000"/>
              </a:lnSpc>
              <a:spcBef>
                <a:spcPts val="1080"/>
              </a:spcBef>
              <a:buAutoNum type="arabicPeriod"/>
              <a:tabLst>
                <a:tab pos="824230" algn="l"/>
              </a:tabLst>
            </a:pPr>
            <a:r>
              <a:rPr dirty="0">
                <a:solidFill>
                  <a:srgbClr val="002D5F"/>
                </a:solidFill>
                <a:cs typeface="Calibri"/>
              </a:rPr>
              <a:t>Uses</a:t>
            </a:r>
            <a:r>
              <a:rPr spc="-10" dirty="0">
                <a:solidFill>
                  <a:srgbClr val="002D5F"/>
                </a:solidFill>
                <a:cs typeface="Calibri"/>
              </a:rPr>
              <a:t> </a:t>
            </a:r>
            <a:r>
              <a:rPr dirty="0">
                <a:solidFill>
                  <a:srgbClr val="002D5F"/>
                </a:solidFill>
                <a:cs typeface="Calibri"/>
              </a:rPr>
              <a:t>Chrome,</a:t>
            </a:r>
            <a:r>
              <a:rPr spc="-130" dirty="0">
                <a:solidFill>
                  <a:srgbClr val="002D5F"/>
                </a:solidFill>
                <a:cs typeface="Calibri"/>
              </a:rPr>
              <a:t> </a:t>
            </a:r>
            <a:r>
              <a:rPr dirty="0">
                <a:solidFill>
                  <a:srgbClr val="002D5F"/>
                </a:solidFill>
                <a:cs typeface="Calibri"/>
              </a:rPr>
              <a:t>Edge,</a:t>
            </a:r>
            <a:r>
              <a:rPr spc="-130" dirty="0">
                <a:solidFill>
                  <a:srgbClr val="002D5F"/>
                </a:solidFill>
                <a:cs typeface="Calibri"/>
              </a:rPr>
              <a:t> </a:t>
            </a:r>
            <a:r>
              <a:rPr dirty="0">
                <a:solidFill>
                  <a:srgbClr val="002D5F"/>
                </a:solidFill>
                <a:cs typeface="Calibri"/>
              </a:rPr>
              <a:t>or</a:t>
            </a:r>
            <a:r>
              <a:rPr spc="-160" dirty="0">
                <a:solidFill>
                  <a:srgbClr val="002D5F"/>
                </a:solidFill>
                <a:cs typeface="Calibri"/>
              </a:rPr>
              <a:t> </a:t>
            </a:r>
            <a:r>
              <a:rPr dirty="0">
                <a:solidFill>
                  <a:srgbClr val="002D5F"/>
                </a:solidFill>
                <a:cs typeface="Calibri"/>
              </a:rPr>
              <a:t>any</a:t>
            </a:r>
            <a:r>
              <a:rPr spc="-90" dirty="0">
                <a:solidFill>
                  <a:srgbClr val="002D5F"/>
                </a:solidFill>
                <a:cs typeface="Calibri"/>
              </a:rPr>
              <a:t> </a:t>
            </a:r>
            <a:r>
              <a:rPr dirty="0">
                <a:solidFill>
                  <a:srgbClr val="002D5F"/>
                </a:solidFill>
                <a:cs typeface="Calibri"/>
              </a:rPr>
              <a:t>other</a:t>
            </a:r>
            <a:r>
              <a:rPr spc="-20" dirty="0">
                <a:solidFill>
                  <a:srgbClr val="002D5F"/>
                </a:solidFill>
                <a:cs typeface="Calibri"/>
              </a:rPr>
              <a:t> </a:t>
            </a:r>
            <a:r>
              <a:rPr spc="-60" dirty="0">
                <a:solidFill>
                  <a:srgbClr val="002D5F"/>
                </a:solidFill>
                <a:cs typeface="Calibri"/>
              </a:rPr>
              <a:t>Chromium-</a:t>
            </a:r>
            <a:r>
              <a:rPr dirty="0">
                <a:solidFill>
                  <a:srgbClr val="002D5F"/>
                </a:solidFill>
                <a:cs typeface="Calibri"/>
              </a:rPr>
              <a:t>based</a:t>
            </a:r>
            <a:r>
              <a:rPr spc="-120" dirty="0">
                <a:solidFill>
                  <a:srgbClr val="002D5F"/>
                </a:solidFill>
                <a:cs typeface="Calibri"/>
              </a:rPr>
              <a:t> </a:t>
            </a:r>
            <a:r>
              <a:rPr spc="-20" dirty="0">
                <a:solidFill>
                  <a:srgbClr val="002D5F"/>
                </a:solidFill>
                <a:cs typeface="Calibri"/>
              </a:rPr>
              <a:t>browser</a:t>
            </a:r>
            <a:endParaRPr dirty="0">
              <a:cs typeface="Calibri"/>
            </a:endParaRPr>
          </a:p>
          <a:p>
            <a:pPr marL="25400" marR="10160" indent="798830">
              <a:lnSpc>
                <a:spcPct val="109500"/>
              </a:lnSpc>
              <a:spcBef>
                <a:spcPts val="150"/>
              </a:spcBef>
              <a:buAutoNum type="arabicPeriod"/>
              <a:tabLst>
                <a:tab pos="824230" algn="l"/>
              </a:tabLst>
            </a:pPr>
            <a:r>
              <a:rPr dirty="0">
                <a:solidFill>
                  <a:srgbClr val="002D5F"/>
                </a:solidFill>
                <a:cs typeface="Calibri"/>
              </a:rPr>
              <a:t>Download</a:t>
            </a:r>
            <a:r>
              <a:rPr spc="-180" dirty="0">
                <a:solidFill>
                  <a:srgbClr val="002D5F"/>
                </a:solidFill>
                <a:cs typeface="Calibri"/>
              </a:rPr>
              <a:t> </a:t>
            </a:r>
            <a:r>
              <a:rPr dirty="0">
                <a:solidFill>
                  <a:srgbClr val="002D5F"/>
                </a:solidFill>
                <a:cs typeface="Calibri"/>
              </a:rPr>
              <a:t>and</a:t>
            </a:r>
            <a:r>
              <a:rPr spc="-180" dirty="0">
                <a:solidFill>
                  <a:srgbClr val="002D5F"/>
                </a:solidFill>
                <a:cs typeface="Calibri"/>
              </a:rPr>
              <a:t> </a:t>
            </a:r>
            <a:r>
              <a:rPr dirty="0">
                <a:solidFill>
                  <a:srgbClr val="002D5F"/>
                </a:solidFill>
                <a:cs typeface="Calibri"/>
              </a:rPr>
              <a:t>install</a:t>
            </a:r>
            <a:r>
              <a:rPr spc="-170" dirty="0">
                <a:solidFill>
                  <a:srgbClr val="002D5F"/>
                </a:solidFill>
                <a:cs typeface="Calibri"/>
              </a:rPr>
              <a:t> </a:t>
            </a:r>
            <a:r>
              <a:rPr b="1" dirty="0">
                <a:solidFill>
                  <a:srgbClr val="002D5F"/>
                </a:solidFill>
                <a:cs typeface="Calibri"/>
              </a:rPr>
              <a:t>Selector</a:t>
            </a:r>
            <a:r>
              <a:rPr b="1" spc="-140" dirty="0">
                <a:solidFill>
                  <a:srgbClr val="002D5F"/>
                </a:solidFill>
                <a:cs typeface="Calibri"/>
              </a:rPr>
              <a:t> </a:t>
            </a:r>
            <a:r>
              <a:rPr b="1" dirty="0">
                <a:solidFill>
                  <a:srgbClr val="002D5F"/>
                </a:solidFill>
                <a:cs typeface="Calibri"/>
              </a:rPr>
              <a:t>Gadget</a:t>
            </a:r>
            <a:r>
              <a:rPr b="1" spc="-150" dirty="0">
                <a:solidFill>
                  <a:srgbClr val="002D5F"/>
                </a:solidFill>
                <a:cs typeface="Calibri"/>
              </a:rPr>
              <a:t> </a:t>
            </a:r>
            <a:r>
              <a:rPr dirty="0">
                <a:solidFill>
                  <a:srgbClr val="002D5F"/>
                </a:solidFill>
                <a:cs typeface="Calibri"/>
              </a:rPr>
              <a:t>from</a:t>
            </a:r>
            <a:r>
              <a:rPr spc="-270" dirty="0">
                <a:solidFill>
                  <a:srgbClr val="002D5F"/>
                </a:solidFill>
                <a:cs typeface="Calibri"/>
              </a:rPr>
              <a:t> </a:t>
            </a:r>
            <a:r>
              <a:rPr dirty="0">
                <a:solidFill>
                  <a:srgbClr val="002D5F"/>
                </a:solidFill>
                <a:cs typeface="Calibri"/>
              </a:rPr>
              <a:t>the</a:t>
            </a:r>
            <a:r>
              <a:rPr spc="-150" dirty="0">
                <a:solidFill>
                  <a:srgbClr val="002D5F"/>
                </a:solidFill>
                <a:cs typeface="Calibri"/>
              </a:rPr>
              <a:t> </a:t>
            </a:r>
            <a:r>
              <a:rPr dirty="0">
                <a:solidFill>
                  <a:srgbClr val="002D5F"/>
                </a:solidFill>
                <a:cs typeface="Calibri"/>
                <a:hlinkClick r:id="rId2"/>
              </a:rPr>
              <a:t>Chrome</a:t>
            </a:r>
            <a:r>
              <a:rPr spc="-150" dirty="0">
                <a:solidFill>
                  <a:srgbClr val="002D5F"/>
                </a:solidFill>
                <a:cs typeface="Calibri"/>
                <a:hlinkClick r:id="rId2"/>
              </a:rPr>
              <a:t> </a:t>
            </a:r>
            <a:r>
              <a:rPr spc="-20" dirty="0">
                <a:solidFill>
                  <a:srgbClr val="002D5F"/>
                </a:solidFill>
                <a:cs typeface="Calibri"/>
                <a:hlinkClick r:id="rId2"/>
              </a:rPr>
              <a:t>store</a:t>
            </a:r>
            <a:r>
              <a:rPr spc="-20" dirty="0">
                <a:solidFill>
                  <a:srgbClr val="002D5F"/>
                </a:solidFill>
                <a:cs typeface="Calibri"/>
              </a:rPr>
              <a:t>. </a:t>
            </a:r>
            <a:endParaRPr lang="en-GB" spc="-20" dirty="0">
              <a:solidFill>
                <a:srgbClr val="002D5F"/>
              </a:solidFill>
              <a:cs typeface="Calibri"/>
            </a:endParaRPr>
          </a:p>
          <a:p>
            <a:pPr marL="25400" marR="10160" indent="798830">
              <a:lnSpc>
                <a:spcPct val="109500"/>
              </a:lnSpc>
              <a:spcBef>
                <a:spcPts val="150"/>
              </a:spcBef>
              <a:buAutoNum type="arabicPeriod"/>
              <a:tabLst>
                <a:tab pos="824230" algn="l"/>
              </a:tabLst>
            </a:pPr>
            <a:r>
              <a:rPr dirty="0">
                <a:solidFill>
                  <a:srgbClr val="002D5F"/>
                </a:solidFill>
                <a:cs typeface="Calibri"/>
              </a:rPr>
              <a:t>Play</a:t>
            </a:r>
            <a:r>
              <a:rPr spc="-120" dirty="0">
                <a:solidFill>
                  <a:srgbClr val="002D5F"/>
                </a:solidFill>
                <a:cs typeface="Calibri"/>
              </a:rPr>
              <a:t> </a:t>
            </a:r>
            <a:r>
              <a:rPr dirty="0">
                <a:solidFill>
                  <a:srgbClr val="002D5F"/>
                </a:solidFill>
                <a:cs typeface="Calibri"/>
              </a:rPr>
              <a:t>with it</a:t>
            </a:r>
            <a:r>
              <a:rPr spc="-110" dirty="0">
                <a:solidFill>
                  <a:srgbClr val="002D5F"/>
                </a:solidFill>
                <a:cs typeface="Calibri"/>
              </a:rPr>
              <a:t> </a:t>
            </a:r>
            <a:r>
              <a:rPr dirty="0">
                <a:solidFill>
                  <a:srgbClr val="002D5F"/>
                </a:solidFill>
                <a:cs typeface="Calibri"/>
              </a:rPr>
              <a:t>on</a:t>
            </a:r>
            <a:r>
              <a:rPr spc="-140" dirty="0">
                <a:solidFill>
                  <a:srgbClr val="002D5F"/>
                </a:solidFill>
                <a:cs typeface="Calibri"/>
              </a:rPr>
              <a:t> </a:t>
            </a:r>
            <a:r>
              <a:rPr u="sng" spc="-70" dirty="0">
                <a:solidFill>
                  <a:srgbClr val="0462C1"/>
                </a:solidFill>
                <a:uFill>
                  <a:solidFill>
                    <a:srgbClr val="0462C1"/>
                  </a:solidFill>
                </a:uFill>
                <a:cs typeface="Calibri"/>
                <a:hlinkClick r:id="rId3"/>
              </a:rPr>
              <a:t>https://www.connosr.com/</a:t>
            </a:r>
            <a:r>
              <a:rPr spc="-70" dirty="0">
                <a:solidFill>
                  <a:srgbClr val="002D5F"/>
                </a:solidFill>
                <a:cs typeface="Calibri"/>
              </a:rPr>
              <a:t>.</a:t>
            </a:r>
            <a:r>
              <a:rPr spc="-40" dirty="0">
                <a:solidFill>
                  <a:srgbClr val="002D5F"/>
                </a:solidFill>
                <a:cs typeface="Calibri"/>
              </a:rPr>
              <a:t> </a:t>
            </a:r>
            <a:r>
              <a:rPr spc="-60" dirty="0">
                <a:solidFill>
                  <a:srgbClr val="002D5F"/>
                </a:solidFill>
                <a:cs typeface="Calibri"/>
              </a:rPr>
              <a:t>Try</a:t>
            </a:r>
            <a:r>
              <a:rPr spc="-120" dirty="0">
                <a:solidFill>
                  <a:srgbClr val="002D5F"/>
                </a:solidFill>
                <a:cs typeface="Calibri"/>
              </a:rPr>
              <a:t> </a:t>
            </a:r>
            <a:r>
              <a:rPr dirty="0">
                <a:solidFill>
                  <a:srgbClr val="002D5F"/>
                </a:solidFill>
                <a:cs typeface="Calibri"/>
              </a:rPr>
              <a:t>to</a:t>
            </a:r>
            <a:r>
              <a:rPr spc="-140" dirty="0">
                <a:solidFill>
                  <a:srgbClr val="002D5F"/>
                </a:solidFill>
                <a:cs typeface="Calibri"/>
              </a:rPr>
              <a:t> </a:t>
            </a:r>
            <a:r>
              <a:rPr dirty="0">
                <a:solidFill>
                  <a:srgbClr val="002D5F"/>
                </a:solidFill>
                <a:cs typeface="Calibri"/>
              </a:rPr>
              <a:t>figure</a:t>
            </a:r>
            <a:r>
              <a:rPr spc="-250" dirty="0">
                <a:solidFill>
                  <a:srgbClr val="002D5F"/>
                </a:solidFill>
                <a:cs typeface="Calibri"/>
              </a:rPr>
              <a:t> </a:t>
            </a:r>
            <a:r>
              <a:rPr spc="-50" dirty="0">
                <a:solidFill>
                  <a:srgbClr val="002D5F"/>
                </a:solidFill>
                <a:cs typeface="Calibri"/>
              </a:rPr>
              <a:t>out</a:t>
            </a:r>
            <a:endParaRPr dirty="0">
              <a:cs typeface="Calibri"/>
            </a:endParaRPr>
          </a:p>
          <a:p>
            <a:pPr marL="25400" marR="908050">
              <a:lnSpc>
                <a:spcPct val="109500"/>
              </a:lnSpc>
              <a:spcBef>
                <a:spcPts val="160"/>
              </a:spcBef>
            </a:pPr>
            <a:r>
              <a:rPr dirty="0">
                <a:solidFill>
                  <a:srgbClr val="002D5F"/>
                </a:solidFill>
                <a:cs typeface="Calibri"/>
              </a:rPr>
              <a:t>selectors</a:t>
            </a:r>
            <a:r>
              <a:rPr spc="-70" dirty="0">
                <a:solidFill>
                  <a:srgbClr val="002D5F"/>
                </a:solidFill>
                <a:cs typeface="Calibri"/>
              </a:rPr>
              <a:t> </a:t>
            </a:r>
            <a:r>
              <a:rPr dirty="0">
                <a:solidFill>
                  <a:srgbClr val="002D5F"/>
                </a:solidFill>
                <a:cs typeface="Calibri"/>
              </a:rPr>
              <a:t>for</a:t>
            </a:r>
            <a:r>
              <a:rPr spc="-80" dirty="0">
                <a:solidFill>
                  <a:srgbClr val="002D5F"/>
                </a:solidFill>
                <a:cs typeface="Calibri"/>
              </a:rPr>
              <a:t> </a:t>
            </a:r>
            <a:r>
              <a:rPr dirty="0">
                <a:solidFill>
                  <a:srgbClr val="002D5F"/>
                </a:solidFill>
                <a:cs typeface="Calibri"/>
              </a:rPr>
              <a:t>various</a:t>
            </a:r>
            <a:r>
              <a:rPr spc="-180" dirty="0">
                <a:solidFill>
                  <a:srgbClr val="002D5F"/>
                </a:solidFill>
                <a:cs typeface="Calibri"/>
              </a:rPr>
              <a:t> </a:t>
            </a:r>
            <a:r>
              <a:rPr dirty="0">
                <a:solidFill>
                  <a:srgbClr val="002D5F"/>
                </a:solidFill>
                <a:cs typeface="Calibri"/>
              </a:rPr>
              <a:t>pieces</a:t>
            </a:r>
            <a:r>
              <a:rPr spc="-190" dirty="0">
                <a:solidFill>
                  <a:srgbClr val="002D5F"/>
                </a:solidFill>
                <a:cs typeface="Calibri"/>
              </a:rPr>
              <a:t> </a:t>
            </a:r>
            <a:r>
              <a:rPr dirty="0">
                <a:solidFill>
                  <a:srgbClr val="002D5F"/>
                </a:solidFill>
                <a:cs typeface="Calibri"/>
              </a:rPr>
              <a:t>of</a:t>
            </a:r>
            <a:r>
              <a:rPr spc="-228" dirty="0">
                <a:solidFill>
                  <a:srgbClr val="002D5F"/>
                </a:solidFill>
                <a:cs typeface="Calibri"/>
              </a:rPr>
              <a:t> </a:t>
            </a:r>
            <a:r>
              <a:rPr spc="-20" dirty="0">
                <a:solidFill>
                  <a:srgbClr val="002D5F"/>
                </a:solidFill>
                <a:cs typeface="Calibri"/>
              </a:rPr>
              <a:t>information.</a:t>
            </a:r>
            <a:r>
              <a:rPr spc="-70" dirty="0">
                <a:solidFill>
                  <a:srgbClr val="002D5F"/>
                </a:solidFill>
                <a:cs typeface="Calibri"/>
              </a:rPr>
              <a:t> </a:t>
            </a:r>
            <a:endParaRPr lang="en-GB" spc="-70" dirty="0">
              <a:solidFill>
                <a:srgbClr val="002D5F"/>
              </a:solidFill>
              <a:cs typeface="Calibri"/>
            </a:endParaRPr>
          </a:p>
          <a:p>
            <a:pPr marL="25400" marR="908050">
              <a:lnSpc>
                <a:spcPct val="109500"/>
              </a:lnSpc>
              <a:spcBef>
                <a:spcPts val="160"/>
              </a:spcBef>
            </a:pPr>
            <a:endParaRPr lang="en-GB" dirty="0">
              <a:solidFill>
                <a:srgbClr val="002D5F"/>
              </a:solidFill>
              <a:cs typeface="Calibri"/>
            </a:endParaRPr>
          </a:p>
          <a:p>
            <a:pPr marL="25400" marR="908050">
              <a:lnSpc>
                <a:spcPct val="109500"/>
              </a:lnSpc>
              <a:spcBef>
                <a:spcPts val="160"/>
              </a:spcBef>
            </a:pPr>
            <a:r>
              <a:rPr dirty="0">
                <a:solidFill>
                  <a:srgbClr val="002D5F"/>
                </a:solidFill>
                <a:cs typeface="Calibri"/>
              </a:rPr>
              <a:t>E.g.</a:t>
            </a:r>
            <a:r>
              <a:rPr spc="-200" dirty="0">
                <a:solidFill>
                  <a:srgbClr val="002D5F"/>
                </a:solidFill>
                <a:cs typeface="Calibri"/>
              </a:rPr>
              <a:t> </a:t>
            </a:r>
            <a:r>
              <a:rPr dirty="0">
                <a:solidFill>
                  <a:srgbClr val="002D5F"/>
                </a:solidFill>
                <a:cs typeface="Calibri"/>
              </a:rPr>
              <a:t>What</a:t>
            </a:r>
            <a:r>
              <a:rPr spc="-130" dirty="0">
                <a:solidFill>
                  <a:srgbClr val="002D5F"/>
                </a:solidFill>
                <a:cs typeface="Calibri"/>
              </a:rPr>
              <a:t> </a:t>
            </a:r>
            <a:r>
              <a:rPr spc="-20" dirty="0">
                <a:solidFill>
                  <a:srgbClr val="002D5F"/>
                </a:solidFill>
                <a:cs typeface="Calibri"/>
              </a:rPr>
              <a:t>selector </a:t>
            </a:r>
            <a:r>
              <a:rPr dirty="0">
                <a:solidFill>
                  <a:srgbClr val="002D5F"/>
                </a:solidFill>
                <a:cs typeface="Calibri"/>
              </a:rPr>
              <a:t>would</a:t>
            </a:r>
            <a:r>
              <a:rPr spc="-120" dirty="0">
                <a:solidFill>
                  <a:srgbClr val="002D5F"/>
                </a:solidFill>
                <a:cs typeface="Calibri"/>
              </a:rPr>
              <a:t> </a:t>
            </a:r>
            <a:r>
              <a:rPr dirty="0">
                <a:solidFill>
                  <a:srgbClr val="002D5F"/>
                </a:solidFill>
                <a:cs typeface="Calibri"/>
              </a:rPr>
              <a:t>you get</a:t>
            </a:r>
            <a:r>
              <a:rPr spc="-100" dirty="0">
                <a:solidFill>
                  <a:srgbClr val="002D5F"/>
                </a:solidFill>
                <a:cs typeface="Calibri"/>
              </a:rPr>
              <a:t> </a:t>
            </a:r>
            <a:r>
              <a:rPr dirty="0">
                <a:solidFill>
                  <a:srgbClr val="002D5F"/>
                </a:solidFill>
                <a:cs typeface="Calibri"/>
              </a:rPr>
              <a:t>all</a:t>
            </a:r>
            <a:r>
              <a:rPr spc="-150" dirty="0">
                <a:solidFill>
                  <a:srgbClr val="002D5F"/>
                </a:solidFill>
                <a:cs typeface="Calibri"/>
              </a:rPr>
              <a:t> </a:t>
            </a:r>
            <a:r>
              <a:rPr dirty="0">
                <a:solidFill>
                  <a:srgbClr val="002D5F"/>
                </a:solidFill>
                <a:cs typeface="Calibri"/>
              </a:rPr>
              <a:t>and</a:t>
            </a:r>
            <a:r>
              <a:rPr spc="-130" dirty="0">
                <a:solidFill>
                  <a:srgbClr val="002D5F"/>
                </a:solidFill>
                <a:cs typeface="Calibri"/>
              </a:rPr>
              <a:t> </a:t>
            </a:r>
            <a:r>
              <a:rPr dirty="0">
                <a:solidFill>
                  <a:srgbClr val="002D5F"/>
                </a:solidFill>
                <a:cs typeface="Calibri"/>
              </a:rPr>
              <a:t>only</a:t>
            </a:r>
            <a:r>
              <a:rPr spc="-100" dirty="0">
                <a:solidFill>
                  <a:srgbClr val="002D5F"/>
                </a:solidFill>
                <a:cs typeface="Calibri"/>
              </a:rPr>
              <a:t> </a:t>
            </a:r>
            <a:r>
              <a:rPr dirty="0">
                <a:solidFill>
                  <a:srgbClr val="002D5F"/>
                </a:solidFill>
                <a:cs typeface="Calibri"/>
              </a:rPr>
              <a:t>the</a:t>
            </a:r>
            <a:r>
              <a:rPr spc="-100" dirty="0">
                <a:solidFill>
                  <a:srgbClr val="002D5F"/>
                </a:solidFill>
                <a:cs typeface="Calibri"/>
              </a:rPr>
              <a:t> </a:t>
            </a:r>
            <a:r>
              <a:rPr dirty="0">
                <a:solidFill>
                  <a:srgbClr val="002D5F"/>
                </a:solidFill>
                <a:cs typeface="Calibri"/>
              </a:rPr>
              <a:t>names</a:t>
            </a:r>
            <a:r>
              <a:rPr spc="-30" dirty="0">
                <a:solidFill>
                  <a:srgbClr val="002D5F"/>
                </a:solidFill>
                <a:cs typeface="Calibri"/>
              </a:rPr>
              <a:t> </a:t>
            </a:r>
            <a:r>
              <a:rPr dirty="0">
                <a:solidFill>
                  <a:srgbClr val="002D5F"/>
                </a:solidFill>
                <a:cs typeface="Calibri"/>
              </a:rPr>
              <a:t>of</a:t>
            </a:r>
            <a:r>
              <a:rPr spc="-60" dirty="0">
                <a:solidFill>
                  <a:srgbClr val="002D5F"/>
                </a:solidFill>
                <a:cs typeface="Calibri"/>
              </a:rPr>
              <a:t> </a:t>
            </a:r>
            <a:r>
              <a:rPr dirty="0">
                <a:solidFill>
                  <a:srgbClr val="002D5F"/>
                </a:solidFill>
                <a:cs typeface="Calibri"/>
              </a:rPr>
              <a:t>Japanese</a:t>
            </a:r>
            <a:r>
              <a:rPr spc="-110" dirty="0">
                <a:solidFill>
                  <a:srgbClr val="002D5F"/>
                </a:solidFill>
                <a:cs typeface="Calibri"/>
              </a:rPr>
              <a:t> </a:t>
            </a:r>
            <a:r>
              <a:rPr spc="-20" dirty="0">
                <a:solidFill>
                  <a:srgbClr val="002D5F"/>
                </a:solidFill>
                <a:cs typeface="Calibri"/>
              </a:rPr>
              <a:t>distilleries?</a:t>
            </a:r>
            <a:endParaRPr dirty="0">
              <a:cs typeface="Calibri"/>
            </a:endParaRPr>
          </a:p>
        </p:txBody>
      </p:sp>
      <p:sp>
        <p:nvSpPr>
          <p:cNvPr id="5" name="Title 4">
            <a:extLst>
              <a:ext uri="{FF2B5EF4-FFF2-40B4-BE49-F238E27FC236}">
                <a16:creationId xmlns:a16="http://schemas.microsoft.com/office/drawing/2014/main" id="{370C5770-4BD4-DF42-86F5-6D9E0EE76EDC}"/>
              </a:ext>
            </a:extLst>
          </p:cNvPr>
          <p:cNvSpPr>
            <a:spLocks noGrp="1"/>
          </p:cNvSpPr>
          <p:nvPr>
            <p:ph type="title"/>
          </p:nvPr>
        </p:nvSpPr>
        <p:spPr/>
        <p:txBody>
          <a:bodyPr/>
          <a:lstStyle/>
          <a:p>
            <a:r>
              <a:rPr lang="en-US" dirty="0"/>
              <a:t>Activity</a:t>
            </a:r>
          </a:p>
        </p:txBody>
      </p:sp>
      <p:pic>
        <p:nvPicPr>
          <p:cNvPr id="7" name="Picture 6" descr="A close-up of a person&#10;&#10;AI-generated content may be incorrect.">
            <a:extLst>
              <a:ext uri="{FF2B5EF4-FFF2-40B4-BE49-F238E27FC236}">
                <a16:creationId xmlns:a16="http://schemas.microsoft.com/office/drawing/2014/main" id="{DFBC8026-8F5F-7E39-7D41-288BD347D6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6487" y="2959144"/>
            <a:ext cx="21894764" cy="2849049"/>
          </a:xfrm>
          <a:prstGeom prst="rect">
            <a:avLst/>
          </a:prstGeom>
        </p:spPr>
      </p:pic>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12450</TotalTime>
  <Words>1820</Words>
  <Application>Microsoft Macintosh PowerPoint</Application>
  <PresentationFormat>Custom</PresentationFormat>
  <Paragraphs>232</Paragraphs>
  <Slides>29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Courier New</vt:lpstr>
      <vt:lpstr>Helvetica</vt:lpstr>
      <vt:lpstr>Helvetica Neue</vt:lpstr>
      <vt:lpstr>Helvetica Neue Medium</vt:lpstr>
      <vt:lpstr>Wingdings</vt:lpstr>
      <vt:lpstr>21_BasicWhite</vt:lpstr>
      <vt:lpstr>Understanding the Web  delivered by Joy Lan</vt:lpstr>
      <vt:lpstr>Understanding the Web</vt:lpstr>
      <vt:lpstr>What is HTTP?</vt:lpstr>
      <vt:lpstr>PowerPoint Presentation</vt:lpstr>
      <vt:lpstr>PowerPoint Presentation</vt:lpstr>
      <vt:lpstr>Understanding the Web</vt:lpstr>
      <vt:lpstr>Understanding the Web</vt:lpstr>
      <vt:lpstr>Sending Request</vt:lpstr>
      <vt:lpstr>HTML Basics</vt:lpstr>
      <vt:lpstr>PowerPoint Presentation</vt:lpstr>
      <vt:lpstr>PowerPoint Presentation</vt:lpstr>
      <vt:lpstr>HTML Basics</vt:lpstr>
      <vt:lpstr>HTML Basics</vt:lpstr>
      <vt:lpstr>HTML Basics</vt:lpstr>
      <vt:lpstr>Finding data in HTML</vt:lpstr>
      <vt:lpstr>PowerPoint Presentation</vt:lpstr>
      <vt:lpstr>Exercise</vt:lpstr>
      <vt:lpstr>Exercise</vt:lpstr>
      <vt:lpstr>Exercise</vt:lpstr>
      <vt:lpstr>Exercise</vt:lpstr>
      <vt:lpstr>CSS selectors</vt:lpstr>
      <vt:lpstr>CSS and CSS selectors</vt:lpstr>
      <vt:lpstr>CSS and CSS selectors</vt:lpstr>
      <vt:lpstr>PowerPoint Presentation</vt:lpstr>
      <vt:lpstr>PowerPoint Presentation</vt:lpstr>
      <vt:lpstr> &lt;table id="price"&gt;   &lt;tr&gt;     &lt;td&gt;1&lt;/td&gt;     &lt;td&gt; &lt;a class=“title”&gt; Website: &lt;a/&gt;&lt;/td&gt;     &lt;td&gt;       &lt;a class=”title” href="https://google.com"&gt;Google&lt;/a&gt;     &lt;/td&gt;   &lt;/tr&gt; &lt;/table&gt;</vt:lpstr>
      <vt:lpstr> &lt;table id="price"&gt;   &lt;tr&gt;     &lt;td&gt;1&lt;/td&gt;     &lt;td&gt; &lt;a class=“title”&gt; Website: &lt;a/&gt;&lt;/td&gt;     &lt;td&gt;       &lt;a class=”title” href="https://google.com"&gt;Google&lt;/a&gt;     &lt;/td&gt;   &lt;/tr&gt; &lt;/table&gt;</vt:lpstr>
      <vt:lpstr>Selector Gadget</vt:lpstr>
      <vt:lpstr>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Joy Lan</cp:lastModifiedBy>
  <cp:revision>20</cp:revision>
  <dcterms:modified xsi:type="dcterms:W3CDTF">2026-10-29T20:55:22Z</dcterms:modified>
</cp:coreProperties>
</file>